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635"/>
    <p:restoredTop sz="94610"/>
  </p:normalViewPr>
  <p:slideViewPr>
    <p:cSldViewPr snapToGrid="0" snapToObjects="1">
      <p:cViewPr varScale="1">
        <p:scale>
          <a:sx n="154" d="100"/>
          <a:sy n="154" d="100"/>
        </p:scale>
        <p:origin x="1176"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1116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 </a:t>
            </a:r>
            <a:r>
              <a:rPr dirty="0" err="1"/>
              <a:t>นาที</a:t>
            </a:r>
            <a:r>
              <a:rPr dirty="0"/>
              <a:t>] </a:t>
            </a:r>
            <a:r>
              <a:rPr dirty="0" err="1"/>
              <a:t>สวัสดีค่ะ</a:t>
            </a:r>
            <a:r>
              <a:rPr dirty="0"/>
              <a:t> </a:t>
            </a:r>
            <a:r>
              <a:rPr dirty="0" err="1"/>
              <a:t>ท่านอาจารย์และคณะกรรมการทุกท่าน</a:t>
            </a:r>
            <a:r>
              <a:rPr dirty="0"/>
              <a:t> </a:t>
            </a:r>
            <a:r>
              <a:rPr dirty="0" err="1"/>
              <a:t>ดิฉันพัชรีนะคะ</a:t>
            </a:r>
            <a:r>
              <a:rPr dirty="0"/>
              <a:t> </a:t>
            </a:r>
            <a:r>
              <a:rPr dirty="0" err="1"/>
              <a:t>วันนี้จะนำเสนอเรื่องคุณภาพโค้ดที่</a:t>
            </a:r>
            <a:r>
              <a:rPr dirty="0"/>
              <a:t> AI </a:t>
            </a:r>
            <a:r>
              <a:rPr dirty="0" err="1"/>
              <a:t>สร้าง</a:t>
            </a:r>
            <a:r>
              <a:rPr dirty="0"/>
              <a:t> </a:t>
            </a:r>
            <a:r>
              <a:rPr dirty="0" err="1"/>
              <a:t>เวลาเราสั่งงานด้วยวิธีที่ต่างกัน</a:t>
            </a:r>
            <a:endParaRPr dirty="0"/>
          </a:p>
          <a:p>
            <a:endParaRPr dirty="0"/>
          </a:p>
          <a:p>
            <a:r>
              <a:rPr dirty="0" err="1"/>
              <a:t>คำถามที่ฝากไว้ตลอดการนำเสนอคือ</a:t>
            </a:r>
            <a:r>
              <a:rPr dirty="0"/>
              <a:t> </a:t>
            </a:r>
            <a:r>
              <a:rPr dirty="0" err="1"/>
              <a:t>เวลาให้</a:t>
            </a:r>
            <a:r>
              <a:rPr dirty="0"/>
              <a:t> AI </a:t>
            </a:r>
            <a:r>
              <a:rPr dirty="0" err="1"/>
              <a:t>เขียนโค้ด</a:t>
            </a:r>
            <a:r>
              <a:rPr dirty="0"/>
              <a:t> </a:t>
            </a:r>
            <a:r>
              <a:rPr dirty="0" err="1"/>
              <a:t>พิมพ์สั้น</a:t>
            </a:r>
            <a:r>
              <a:rPr dirty="0"/>
              <a:t> </a:t>
            </a:r>
            <a:r>
              <a:rPr dirty="0" err="1"/>
              <a:t>ๆ</a:t>
            </a:r>
            <a:r>
              <a:rPr dirty="0"/>
              <a:t> </a:t>
            </a:r>
            <a:r>
              <a:rPr dirty="0" err="1"/>
              <a:t>ดี</a:t>
            </a:r>
            <a:r>
              <a:rPr dirty="0"/>
              <a:t> </a:t>
            </a:r>
            <a:r>
              <a:rPr dirty="0" err="1"/>
              <a:t>หรือเขียนเอกสารละเอียดก่อนดี</a:t>
            </a:r>
            <a:r>
              <a:rPr dirty="0"/>
              <a:t> </a:t>
            </a:r>
            <a:r>
              <a:rPr dirty="0" err="1"/>
              <a:t>แล้วคุ้มไหม</a:t>
            </a:r>
            <a:r>
              <a:rPr dirty="0"/>
              <a:t> </a:t>
            </a:r>
            <a:r>
              <a:rPr dirty="0" err="1"/>
              <a:t>ผลที่ได้ไม่เหมือนที่หลายคนคิดนะคะ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 </a:t>
            </a:r>
            <a:r>
              <a:rPr dirty="0" err="1"/>
              <a:t>นาที</a:t>
            </a:r>
            <a:r>
              <a:rPr dirty="0"/>
              <a:t>] </a:t>
            </a:r>
            <a:r>
              <a:rPr dirty="0" err="1"/>
              <a:t>สามบทแรกจะเล่าเร็ว</a:t>
            </a:r>
            <a:r>
              <a:rPr dirty="0"/>
              <a:t> </a:t>
            </a:r>
            <a:r>
              <a:rPr dirty="0" err="1"/>
              <a:t>ๆ</a:t>
            </a:r>
            <a:r>
              <a:rPr dirty="0"/>
              <a:t> </a:t>
            </a:r>
            <a:r>
              <a:rPr dirty="0" err="1"/>
              <a:t>ค่ะ</a:t>
            </a:r>
            <a:r>
              <a:rPr dirty="0"/>
              <a:t> </a:t>
            </a:r>
            <a:r>
              <a:rPr dirty="0" err="1"/>
              <a:t>เพราะเป็นพื้นฐาน</a:t>
            </a:r>
            <a:r>
              <a:rPr dirty="0"/>
              <a:t> </a:t>
            </a:r>
            <a:r>
              <a:rPr dirty="0" err="1"/>
              <a:t>เวลาส่วนใหญ่จะอยู่ที่บทผลลัพธ์</a:t>
            </a:r>
            <a:r>
              <a:rPr dirty="0"/>
              <a:t> </a:t>
            </a:r>
            <a:r>
              <a:rPr dirty="0" err="1"/>
              <a:t>แล้วท้ายสุดจะสรุปให้ชัดอีกที</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[4 </a:t>
            </a:r>
            <a:r>
              <a:rPr dirty="0" err="1"/>
              <a:t>นาที</a:t>
            </a:r>
            <a:r>
              <a:rPr dirty="0"/>
              <a:t>] </a:t>
            </a:r>
            <a:r>
              <a:rPr dirty="0" err="1"/>
              <a:t>เริ่มที่ปัญหาก่อนนะคะ</a:t>
            </a:r>
            <a:r>
              <a:rPr dirty="0"/>
              <a:t> </a:t>
            </a:r>
            <a:r>
              <a:rPr dirty="0" err="1"/>
              <a:t>งานวิจัยก่อนหน้าบอกว่าโค้ดจาก</a:t>
            </a:r>
            <a:r>
              <a:rPr dirty="0"/>
              <a:t> AI </a:t>
            </a:r>
            <a:r>
              <a:rPr dirty="0" err="1"/>
              <a:t>ยังมีจุดอ่อน</a:t>
            </a:r>
            <a:r>
              <a:rPr dirty="0"/>
              <a:t> </a:t>
            </a:r>
            <a:r>
              <a:rPr dirty="0" err="1"/>
              <a:t>ทั้งโครงสร้าง</a:t>
            </a:r>
            <a:r>
              <a:rPr dirty="0"/>
              <a:t> </a:t>
            </a:r>
            <a:r>
              <a:rPr dirty="0" err="1"/>
              <a:t>การบำรุงรักษา</a:t>
            </a:r>
            <a:r>
              <a:rPr dirty="0"/>
              <a:t> </a:t>
            </a:r>
            <a:r>
              <a:rPr dirty="0" err="1"/>
              <a:t>และความปลอดภัย</a:t>
            </a:r>
            <a:r>
              <a:rPr dirty="0"/>
              <a:t> </a:t>
            </a:r>
            <a:r>
              <a:rPr dirty="0" err="1"/>
              <a:t>แต่ส่วนใหญ่เทียบกันที่ตัวเครื่องมือหรือโมเดล</a:t>
            </a:r>
            <a:r>
              <a:rPr dirty="0"/>
              <a:t> </a:t>
            </a:r>
            <a:r>
              <a:rPr dirty="0" err="1"/>
              <a:t>ไม่ได้ดูว่า</a:t>
            </a:r>
            <a:r>
              <a:rPr dirty="0"/>
              <a:t> </a:t>
            </a:r>
            <a:r>
              <a:rPr dirty="0" err="1"/>
              <a:t>ถ้าใช้โมเดลเดียวกัน</a:t>
            </a:r>
            <a:r>
              <a:rPr dirty="0"/>
              <a:t> </a:t>
            </a:r>
            <a:r>
              <a:rPr dirty="0" err="1"/>
              <a:t>แค่วิธีสั่งงานต่างกัน</a:t>
            </a:r>
            <a:r>
              <a:rPr dirty="0"/>
              <a:t> </a:t>
            </a:r>
            <a:r>
              <a:rPr dirty="0" err="1"/>
              <a:t>ผลจะต่างแค่ไหน</a:t>
            </a:r>
            <a:endParaRPr dirty="0"/>
          </a:p>
          <a:p>
            <a:endParaRPr dirty="0"/>
          </a:p>
          <a:p>
            <a:r>
              <a:rPr dirty="0" err="1"/>
              <a:t>เราเลยเลือกสามวิธี</a:t>
            </a:r>
            <a:r>
              <a:rPr dirty="0"/>
              <a:t> </a:t>
            </a:r>
            <a:r>
              <a:rPr dirty="0" err="1"/>
              <a:t>คือ</a:t>
            </a:r>
            <a:r>
              <a:rPr dirty="0"/>
              <a:t> BP, CE </a:t>
            </a:r>
            <a:r>
              <a:rPr dirty="0" err="1"/>
              <a:t>และ</a:t>
            </a:r>
            <a:r>
              <a:rPr dirty="0"/>
              <a:t> SDD </a:t>
            </a:r>
            <a:r>
              <a:rPr dirty="0" err="1"/>
              <a:t>ที่มีโครงสร้างเพิ่มขึ้นตามลำดับ</a:t>
            </a:r>
            <a:r>
              <a:rPr dirty="0"/>
              <a:t> </a:t>
            </a:r>
            <a:r>
              <a:rPr dirty="0" err="1"/>
              <a:t>แล้วเทียบกันภายใต้เงื่อนไขเดียวกัน</a:t>
            </a:r>
            <a:r>
              <a:rPr dirty="0"/>
              <a:t> </a:t>
            </a:r>
            <a:r>
              <a:rPr dirty="0" err="1"/>
              <a:t>คำถามวิจัยคือ</a:t>
            </a:r>
            <a:r>
              <a:rPr dirty="0"/>
              <a:t> </a:t>
            </a:r>
            <a:r>
              <a:rPr dirty="0" err="1"/>
              <a:t>แบบไหนช่วยให้โค้ดจาก</a:t>
            </a:r>
            <a:r>
              <a:rPr dirty="0"/>
              <a:t> AI </a:t>
            </a:r>
            <a:r>
              <a:rPr dirty="0" err="1"/>
              <a:t>ดีที่สุด</a:t>
            </a:r>
            <a:endParaRPr dirty="0"/>
          </a:p>
          <a:p>
            <a:endParaRPr dirty="0"/>
          </a:p>
          <a:p>
            <a:r>
              <a:rPr dirty="0" err="1"/>
              <a:t>การทดลองใช้</a:t>
            </a:r>
            <a:r>
              <a:rPr dirty="0"/>
              <a:t> GPT-5.2 </a:t>
            </a:r>
            <a:r>
              <a:rPr dirty="0" err="1"/>
              <a:t>ตัวเดียว</a:t>
            </a:r>
            <a:r>
              <a:rPr dirty="0"/>
              <a:t> </a:t>
            </a:r>
            <a:r>
              <a:rPr dirty="0" err="1"/>
              <a:t>ระบบอีคอมเมิร์ซสามโมดูล</a:t>
            </a:r>
            <a:r>
              <a:rPr dirty="0"/>
              <a:t> </a:t>
            </a:r>
            <a:r>
              <a:rPr dirty="0" err="1"/>
              <a:t>ได้โค้ด</a:t>
            </a:r>
            <a:r>
              <a:rPr dirty="0"/>
              <a:t> 18 </a:t>
            </a:r>
            <a:r>
              <a:rPr dirty="0" err="1"/>
              <a:t>เวอร์ชัน</a:t>
            </a:r>
            <a:r>
              <a:rPr dirty="0"/>
              <a:t> </a:t>
            </a:r>
            <a:r>
              <a:rPr dirty="0" err="1"/>
              <a:t>ทดสอบ</a:t>
            </a:r>
            <a:r>
              <a:rPr dirty="0"/>
              <a:t> 108 </a:t>
            </a:r>
            <a:r>
              <a:rPr dirty="0" err="1"/>
              <a:t>กรณี</a:t>
            </a:r>
            <a:r>
              <a:rPr dirty="0"/>
              <a:t> </a:t>
            </a:r>
            <a:r>
              <a:rPr dirty="0" err="1"/>
              <a:t>แล้วตรวจเพิ่มอีกสามชั้น</a:t>
            </a:r>
            <a:r>
              <a:rPr dirty="0"/>
              <a:t> </a:t>
            </a:r>
            <a:r>
              <a:rPr dirty="0" err="1"/>
              <a:t>รวมเป็นสี่ด้านค่ะ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 </a:t>
            </a:r>
            <a:r>
              <a:rPr dirty="0" err="1"/>
              <a:t>นาที</a:t>
            </a:r>
            <a:r>
              <a:rPr dirty="0"/>
              <a:t>] </a:t>
            </a:r>
            <a:r>
              <a:rPr dirty="0" err="1"/>
              <a:t>วัตถุประสงค์มีสองข้อค่ะ</a:t>
            </a:r>
            <a:r>
              <a:rPr dirty="0"/>
              <a:t> </a:t>
            </a:r>
            <a:r>
              <a:rPr dirty="0" err="1"/>
              <a:t>ข้อแรกคือดูว่าใครดีกว่า</a:t>
            </a:r>
            <a:r>
              <a:rPr dirty="0"/>
              <a:t> </a:t>
            </a:r>
            <a:r>
              <a:rPr dirty="0" err="1"/>
              <a:t>ในเงื่อนไขเดียวกัน</a:t>
            </a:r>
            <a:r>
              <a:rPr dirty="0"/>
              <a:t> </a:t>
            </a:r>
            <a:r>
              <a:rPr dirty="0" err="1"/>
              <a:t>ข้อสองคือดูว่าดีกว่าเมื่อไหร่</a:t>
            </a:r>
            <a:r>
              <a:rPr dirty="0"/>
              <a:t> </a:t>
            </a:r>
            <a:r>
              <a:rPr dirty="0" err="1"/>
              <a:t>แล้วต้องแลกกับอะไร</a:t>
            </a:r>
            <a:r>
              <a:rPr dirty="0"/>
              <a:t> </a:t>
            </a:r>
            <a:r>
              <a:rPr dirty="0" err="1"/>
              <a:t>ข้อนี้จะตอบในตารางสรุปท้ายเล่มค่ะ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[4 </a:t>
            </a:r>
            <a:r>
              <a:rPr dirty="0" err="1"/>
              <a:t>นาที</a:t>
            </a:r>
            <a:r>
              <a:rPr dirty="0"/>
              <a:t>] </a:t>
            </a:r>
            <a:r>
              <a:rPr dirty="0" err="1"/>
              <a:t>สามวิธีนี้เราตั้งใจให้แทนการใช้งานจริงนะคะ</a:t>
            </a:r>
            <a:r>
              <a:rPr dirty="0"/>
              <a:t> BP </a:t>
            </a:r>
            <a:r>
              <a:rPr dirty="0" err="1"/>
              <a:t>คือคนที่ยังไม่เคยเรียน</a:t>
            </a:r>
            <a:r>
              <a:rPr dirty="0"/>
              <a:t> Prompt Engineering </a:t>
            </a:r>
            <a:r>
              <a:rPr dirty="0" err="1"/>
              <a:t>พิมพ์แบบคุยทั่วไปแล้วแก้ไปเรื่อย</a:t>
            </a:r>
            <a:r>
              <a:rPr dirty="0"/>
              <a:t> </a:t>
            </a:r>
            <a:r>
              <a:rPr dirty="0" err="1"/>
              <a:t>ๆ</a:t>
            </a:r>
            <a:r>
              <a:rPr dirty="0"/>
              <a:t> CE </a:t>
            </a:r>
            <a:r>
              <a:rPr dirty="0" err="1"/>
              <a:t>คือคนที่รู้เทคนิคแล้ว</a:t>
            </a:r>
            <a:r>
              <a:rPr dirty="0"/>
              <a:t> </a:t>
            </a:r>
            <a:r>
              <a:rPr dirty="0" err="1"/>
              <a:t>กำหนดบทบาท</a:t>
            </a:r>
            <a:r>
              <a:rPr dirty="0"/>
              <a:t> </a:t>
            </a:r>
            <a:r>
              <a:rPr dirty="0" err="1"/>
              <a:t>ระบุเทคโนโลยี</a:t>
            </a:r>
            <a:r>
              <a:rPr dirty="0"/>
              <a:t> </a:t>
            </a:r>
            <a:r>
              <a:rPr dirty="0" err="1"/>
              <a:t>สั่งให้ตรวจเอง</a:t>
            </a:r>
            <a:r>
              <a:rPr dirty="0"/>
              <a:t> </a:t>
            </a:r>
            <a:r>
              <a:rPr dirty="0" err="1"/>
              <a:t>ส่วน</a:t>
            </a:r>
            <a:r>
              <a:rPr dirty="0"/>
              <a:t> SDD </a:t>
            </a:r>
            <a:r>
              <a:rPr dirty="0" err="1"/>
              <a:t>คือแบบเป็นทางการที่สุด</a:t>
            </a:r>
            <a:r>
              <a:rPr dirty="0"/>
              <a:t> </a:t>
            </a:r>
            <a:r>
              <a:rPr dirty="0" err="1"/>
              <a:t>ใช้เอกสารข้อกำหนดเป็นหลัก</a:t>
            </a:r>
            <a:endParaRPr dirty="0"/>
          </a:p>
          <a:p>
            <a:endParaRPr dirty="0"/>
          </a:p>
          <a:p>
            <a:r>
              <a:rPr dirty="0" err="1"/>
              <a:t>ฝากไว้ก่อนนะคะ</a:t>
            </a:r>
            <a:r>
              <a:rPr dirty="0"/>
              <a:t> </a:t>
            </a:r>
            <a:r>
              <a:rPr dirty="0" err="1"/>
              <a:t>คนส่วนใหญ่จะคิดว่าโครงสร้างยิ่งเยอะ</a:t>
            </a:r>
            <a:r>
              <a:rPr dirty="0"/>
              <a:t> </a:t>
            </a:r>
            <a:r>
              <a:rPr dirty="0" err="1"/>
              <a:t>ผลก็ยิ่งดี</a:t>
            </a:r>
            <a:r>
              <a:rPr dirty="0"/>
              <a:t> </a:t>
            </a:r>
            <a:r>
              <a:rPr dirty="0" err="1"/>
              <a:t>แต่ผลที่ได้ไม่เป็นอย่างนั้น</a:t>
            </a:r>
            <a:r>
              <a:rPr dirty="0"/>
              <a:t> </a:t>
            </a:r>
            <a:r>
              <a:rPr dirty="0" err="1"/>
              <a:t>ซึ่งน่าสนใจมากค่ะ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[4 </a:t>
            </a:r>
            <a:r>
              <a:rPr dirty="0" err="1"/>
              <a:t>นาที</a:t>
            </a:r>
            <a:r>
              <a:rPr dirty="0"/>
              <a:t>] </a:t>
            </a:r>
            <a:r>
              <a:rPr dirty="0" err="1"/>
              <a:t>ทำไมต้องวัดสี่ด้าน</a:t>
            </a:r>
            <a:r>
              <a:rPr dirty="0"/>
              <a:t> </a:t>
            </a:r>
            <a:r>
              <a:rPr dirty="0" err="1"/>
              <a:t>เพราะแค่เทสต์ฟังก์ชันมองไม่เห็นบางปัญหาค่ะ</a:t>
            </a:r>
            <a:r>
              <a:rPr dirty="0"/>
              <a:t> </a:t>
            </a:r>
            <a:r>
              <a:rPr dirty="0" err="1"/>
              <a:t>เช่นเวอร์ชัน</a:t>
            </a:r>
            <a:r>
              <a:rPr dirty="0"/>
              <a:t> SCBP02 </a:t>
            </a:r>
            <a:r>
              <a:rPr dirty="0" err="1"/>
              <a:t>เก็บตะกร้าไว้ในหน่วยความจำ</a:t>
            </a:r>
            <a:r>
              <a:rPr dirty="0"/>
              <a:t> </a:t>
            </a:r>
            <a:r>
              <a:rPr dirty="0" err="1"/>
              <a:t>ไม่มีฐานข้อมูลเลย</a:t>
            </a:r>
            <a:r>
              <a:rPr dirty="0"/>
              <a:t> </a:t>
            </a:r>
            <a:r>
              <a:rPr dirty="0" err="1"/>
              <a:t>รีสตาร์ทแล้วข้อมูลหาย</a:t>
            </a:r>
            <a:r>
              <a:rPr dirty="0"/>
              <a:t> </a:t>
            </a:r>
            <a:r>
              <a:rPr dirty="0" err="1"/>
              <a:t>แต่ก็ยังผ่านเทสต์</a:t>
            </a:r>
            <a:r>
              <a:rPr dirty="0"/>
              <a:t> 4 </a:t>
            </a:r>
            <a:r>
              <a:rPr dirty="0" err="1"/>
              <a:t>จาก</a:t>
            </a:r>
            <a:r>
              <a:rPr dirty="0"/>
              <a:t> 5 </a:t>
            </a:r>
            <a:r>
              <a:rPr dirty="0" err="1"/>
              <a:t>ข้อ</a:t>
            </a:r>
            <a:r>
              <a:rPr dirty="0"/>
              <a:t> </a:t>
            </a:r>
            <a:r>
              <a:rPr dirty="0" err="1"/>
              <a:t>เพราะไม่มีข้อไหนบอกให้ใช้ฐานข้อมูล</a:t>
            </a:r>
            <a:endParaRPr dirty="0"/>
          </a:p>
          <a:p>
            <a:endParaRPr dirty="0"/>
          </a:p>
          <a:p>
            <a:r>
              <a:rPr dirty="0" err="1"/>
              <a:t>เลยต้องมีเครื่องมืออื่นช่วย</a:t>
            </a:r>
            <a:r>
              <a:rPr dirty="0"/>
              <a:t> SonarQube </a:t>
            </a:r>
            <a:r>
              <a:rPr dirty="0" err="1"/>
              <a:t>ดูโครงสร้างโค้ด</a:t>
            </a:r>
            <a:r>
              <a:rPr dirty="0"/>
              <a:t> </a:t>
            </a:r>
            <a:r>
              <a:rPr dirty="0" err="1"/>
              <a:t>CodeQL</a:t>
            </a:r>
            <a:r>
              <a:rPr dirty="0"/>
              <a:t> </a:t>
            </a:r>
            <a:r>
              <a:rPr dirty="0" err="1"/>
              <a:t>ดูช่องโหว่จากตัวโค้ด</a:t>
            </a:r>
            <a:r>
              <a:rPr dirty="0"/>
              <a:t> ZAP </a:t>
            </a:r>
            <a:r>
              <a:rPr dirty="0" err="1"/>
              <a:t>ดูตอนระบบรันจริง</a:t>
            </a:r>
            <a:r>
              <a:rPr dirty="0"/>
              <a:t> </a:t>
            </a:r>
            <a:r>
              <a:rPr dirty="0" err="1"/>
              <a:t>สองตัวหลังช่วยกัน</a:t>
            </a:r>
            <a:r>
              <a:rPr dirty="0"/>
              <a:t> </a:t>
            </a:r>
            <a:r>
              <a:rPr dirty="0" err="1"/>
              <a:t>เพราะบางปัญหาเห็นได้แค่ตอนรัน</a:t>
            </a:r>
            <a:endParaRPr dirty="0"/>
          </a:p>
          <a:p>
            <a:endParaRPr dirty="0"/>
          </a:p>
          <a:p>
            <a:r>
              <a:rPr dirty="0"/>
              <a:t>(</a:t>
            </a:r>
            <a:r>
              <a:rPr dirty="0" err="1"/>
              <a:t>อธิบายเพิ่มเรื่อง</a:t>
            </a:r>
            <a:r>
              <a:rPr dirty="0"/>
              <a:t> CWE) CWE </a:t>
            </a:r>
            <a:r>
              <a:rPr dirty="0" err="1"/>
              <a:t>ย่อมาจาก</a:t>
            </a:r>
            <a:r>
              <a:rPr dirty="0"/>
              <a:t> Common Weakness Enumeration </a:t>
            </a:r>
            <a:r>
              <a:rPr dirty="0" err="1"/>
              <a:t>ค่ะ</a:t>
            </a:r>
            <a:r>
              <a:rPr dirty="0"/>
              <a:t> </a:t>
            </a:r>
            <a:r>
              <a:rPr dirty="0" err="1"/>
              <a:t>เป็นบัญชีมาตรฐานที่จัดหมวดจุดอ่อนของซอฟต์แวร์</a:t>
            </a:r>
            <a:r>
              <a:rPr dirty="0"/>
              <a:t> </a:t>
            </a:r>
            <a:r>
              <a:rPr dirty="0" err="1"/>
              <a:t>แต่ละแบบมีรหัสกำกับ</a:t>
            </a:r>
            <a:r>
              <a:rPr dirty="0"/>
              <a:t> </a:t>
            </a:r>
            <a:r>
              <a:rPr dirty="0" err="1"/>
              <a:t>เช่น</a:t>
            </a:r>
            <a:r>
              <a:rPr dirty="0"/>
              <a:t> CWE-89 </a:t>
            </a:r>
            <a:r>
              <a:rPr dirty="0" err="1"/>
              <a:t>คือ</a:t>
            </a:r>
            <a:r>
              <a:rPr dirty="0"/>
              <a:t> SQL Injection </a:t>
            </a:r>
            <a:r>
              <a:rPr dirty="0" err="1"/>
              <a:t>ข้อดีคือทำให้เทียบผลระหว่างเครื่องมือได้ในภาษาเดียวกัน</a:t>
            </a:r>
            <a:r>
              <a:rPr dirty="0"/>
              <a:t> </a:t>
            </a:r>
            <a:r>
              <a:rPr dirty="0" err="1"/>
              <a:t>ในงานนี้</a:t>
            </a:r>
            <a:r>
              <a:rPr dirty="0"/>
              <a:t> </a:t>
            </a:r>
            <a:r>
              <a:rPr dirty="0" err="1"/>
              <a:t>CodeQL</a:t>
            </a:r>
            <a:r>
              <a:rPr dirty="0"/>
              <a:t> </a:t>
            </a:r>
            <a:r>
              <a:rPr dirty="0" err="1"/>
              <a:t>รายงานตามมาตรฐานนี้</a:t>
            </a:r>
            <a:r>
              <a:rPr dirty="0"/>
              <a:t> </a:t>
            </a:r>
            <a:r>
              <a:rPr dirty="0" err="1"/>
              <a:t>กับโค้ด</a:t>
            </a:r>
            <a:r>
              <a:rPr dirty="0"/>
              <a:t> JavaScript </a:t>
            </a:r>
            <a:r>
              <a:rPr dirty="0" err="1"/>
              <a:t>และ</a:t>
            </a:r>
            <a:r>
              <a:rPr dirty="0"/>
              <a:t> TypeScript </a:t>
            </a:r>
            <a:r>
              <a:rPr dirty="0" err="1"/>
              <a:t>ผ่าน</a:t>
            </a:r>
            <a:r>
              <a:rPr dirty="0"/>
              <a:t> GitHub Actions </a:t>
            </a:r>
            <a:r>
              <a:rPr dirty="0" err="1"/>
              <a:t>ที่รันทุกครั้งที่อัปเดตโค้ดค่ะ</a:t>
            </a:r>
            <a:endParaRPr dirty="0"/>
          </a:p>
          <a:p>
            <a:endParaRPr dirty="0"/>
          </a:p>
          <a:p>
            <a:r>
              <a:rPr dirty="0" err="1"/>
              <a:t>รายการที่</a:t>
            </a:r>
            <a:r>
              <a:rPr dirty="0"/>
              <a:t> SonarQube </a:t>
            </a:r>
            <a:r>
              <a:rPr dirty="0" err="1"/>
              <a:t>ตรวจมีห้าอย่างค่ะ</a:t>
            </a:r>
            <a:r>
              <a:rPr dirty="0"/>
              <a:t> Security </a:t>
            </a:r>
            <a:r>
              <a:rPr dirty="0" err="1"/>
              <a:t>คือช่องโหว่ที่เสี่ยงต่อการถูกโจมตี</a:t>
            </a:r>
            <a:r>
              <a:rPr dirty="0"/>
              <a:t> Security Hotspots </a:t>
            </a:r>
            <a:r>
              <a:rPr dirty="0" err="1"/>
              <a:t>คือจุดในโค้ดที่ละเอียดอ่อน</a:t>
            </a:r>
            <a:r>
              <a:rPr dirty="0"/>
              <a:t> </a:t>
            </a:r>
            <a:r>
              <a:rPr dirty="0" err="1"/>
              <a:t>แต่ยังบอกไม่ได้ชัดว่าเป็นช่องโหว่จริงหรือไม่</a:t>
            </a:r>
            <a:r>
              <a:rPr dirty="0"/>
              <a:t> </a:t>
            </a:r>
            <a:r>
              <a:rPr dirty="0" err="1"/>
              <a:t>ต้องให้คนตรวจต่อ</a:t>
            </a:r>
            <a:r>
              <a:rPr dirty="0"/>
              <a:t> Reliability </a:t>
            </a:r>
            <a:r>
              <a:rPr dirty="0" err="1"/>
              <a:t>คือบั๊กที่ทำให้โปรแกรมทำงานผิดปกติ</a:t>
            </a:r>
            <a:r>
              <a:rPr dirty="0"/>
              <a:t> Maintainability </a:t>
            </a:r>
            <a:r>
              <a:rPr dirty="0" err="1"/>
              <a:t>คือ</a:t>
            </a:r>
            <a:r>
              <a:rPr dirty="0"/>
              <a:t> Code Smells </a:t>
            </a:r>
            <a:r>
              <a:rPr dirty="0" err="1"/>
              <a:t>ที่ทำให้โค้ดอ่านหรือแก้ไขยาก</a:t>
            </a:r>
            <a:r>
              <a:rPr dirty="0"/>
              <a:t> </a:t>
            </a:r>
            <a:r>
              <a:rPr dirty="0" err="1"/>
              <a:t>และ</a:t>
            </a:r>
            <a:r>
              <a:rPr dirty="0"/>
              <a:t> Duplications </a:t>
            </a:r>
            <a:r>
              <a:rPr dirty="0" err="1"/>
              <a:t>คือโค้ดที่เขียนซ้ำกันหลายจุด</a:t>
            </a:r>
            <a:endParaRPr lang="en-US" dirty="0"/>
          </a:p>
          <a:p>
            <a:endParaRPr lang="en-TH" dirty="0"/>
          </a:p>
          <a:p>
            <a:r>
              <a:rPr dirty="0" err="1"/>
              <a:t>ความปลอดภัยเชิงสถิต</a:t>
            </a:r>
            <a:r>
              <a:rPr dirty="0"/>
              <a:t> </a:t>
            </a:r>
            <a:r>
              <a:rPr dirty="0" err="1"/>
              <a:t>หรือ</a:t>
            </a:r>
            <a:r>
              <a:rPr dirty="0"/>
              <a:t> Static Application Security Testing (SAST) </a:t>
            </a:r>
            <a:r>
              <a:rPr dirty="0" err="1"/>
              <a:t>คือการตรวจจากซอร์สโค้ดโดยไม่ต้องรันโปรแกรม</a:t>
            </a:r>
            <a:r>
              <a:rPr dirty="0"/>
              <a:t> </a:t>
            </a:r>
            <a:r>
              <a:rPr dirty="0" err="1"/>
              <a:t>ใช้</a:t>
            </a:r>
            <a:r>
              <a:rPr dirty="0"/>
              <a:t> </a:t>
            </a:r>
            <a:r>
              <a:rPr dirty="0" err="1"/>
              <a:t>CodeQL</a:t>
            </a:r>
            <a:r>
              <a:rPr dirty="0"/>
              <a:t> </a:t>
            </a:r>
            <a:r>
              <a:rPr dirty="0" err="1"/>
              <a:t>เทียบกับมาตรฐาน</a:t>
            </a:r>
            <a:r>
              <a:rPr dirty="0"/>
              <a:t> CWE </a:t>
            </a:r>
            <a:r>
              <a:rPr dirty="0" err="1"/>
              <a:t>ที่เพิ่งอธิบายไป</a:t>
            </a:r>
            <a:r>
              <a:rPr dirty="0"/>
              <a:t> </a:t>
            </a:r>
            <a:r>
              <a:rPr dirty="0" err="1"/>
              <a:t>ตรวจ</a:t>
            </a:r>
            <a:r>
              <a:rPr dirty="0"/>
              <a:t> JavaScript </a:t>
            </a:r>
            <a:r>
              <a:rPr dirty="0" err="1"/>
              <a:t>และ</a:t>
            </a:r>
            <a:r>
              <a:rPr dirty="0"/>
              <a:t> TypeScript </a:t>
            </a:r>
            <a:r>
              <a:rPr dirty="0" err="1"/>
              <a:t>ผ่าน</a:t>
            </a:r>
            <a:r>
              <a:rPr dirty="0"/>
              <a:t> GitHub Actions </a:t>
            </a:r>
            <a:r>
              <a:rPr dirty="0" err="1"/>
              <a:t>ทุกครั้งที่</a:t>
            </a:r>
            <a:r>
              <a:rPr dirty="0"/>
              <a:t> push </a:t>
            </a:r>
            <a:r>
              <a:rPr dirty="0" err="1"/>
              <a:t>โค้ดเข้า</a:t>
            </a:r>
            <a:r>
              <a:rPr dirty="0"/>
              <a:t> main branch</a:t>
            </a:r>
          </a:p>
          <a:p>
            <a:endParaRPr lang="en-US" dirty="0"/>
          </a:p>
          <a:p>
            <a:r>
              <a:rPr dirty="0" err="1"/>
              <a:t>ส่วนความปลอดภัยเชิงพลวัต</a:t>
            </a:r>
            <a:r>
              <a:rPr dirty="0"/>
              <a:t> </a:t>
            </a:r>
            <a:r>
              <a:rPr dirty="0" err="1"/>
              <a:t>หรือ</a:t>
            </a:r>
            <a:r>
              <a:rPr dirty="0"/>
              <a:t> Dynamic Application Security Testing (DAST) </a:t>
            </a:r>
            <a:r>
              <a:rPr dirty="0" err="1"/>
              <a:t>คือการทดสอบแอปที่ทำงานอยู่จริงผ่าน</a:t>
            </a:r>
            <a:r>
              <a:rPr dirty="0"/>
              <a:t> endpoint </a:t>
            </a:r>
            <a:r>
              <a:rPr dirty="0" err="1"/>
              <a:t>โดยติดตั้งแต่ละเวอร์ชันด้วย</a:t>
            </a:r>
            <a:r>
              <a:rPr dirty="0"/>
              <a:t> Docker Compose </a:t>
            </a:r>
            <a:r>
              <a:rPr dirty="0" err="1"/>
              <a:t>แล้วสแกนด้วย</a:t>
            </a:r>
            <a:r>
              <a:rPr dirty="0"/>
              <a:t> ZAP </a:t>
            </a:r>
            <a:r>
              <a:rPr dirty="0" err="1"/>
              <a:t>แบบ</a:t>
            </a:r>
            <a:r>
              <a:rPr dirty="0"/>
              <a:t> action-baseline </a:t>
            </a:r>
            <a:r>
              <a:rPr dirty="0" err="1"/>
              <a:t>ผ่าน</a:t>
            </a:r>
            <a:r>
              <a:rPr dirty="0"/>
              <a:t> GitHub Actions </a:t>
            </a:r>
            <a:r>
              <a:rPr dirty="0" err="1"/>
              <a:t>เน้นตรวจ</a:t>
            </a:r>
            <a:r>
              <a:rPr dirty="0"/>
              <a:t> Security Headers </a:t>
            </a:r>
            <a:r>
              <a:rPr dirty="0" err="1"/>
              <a:t>และช่องโหว่ตอนรันจริง</a:t>
            </a:r>
            <a:r>
              <a:rPr dirty="0"/>
              <a:t> </a:t>
            </a:r>
            <a:r>
              <a:rPr dirty="0" err="1"/>
              <a:t>ซึ่งการสแกนโค้ดอย่างเดียวมองไม่เห็น</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 </a:t>
            </a:r>
            <a:r>
              <a:rPr dirty="0" err="1"/>
              <a:t>นาที</a:t>
            </a:r>
            <a:r>
              <a:rPr dirty="0"/>
              <a:t>] </a:t>
            </a:r>
            <a:r>
              <a:rPr dirty="0" err="1"/>
              <a:t>สามโมดูลนี้เลือกมาเพราะกดดัน</a:t>
            </a:r>
            <a:r>
              <a:rPr dirty="0"/>
              <a:t> AI </a:t>
            </a:r>
            <a:r>
              <a:rPr dirty="0" err="1"/>
              <a:t>คนละจุดค่ะ</a:t>
            </a:r>
            <a:r>
              <a:rPr dirty="0"/>
              <a:t> Inventory </a:t>
            </a:r>
            <a:r>
              <a:rPr dirty="0" err="1"/>
              <a:t>ดูความถูกต้องของข้อมูลกับการทำงานพร้อมกัน</a:t>
            </a:r>
            <a:r>
              <a:rPr dirty="0"/>
              <a:t> </a:t>
            </a:r>
            <a:r>
              <a:rPr dirty="0" err="1"/>
              <a:t>ถ้าพลาดก็ขายเกินสต็อก</a:t>
            </a:r>
            <a:r>
              <a:rPr dirty="0"/>
              <a:t> Shopping Cart </a:t>
            </a:r>
            <a:r>
              <a:rPr dirty="0" err="1"/>
              <a:t>ดูการจัดการสถานะกับตัวเลขเงิน</a:t>
            </a:r>
            <a:r>
              <a:rPr dirty="0"/>
              <a:t> </a:t>
            </a:r>
            <a:r>
              <a:rPr dirty="0" err="1"/>
              <a:t>เช่น</a:t>
            </a:r>
            <a:r>
              <a:rPr dirty="0"/>
              <a:t> 19.99 </a:t>
            </a:r>
            <a:r>
              <a:rPr dirty="0" err="1"/>
              <a:t>คูณ</a:t>
            </a:r>
            <a:r>
              <a:rPr dirty="0"/>
              <a:t> 3 </a:t>
            </a:r>
            <a:r>
              <a:rPr dirty="0" err="1"/>
              <a:t>ต้องได้</a:t>
            </a:r>
            <a:r>
              <a:rPr dirty="0"/>
              <a:t> 59.97 </a:t>
            </a:r>
            <a:r>
              <a:rPr dirty="0" err="1"/>
              <a:t>ส่วน</a:t>
            </a:r>
            <a:r>
              <a:rPr dirty="0"/>
              <a:t> Promotions </a:t>
            </a:r>
            <a:r>
              <a:rPr dirty="0" err="1"/>
              <a:t>ดูเงื่อนไขซ้อนกัน</a:t>
            </a:r>
            <a:r>
              <a:rPr dirty="0"/>
              <a:t> </a:t>
            </a:r>
            <a:r>
              <a:rPr dirty="0" err="1"/>
              <a:t>เช่น</a:t>
            </a:r>
            <a:r>
              <a:rPr dirty="0"/>
              <a:t> </a:t>
            </a:r>
            <a:r>
              <a:rPr dirty="0" err="1"/>
              <a:t>ลดก่อนหรือใช้คูปองก่อน</a:t>
            </a:r>
            <a:endParaRPr dirty="0"/>
          </a:p>
          <a:p>
            <a:endParaRPr dirty="0"/>
          </a:p>
          <a:p>
            <a:r>
              <a:rPr dirty="0" err="1"/>
              <a:t>จำไว้นิดนึงนะคะ</a:t>
            </a:r>
            <a:r>
              <a:rPr dirty="0"/>
              <a:t> </a:t>
            </a:r>
            <a:r>
              <a:rPr dirty="0" err="1"/>
              <a:t>โมดูลที่ซับซ้อนสุดคือ</a:t>
            </a:r>
            <a:r>
              <a:rPr dirty="0"/>
              <a:t> Promotions </a:t>
            </a:r>
            <a:r>
              <a:rPr dirty="0" err="1"/>
              <a:t>ซึ่งเป็นที่ที่</a:t>
            </a:r>
            <a:r>
              <a:rPr dirty="0"/>
              <a:t> BP </a:t>
            </a:r>
            <a:r>
              <a:rPr dirty="0" err="1"/>
              <a:t>ทำได้แย่ที่สุดค่ะ</a:t>
            </a:r>
            <a:endParaRPr dirty="0"/>
          </a:p>
          <a:p>
            <a:endParaRPr dirty="0"/>
          </a:p>
          <a:p>
            <a:r>
              <a:rPr dirty="0" err="1"/>
              <a:t>เหตุผลที่เลือกแต่ละโมดูลค่ะ</a:t>
            </a:r>
            <a:r>
              <a:rPr dirty="0"/>
              <a:t> Inventory </a:t>
            </a:r>
            <a:r>
              <a:rPr dirty="0" err="1"/>
              <a:t>เป็นหัวใจของ</a:t>
            </a:r>
            <a:r>
              <a:rPr dirty="0"/>
              <a:t> Backend </a:t>
            </a:r>
            <a:r>
              <a:rPr dirty="0" err="1"/>
              <a:t>วัดความถูกต้องของตรรกะได้ดีที่สุด</a:t>
            </a:r>
            <a:r>
              <a:rPr dirty="0"/>
              <a:t> Shopping Cart </a:t>
            </a:r>
            <a:r>
              <a:rPr dirty="0" err="1"/>
              <a:t>มีตรรกะธุรกิจหนาแน่นที่สุดฝั่งผู้ใช้</a:t>
            </a:r>
            <a:r>
              <a:rPr dirty="0"/>
              <a:t> </a:t>
            </a:r>
            <a:r>
              <a:rPr dirty="0" err="1"/>
              <a:t>และสถานะข้อมูลเปลี่ยนบ่อย</a:t>
            </a:r>
            <a:r>
              <a:rPr dirty="0"/>
              <a:t> </a:t>
            </a:r>
            <a:r>
              <a:rPr dirty="0" err="1"/>
              <a:t>ส่วน</a:t>
            </a:r>
            <a:r>
              <a:rPr dirty="0"/>
              <a:t> Promotions </a:t>
            </a:r>
            <a:r>
              <a:rPr dirty="0" err="1"/>
              <a:t>มีเงื่อนไขซ้อนเงื่อนไข</a:t>
            </a:r>
            <a:r>
              <a:rPr dirty="0"/>
              <a:t> </a:t>
            </a:r>
            <a:r>
              <a:rPr dirty="0" err="1"/>
              <a:t>เหมาะวัดความสามารถในการตีความข้อกำหนด</a:t>
            </a:r>
            <a:r>
              <a:rPr dirty="0"/>
              <a:t> </a:t>
            </a:r>
            <a:r>
              <a:rPr dirty="0" err="1"/>
              <a:t>จุดที่ใช้วัดผล</a:t>
            </a:r>
            <a:r>
              <a:rPr dirty="0"/>
              <a:t> AI </a:t>
            </a:r>
            <a:r>
              <a:rPr dirty="0" err="1"/>
              <a:t>และความท้าทายของแต่ละโมดูล</a:t>
            </a:r>
            <a:r>
              <a:rPr dirty="0"/>
              <a:t> </a:t>
            </a:r>
            <a:r>
              <a:rPr dirty="0" err="1"/>
              <a:t>อยู่ในการ์ดบนสไลด์แล้วค่ะ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[4 </a:t>
            </a:r>
            <a:r>
              <a:rPr dirty="0" err="1"/>
              <a:t>นาที</a:t>
            </a:r>
            <a:r>
              <a:rPr dirty="0"/>
              <a:t>] </a:t>
            </a:r>
            <a:r>
              <a:rPr dirty="0" err="1"/>
              <a:t>ข้อนี้อยากให้เข้าใจตรงกันนะคะ</a:t>
            </a:r>
            <a:r>
              <a:rPr dirty="0"/>
              <a:t> Context Engineering </a:t>
            </a:r>
            <a:r>
              <a:rPr dirty="0" err="1"/>
              <a:t>ในงานวิจัยกว้างกว่าแค่เขียน</a:t>
            </a:r>
            <a:r>
              <a:rPr dirty="0"/>
              <a:t> prompt </a:t>
            </a:r>
            <a:r>
              <a:rPr dirty="0" err="1"/>
              <a:t>ให้ยาวขึ้น</a:t>
            </a:r>
            <a:r>
              <a:rPr dirty="0"/>
              <a:t> </a:t>
            </a:r>
            <a:r>
              <a:rPr dirty="0" err="1"/>
              <a:t>แต่</a:t>
            </a:r>
            <a:r>
              <a:rPr dirty="0"/>
              <a:t> CE </a:t>
            </a:r>
            <a:r>
              <a:rPr dirty="0" err="1"/>
              <a:t>ที่เราใช้ทดลองเป็นแบบที่นักพัฒนาทั่วไปใช้ได้จริง</a:t>
            </a:r>
            <a:r>
              <a:rPr dirty="0"/>
              <a:t> </a:t>
            </a:r>
            <a:r>
              <a:rPr dirty="0" err="1"/>
              <a:t>คือกำหนดบทบาท</a:t>
            </a:r>
            <a:r>
              <a:rPr dirty="0"/>
              <a:t> </a:t>
            </a:r>
            <a:r>
              <a:rPr dirty="0" err="1"/>
              <a:t>ระบุเทคโนโลยีเจาะจง</a:t>
            </a:r>
            <a:r>
              <a:rPr dirty="0"/>
              <a:t> </a:t>
            </a:r>
            <a:r>
              <a:rPr dirty="0" err="1"/>
              <a:t>แล้วสั่งให้ตรวจตัวเอง</a:t>
            </a:r>
            <a:r>
              <a:rPr dirty="0"/>
              <a:t> </a:t>
            </a:r>
            <a:r>
              <a:rPr dirty="0" err="1"/>
              <a:t>ยังไม่ใช่ระบบที่ดึงความรู้หรือจัดการความจำอัตโนมัติ</a:t>
            </a:r>
            <a:endParaRPr dirty="0"/>
          </a:p>
          <a:p>
            <a:endParaRPr dirty="0"/>
          </a:p>
          <a:p>
            <a:r>
              <a:rPr dirty="0" err="1"/>
              <a:t>ดังนั้นตอนพูดถึงผลของ</a:t>
            </a:r>
            <a:r>
              <a:rPr dirty="0"/>
              <a:t> CE </a:t>
            </a:r>
            <a:r>
              <a:rPr dirty="0" err="1"/>
              <a:t>ต่อไป</a:t>
            </a:r>
            <a:r>
              <a:rPr dirty="0"/>
              <a:t> </a:t>
            </a:r>
            <a:r>
              <a:rPr dirty="0" err="1"/>
              <a:t>ขอให้นึกว่าเป็น</a:t>
            </a:r>
            <a:r>
              <a:rPr dirty="0"/>
              <a:t> CE </a:t>
            </a:r>
            <a:r>
              <a:rPr dirty="0" err="1"/>
              <a:t>ในรูปแบบที่ใช้ศึกษานี้</a:t>
            </a:r>
            <a:r>
              <a:rPr dirty="0"/>
              <a:t> </a:t>
            </a:r>
            <a:r>
              <a:rPr dirty="0" err="1"/>
              <a:t>ไม่ใช่</a:t>
            </a:r>
            <a:r>
              <a:rPr dirty="0"/>
              <a:t> CE </a:t>
            </a:r>
            <a:r>
              <a:rPr dirty="0" err="1"/>
              <a:t>ทุกแบบนะคะ</a:t>
            </a:r>
            <a:endParaRPr dirty="0"/>
          </a:p>
          <a:p>
            <a:endParaRPr dirty="0"/>
          </a:p>
          <a:p>
            <a:r>
              <a:rPr dirty="0" err="1"/>
              <a:t>สมการบนสไลด์อ่านว่า</a:t>
            </a:r>
            <a:r>
              <a:rPr dirty="0"/>
              <a:t> Context </a:t>
            </a:r>
            <a:r>
              <a:rPr dirty="0" err="1"/>
              <a:t>เท่ากับการประกอบกันของหกส่วนค่ะ</a:t>
            </a:r>
            <a:r>
              <a:rPr dirty="0"/>
              <a:t> </a:t>
            </a:r>
            <a:r>
              <a:rPr dirty="0" err="1"/>
              <a:t>คือคำสั่ง</a:t>
            </a:r>
            <a:r>
              <a:rPr dirty="0"/>
              <a:t> </a:t>
            </a:r>
            <a:r>
              <a:rPr dirty="0" err="1"/>
              <a:t>ความรู้ภายนอก</a:t>
            </a:r>
            <a:r>
              <a:rPr dirty="0"/>
              <a:t> </a:t>
            </a:r>
            <a:r>
              <a:rPr dirty="0" err="1"/>
              <a:t>เครื่องมือ</a:t>
            </a:r>
            <a:r>
              <a:rPr dirty="0"/>
              <a:t> </a:t>
            </a:r>
            <a:r>
              <a:rPr dirty="0" err="1"/>
              <a:t>หน่วยความจำ</a:t>
            </a:r>
            <a:r>
              <a:rPr dirty="0"/>
              <a:t> </a:t>
            </a:r>
            <a:r>
              <a:rPr dirty="0" err="1"/>
              <a:t>สถานะของระบบ</a:t>
            </a:r>
            <a:r>
              <a:rPr dirty="0"/>
              <a:t> </a:t>
            </a:r>
            <a:r>
              <a:rPr dirty="0" err="1"/>
              <a:t>และคำถามจากผู้ใช้</a:t>
            </a:r>
            <a:r>
              <a:rPr dirty="0"/>
              <a:t> </a:t>
            </a:r>
            <a:r>
              <a:rPr dirty="0" err="1"/>
              <a:t>ยิ่งประกอบอย่างเป็นระบบ</a:t>
            </a:r>
            <a:r>
              <a:rPr dirty="0"/>
              <a:t> </a:t>
            </a:r>
            <a:r>
              <a:rPr dirty="0" err="1"/>
              <a:t>โมเดลก็ยิ่งได้ข้อมูลครบและสอดคล้องกัน</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[5 </a:t>
            </a:r>
            <a:r>
              <a:rPr dirty="0" err="1"/>
              <a:t>นาที</a:t>
            </a:r>
            <a:r>
              <a:rPr dirty="0"/>
              <a:t>] </a:t>
            </a:r>
            <a:r>
              <a:rPr dirty="0" err="1"/>
              <a:t>จุดสำคัญของ</a:t>
            </a:r>
            <a:r>
              <a:rPr dirty="0"/>
              <a:t> SDD </a:t>
            </a:r>
            <a:r>
              <a:rPr dirty="0" err="1"/>
              <a:t>คือข้อกำหนดถูกแยกออกมาเป็นไฟล์</a:t>
            </a:r>
            <a:r>
              <a:rPr dirty="0"/>
              <a:t> </a:t>
            </a:r>
            <a:r>
              <a:rPr dirty="0" err="1"/>
              <a:t>ไม่ได้อยู่ในแชตที่เปลี่ยนไปทุกรอบ</a:t>
            </a:r>
            <a:r>
              <a:rPr dirty="0"/>
              <a:t> </a:t>
            </a:r>
            <a:r>
              <a:rPr dirty="0" err="1"/>
              <a:t>และเป็นไฟล์ชุดเดียวกันทั้งสองรอบ</a:t>
            </a:r>
            <a:r>
              <a:rPr dirty="0"/>
              <a:t> </a:t>
            </a:r>
            <a:r>
              <a:rPr dirty="0" err="1"/>
              <a:t>ซึ่งจะอธิบายเรื่องความนิ่งของผลในบทที่ห้า</a:t>
            </a:r>
            <a:endParaRPr dirty="0"/>
          </a:p>
          <a:p>
            <a:endParaRPr dirty="0"/>
          </a:p>
          <a:p>
            <a:r>
              <a:rPr dirty="0" err="1"/>
              <a:t>แต่ละขั้นก็ทิ้งเอกสารไว้ให้ขั้นต่อไปอ่าน</a:t>
            </a:r>
            <a:r>
              <a:rPr dirty="0"/>
              <a:t> </a:t>
            </a:r>
            <a:r>
              <a:rPr dirty="0" err="1"/>
              <a:t>และตอน</a:t>
            </a:r>
            <a:r>
              <a:rPr dirty="0"/>
              <a:t> Plan </a:t>
            </a:r>
            <a:r>
              <a:rPr dirty="0" err="1"/>
              <a:t>ก็ตรวจกลับกับ</a:t>
            </a:r>
            <a:r>
              <a:rPr dirty="0"/>
              <a:t> Constitution </a:t>
            </a:r>
            <a:r>
              <a:rPr dirty="0" err="1"/>
              <a:t>งานเลยไม่หลุดกรอบ</a:t>
            </a:r>
            <a:r>
              <a:rPr dirty="0"/>
              <a:t> </a:t>
            </a:r>
            <a:r>
              <a:rPr dirty="0" err="1"/>
              <a:t>แต่ต้องแลกด้วยเวลาเขียนเอกสารก่อนได้โค้ด</a:t>
            </a:r>
            <a:endParaRPr dirty="0"/>
          </a:p>
          <a:p>
            <a:endParaRPr dirty="0"/>
          </a:p>
          <a:p>
            <a:r>
              <a:rPr dirty="0" err="1"/>
              <a:t>บอกไว้ก่อนเลยนะคะ</a:t>
            </a:r>
            <a:r>
              <a:rPr dirty="0"/>
              <a:t> Constitution </a:t>
            </a:r>
            <a:r>
              <a:rPr dirty="0" err="1"/>
              <a:t>ที่ใช้</a:t>
            </a:r>
            <a:r>
              <a:rPr dirty="0"/>
              <a:t> </a:t>
            </a:r>
            <a:r>
              <a:rPr dirty="0" err="1"/>
              <a:t>ไม่ได้เขียนเรื่องความปลอดภัยโดยเฉพาะ</a:t>
            </a:r>
            <a:r>
              <a:rPr dirty="0"/>
              <a:t> </a:t>
            </a:r>
            <a:r>
              <a:rPr dirty="0" err="1"/>
              <a:t>ซึ่งมีผลกับผลของ</a:t>
            </a:r>
            <a:r>
              <a:rPr dirty="0"/>
              <a:t> </a:t>
            </a:r>
            <a:r>
              <a:rPr dirty="0" err="1"/>
              <a:t>CodeQL</a:t>
            </a:r>
            <a:r>
              <a:rPr dirty="0"/>
              <a:t> </a:t>
            </a:r>
            <a:r>
              <a:rPr dirty="0" err="1"/>
              <a:t>ค่ะ</a:t>
            </a:r>
            <a:endParaRPr dirty="0"/>
          </a:p>
          <a:p>
            <a:endParaRPr dirty="0"/>
          </a:p>
          <a:p>
            <a:r>
              <a:rPr dirty="0" err="1"/>
              <a:t>ในแต่ละขั้นของ</a:t>
            </a:r>
            <a:r>
              <a:rPr dirty="0"/>
              <a:t> Spec Kit </a:t>
            </a:r>
            <a:r>
              <a:rPr dirty="0" err="1"/>
              <a:t>ค่ะ</a:t>
            </a:r>
            <a:r>
              <a:rPr dirty="0"/>
              <a:t> Constitution </a:t>
            </a:r>
            <a:r>
              <a:rPr dirty="0" err="1"/>
              <a:t>คือกฎเกณฑ์และมาตรฐานตลอดการพัฒนา</a:t>
            </a:r>
            <a:r>
              <a:rPr dirty="0"/>
              <a:t> Spec </a:t>
            </a:r>
            <a:r>
              <a:rPr dirty="0" err="1"/>
              <a:t>คือ</a:t>
            </a:r>
            <a:r>
              <a:rPr dirty="0"/>
              <a:t> User Stories </a:t>
            </a:r>
            <a:r>
              <a:rPr dirty="0" err="1"/>
              <a:t>กรณีขอบเขต</a:t>
            </a:r>
            <a:r>
              <a:rPr dirty="0"/>
              <a:t> </a:t>
            </a:r>
            <a:r>
              <a:rPr dirty="0" err="1"/>
              <a:t>ข้อกำหนดเชิงฟังก์ชัน</a:t>
            </a:r>
            <a:r>
              <a:rPr dirty="0"/>
              <a:t> </a:t>
            </a:r>
            <a:r>
              <a:rPr dirty="0" err="1"/>
              <a:t>และเกณฑ์ความสำเร็จ</a:t>
            </a:r>
            <a:r>
              <a:rPr dirty="0"/>
              <a:t> Plan </a:t>
            </a:r>
            <a:r>
              <a:rPr dirty="0" err="1"/>
              <a:t>คือเทคโนโลยี</a:t>
            </a:r>
            <a:r>
              <a:rPr dirty="0"/>
              <a:t> </a:t>
            </a:r>
            <a:r>
              <a:rPr dirty="0" err="1"/>
              <a:t>สถาปัตยกรรม</a:t>
            </a:r>
            <a:r>
              <a:rPr dirty="0"/>
              <a:t> </a:t>
            </a:r>
            <a:r>
              <a:rPr dirty="0" err="1"/>
              <a:t>และการตรวจกลับกับ</a:t>
            </a:r>
            <a:r>
              <a:rPr dirty="0"/>
              <a:t> Constitution Task </a:t>
            </a:r>
            <a:r>
              <a:rPr dirty="0" err="1"/>
              <a:t>คือการแตกแผนเป็นรายการงานย่อย</a:t>
            </a:r>
            <a:r>
              <a:rPr dirty="0"/>
              <a:t> </a:t>
            </a:r>
            <a:r>
              <a:rPr dirty="0" err="1"/>
              <a:t>และ</a:t>
            </a:r>
            <a:r>
              <a:rPr dirty="0"/>
              <a:t> Implement </a:t>
            </a:r>
            <a:r>
              <a:rPr dirty="0" err="1"/>
              <a:t>คือการเขียนโค้ดตามงานที่ผ่านการตรวจทาน</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 </a:t>
            </a:r>
            <a:r>
              <a:rPr dirty="0" err="1"/>
              <a:t>นาที</a:t>
            </a:r>
            <a:r>
              <a:rPr dirty="0"/>
              <a:t>] </a:t>
            </a:r>
            <a:r>
              <a:rPr dirty="0" err="1"/>
              <a:t>บทที่สามมีงานที่เกี่ยวข้องหกงานนะคะ</a:t>
            </a:r>
            <a:r>
              <a:rPr dirty="0"/>
              <a:t> </a:t>
            </a:r>
            <a:r>
              <a:rPr dirty="0" err="1"/>
              <a:t>แต่วันนี้ขอเล่าละเอียดสามงานที่เชื่อมกับงานเรามากที่สุด</a:t>
            </a:r>
            <a:r>
              <a:rPr dirty="0"/>
              <a:t> </a:t>
            </a:r>
            <a:r>
              <a:rPr dirty="0" err="1"/>
              <a:t>แล้วอีกสามงานจะพูดรวม</a:t>
            </a:r>
            <a:r>
              <a:rPr dirty="0"/>
              <a:t> </a:t>
            </a:r>
            <a:r>
              <a:rPr dirty="0" err="1"/>
              <a:t>ๆ</a:t>
            </a:r>
            <a:r>
              <a:rPr dirty="0"/>
              <a:t> </a:t>
            </a:r>
            <a:r>
              <a:rPr dirty="0" err="1"/>
              <a:t>ค่ะ</a:t>
            </a:r>
            <a:endParaRPr dirty="0"/>
          </a:p>
          <a:p>
            <a:endParaRPr dirty="0"/>
          </a:p>
          <a:p>
            <a:r>
              <a:rPr dirty="0" err="1"/>
              <a:t>งานแรกคือ</a:t>
            </a:r>
            <a:r>
              <a:rPr dirty="0"/>
              <a:t> Jiang </a:t>
            </a:r>
            <a:r>
              <a:rPr dirty="0" err="1"/>
              <a:t>และคณะ</a:t>
            </a:r>
            <a:r>
              <a:rPr dirty="0"/>
              <a:t> </a:t>
            </a:r>
            <a:r>
              <a:rPr dirty="0" err="1"/>
              <a:t>ทบทวนงานวิจัยการสร้างโค้ดด้วย</a:t>
            </a:r>
            <a:r>
              <a:rPr dirty="0"/>
              <a:t> LLM </a:t>
            </a:r>
            <a:r>
              <a:rPr dirty="0" err="1"/>
              <a:t>อย่างเป็นระบบ</a:t>
            </a:r>
            <a:r>
              <a:rPr dirty="0"/>
              <a:t> </a:t>
            </a:r>
            <a:r>
              <a:rPr dirty="0" err="1"/>
              <a:t>สืบค้นจาก</a:t>
            </a:r>
            <a:r>
              <a:rPr dirty="0"/>
              <a:t> ACM, IEEE Xplore, </a:t>
            </a:r>
            <a:r>
              <a:rPr dirty="0" err="1"/>
              <a:t>arXiv</a:t>
            </a:r>
            <a:r>
              <a:rPr dirty="0"/>
              <a:t> </a:t>
            </a:r>
            <a:r>
              <a:rPr dirty="0" err="1"/>
              <a:t>และ</a:t>
            </a:r>
            <a:r>
              <a:rPr dirty="0"/>
              <a:t> DBLP </a:t>
            </a:r>
            <a:r>
              <a:rPr dirty="0" err="1"/>
              <a:t>แล้วจัดกลุ่มตามชุดคำสั่ง</a:t>
            </a:r>
            <a:r>
              <a:rPr dirty="0"/>
              <a:t> </a:t>
            </a:r>
            <a:r>
              <a:rPr dirty="0" err="1"/>
              <a:t>เช่น</a:t>
            </a:r>
            <a:r>
              <a:rPr dirty="0"/>
              <a:t> </a:t>
            </a:r>
            <a:r>
              <a:rPr dirty="0" err="1"/>
              <a:t>แบบไม่มีตัวอย่าง</a:t>
            </a:r>
            <a:r>
              <a:rPr dirty="0"/>
              <a:t> </a:t>
            </a:r>
            <a:r>
              <a:rPr dirty="0" err="1"/>
              <a:t>กับแบบมีตัวอย่างน้อย</a:t>
            </a:r>
            <a:r>
              <a:rPr dirty="0"/>
              <a:t> </a:t>
            </a:r>
            <a:r>
              <a:rPr dirty="0" err="1"/>
              <a:t>ข้อค้นพบคือโมเดลเก่งเมื่อโจทย์เป็นฟังก์ชันเดี่ยว</a:t>
            </a:r>
            <a:r>
              <a:rPr dirty="0"/>
              <a:t> </a:t>
            </a:r>
            <a:r>
              <a:rPr dirty="0" err="1"/>
              <a:t>แต่ตกลงมากเมื่อต้องสร้างทั้งระบบ</a:t>
            </a:r>
            <a:r>
              <a:rPr dirty="0"/>
              <a:t> </a:t>
            </a:r>
            <a:r>
              <a:rPr dirty="0" err="1"/>
              <a:t>เพราะไฟล์ในโครงการเรียกใช้กันข้ามไปมา</a:t>
            </a:r>
            <a:r>
              <a:rPr dirty="0"/>
              <a:t> </a:t>
            </a:r>
            <a:r>
              <a:rPr dirty="0" err="1"/>
              <a:t>และโครงการใหญ่เกินจะจัดการในครั้งเดียว</a:t>
            </a:r>
            <a:r>
              <a:rPr dirty="0"/>
              <a:t> </a:t>
            </a:r>
            <a:r>
              <a:rPr dirty="0" err="1"/>
              <a:t>ตัวเลขที่เห็นชัดคือ</a:t>
            </a:r>
            <a:r>
              <a:rPr dirty="0"/>
              <a:t> </a:t>
            </a:r>
            <a:r>
              <a:rPr dirty="0" err="1"/>
              <a:t>ปัญหาจริงบน</a:t>
            </a:r>
            <a:r>
              <a:rPr dirty="0"/>
              <a:t> GitHub </a:t>
            </a:r>
            <a:r>
              <a:rPr dirty="0" err="1"/>
              <a:t>โมเดลที่ดีที่สุดแก้ได้เพียง</a:t>
            </a:r>
            <a:r>
              <a:rPr dirty="0"/>
              <a:t> 1.96 </a:t>
            </a:r>
            <a:r>
              <a:rPr dirty="0" err="1"/>
              <a:t>เปอร์เซ็นต์</a:t>
            </a:r>
            <a:r>
              <a:rPr dirty="0"/>
              <a:t> </a:t>
            </a:r>
            <a:r>
              <a:rPr dirty="0" err="1"/>
              <a:t>เขาจึงเสนอให้พัฒนาเป็นลำดับขั้น</a:t>
            </a:r>
            <a:r>
              <a:rPr dirty="0"/>
              <a:t> </a:t>
            </a:r>
            <a:r>
              <a:rPr dirty="0" err="1"/>
              <a:t>จากโครงสร้างโฟลเดอร์</a:t>
            </a:r>
            <a:r>
              <a:rPr dirty="0"/>
              <a:t> </a:t>
            </a:r>
            <a:r>
              <a:rPr dirty="0" err="1"/>
              <a:t>ไฟล์</a:t>
            </a:r>
            <a:r>
              <a:rPr dirty="0"/>
              <a:t> </a:t>
            </a:r>
            <a:r>
              <a:rPr dirty="0" err="1"/>
              <a:t>ไปถึงฟังก์ชัน</a:t>
            </a:r>
            <a:r>
              <a:rPr dirty="0"/>
              <a:t> </a:t>
            </a:r>
            <a:r>
              <a:rPr dirty="0" err="1"/>
              <a:t>ซึ่งตรงกับแนวคิด</a:t>
            </a:r>
            <a:r>
              <a:rPr dirty="0"/>
              <a:t> SDD </a:t>
            </a:r>
            <a:r>
              <a:rPr dirty="0" err="1"/>
              <a:t>ที่ระบุข้อกำหนดก่อนสร้างโค้ด</a:t>
            </a:r>
            <a:r>
              <a:rPr dirty="0"/>
              <a:t> </a:t>
            </a:r>
            <a:r>
              <a:rPr dirty="0" err="1"/>
              <a:t>และเขายังชี้ว่าการวัดด้วยชุดทดสอบอย่างเดียวไม่พอ</a:t>
            </a:r>
            <a:r>
              <a:rPr dirty="0"/>
              <a:t> </a:t>
            </a:r>
            <a:r>
              <a:rPr dirty="0" err="1"/>
              <a:t>ยังไม่ครอบคลุมความปลอดภัยและการบำรุงรักษา</a:t>
            </a:r>
            <a:r>
              <a:rPr dirty="0"/>
              <a:t> </a:t>
            </a:r>
            <a:r>
              <a:rPr dirty="0" err="1"/>
              <a:t>ซึ่งเป็นเหตุผลที่เราวัดสี่ด้าน</a:t>
            </a:r>
            <a:endParaRPr dirty="0"/>
          </a:p>
          <a:p>
            <a:endParaRPr dirty="0"/>
          </a:p>
          <a:p>
            <a:r>
              <a:rPr dirty="0" err="1"/>
              <a:t>งานที่สองคือ</a:t>
            </a:r>
            <a:r>
              <a:rPr dirty="0"/>
              <a:t> </a:t>
            </a:r>
            <a:r>
              <a:rPr dirty="0" err="1"/>
              <a:t>Yetiştiren</a:t>
            </a:r>
            <a:r>
              <a:rPr dirty="0"/>
              <a:t> </a:t>
            </a:r>
            <a:r>
              <a:rPr dirty="0" err="1"/>
              <a:t>และคณะ</a:t>
            </a:r>
            <a:r>
              <a:rPr dirty="0"/>
              <a:t> </a:t>
            </a:r>
            <a:r>
              <a:rPr dirty="0" err="1"/>
              <a:t>เทียบ</a:t>
            </a:r>
            <a:r>
              <a:rPr dirty="0"/>
              <a:t> GitHub Copilot, Amazon </a:t>
            </a:r>
            <a:r>
              <a:rPr dirty="0" err="1"/>
              <a:t>CodeWhisperer</a:t>
            </a:r>
            <a:r>
              <a:rPr dirty="0"/>
              <a:t> </a:t>
            </a:r>
            <a:r>
              <a:rPr dirty="0" err="1"/>
              <a:t>และ</a:t>
            </a:r>
            <a:r>
              <a:rPr dirty="0"/>
              <a:t> ChatGPT </a:t>
            </a:r>
            <a:r>
              <a:rPr dirty="0" err="1"/>
              <a:t>บนชุดข้อมูลมาตรฐาน</a:t>
            </a:r>
            <a:r>
              <a:rPr dirty="0"/>
              <a:t> </a:t>
            </a:r>
            <a:r>
              <a:rPr dirty="0" err="1"/>
              <a:t>HumanEval</a:t>
            </a:r>
            <a:r>
              <a:rPr dirty="0"/>
              <a:t> </a:t>
            </a:r>
            <a:r>
              <a:rPr dirty="0" err="1"/>
              <a:t>ประเมินห้าด้าน</a:t>
            </a:r>
            <a:r>
              <a:rPr dirty="0"/>
              <a:t> </a:t>
            </a:r>
            <a:r>
              <a:rPr dirty="0" err="1"/>
              <a:t>คือไวยากรณ์</a:t>
            </a:r>
            <a:r>
              <a:rPr dirty="0"/>
              <a:t> </a:t>
            </a:r>
            <a:r>
              <a:rPr dirty="0" err="1"/>
              <a:t>การทำงานถูกต้อง</a:t>
            </a:r>
            <a:r>
              <a:rPr dirty="0"/>
              <a:t> </a:t>
            </a:r>
            <a:r>
              <a:rPr dirty="0" err="1"/>
              <a:t>ความปลอดภัย</a:t>
            </a:r>
            <a:r>
              <a:rPr dirty="0"/>
              <a:t> </a:t>
            </a:r>
            <a:r>
              <a:rPr dirty="0" err="1"/>
              <a:t>ความน่าเชื่อถือ</a:t>
            </a:r>
            <a:r>
              <a:rPr dirty="0"/>
              <a:t> </a:t>
            </a:r>
            <a:r>
              <a:rPr dirty="0" err="1"/>
              <a:t>และการบำรุงรักษา</a:t>
            </a:r>
            <a:r>
              <a:rPr dirty="0"/>
              <a:t> </a:t>
            </a:r>
            <a:r>
              <a:rPr dirty="0" err="1"/>
              <a:t>ผลคือ</a:t>
            </a:r>
            <a:r>
              <a:rPr dirty="0"/>
              <a:t> ChatGPT </a:t>
            </a:r>
            <a:r>
              <a:rPr dirty="0" err="1"/>
              <a:t>สร้างโค้ดถูกต้อง</a:t>
            </a:r>
            <a:r>
              <a:rPr dirty="0"/>
              <a:t> 65.2 </a:t>
            </a:r>
            <a:r>
              <a:rPr dirty="0" err="1"/>
              <a:t>เปอร์เซ็นต์</a:t>
            </a:r>
            <a:r>
              <a:rPr dirty="0"/>
              <a:t> Copilot 46.3 </a:t>
            </a:r>
            <a:r>
              <a:rPr dirty="0" err="1"/>
              <a:t>และ</a:t>
            </a:r>
            <a:r>
              <a:rPr dirty="0"/>
              <a:t> </a:t>
            </a:r>
            <a:r>
              <a:rPr dirty="0" err="1"/>
              <a:t>CodeWhisperer</a:t>
            </a:r>
            <a:r>
              <a:rPr dirty="0"/>
              <a:t> 31.1 </a:t>
            </a:r>
            <a:r>
              <a:rPr dirty="0" err="1"/>
              <a:t>ส่วนเวลาแก้</a:t>
            </a:r>
            <a:r>
              <a:rPr dirty="0"/>
              <a:t> Code Smells </a:t>
            </a:r>
            <a:r>
              <a:rPr dirty="0" err="1"/>
              <a:t>เฉลี่ย</a:t>
            </a:r>
            <a:r>
              <a:rPr dirty="0"/>
              <a:t> 8.9, 9.1 </a:t>
            </a:r>
            <a:r>
              <a:rPr dirty="0" err="1"/>
              <a:t>และ</a:t>
            </a:r>
            <a:r>
              <a:rPr dirty="0"/>
              <a:t> 5.6 </a:t>
            </a:r>
            <a:r>
              <a:rPr dirty="0" err="1"/>
              <a:t>นาทีตามลำดับ</a:t>
            </a:r>
            <a:r>
              <a:rPr dirty="0"/>
              <a:t> </a:t>
            </a:r>
            <a:r>
              <a:rPr dirty="0" err="1"/>
              <a:t>งานนี้เทียบเครื่องมือที่ต่างกัน</a:t>
            </a:r>
            <a:r>
              <a:rPr dirty="0"/>
              <a:t> </a:t>
            </a:r>
            <a:r>
              <a:rPr dirty="0" err="1"/>
              <a:t>แต่เราใช้โมเดลเดียวแล้วเทียบวิธีสั่งงานค่ะ</a:t>
            </a:r>
            <a:endParaRPr dirty="0"/>
          </a:p>
          <a:p>
            <a:endParaRPr dirty="0"/>
          </a:p>
          <a:p>
            <a:r>
              <a:rPr dirty="0" err="1"/>
              <a:t>งานที่สามคือ</a:t>
            </a:r>
            <a:r>
              <a:rPr dirty="0"/>
              <a:t> Fu </a:t>
            </a:r>
            <a:r>
              <a:rPr dirty="0" err="1"/>
              <a:t>และคณะ</a:t>
            </a:r>
            <a:r>
              <a:rPr dirty="0"/>
              <a:t> </a:t>
            </a:r>
            <a:r>
              <a:rPr dirty="0" err="1"/>
              <a:t>ปี</a:t>
            </a:r>
            <a:r>
              <a:rPr dirty="0"/>
              <a:t> 2568 </a:t>
            </a:r>
            <a:r>
              <a:rPr dirty="0" err="1"/>
              <a:t>ซึ่งดูโค้ดที่</a:t>
            </a:r>
            <a:r>
              <a:rPr dirty="0"/>
              <a:t> AI </a:t>
            </a:r>
            <a:r>
              <a:rPr dirty="0" err="1"/>
              <a:t>สร้างในโครงการจริงบน</a:t>
            </a:r>
            <a:r>
              <a:rPr dirty="0"/>
              <a:t> GitHub </a:t>
            </a:r>
            <a:r>
              <a:rPr dirty="0" err="1"/>
              <a:t>ไม่ใช่ในห้องทดลอง</a:t>
            </a:r>
            <a:r>
              <a:rPr dirty="0"/>
              <a:t> </a:t>
            </a:r>
            <a:r>
              <a:rPr dirty="0" err="1"/>
              <a:t>วิเคราะห์</a:t>
            </a:r>
            <a:r>
              <a:rPr dirty="0"/>
              <a:t> 733 </a:t>
            </a:r>
            <a:r>
              <a:rPr dirty="0" err="1"/>
              <a:t>ส่วนจาก</a:t>
            </a:r>
            <a:r>
              <a:rPr dirty="0"/>
              <a:t> Copilot, </a:t>
            </a:r>
            <a:r>
              <a:rPr dirty="0" err="1"/>
              <a:t>CodeWhisperer</a:t>
            </a:r>
            <a:r>
              <a:rPr dirty="0"/>
              <a:t> </a:t>
            </a:r>
            <a:r>
              <a:rPr dirty="0" err="1"/>
              <a:t>และ</a:t>
            </a:r>
            <a:r>
              <a:rPr dirty="0"/>
              <a:t> </a:t>
            </a:r>
            <a:r>
              <a:rPr dirty="0" err="1"/>
              <a:t>Codeium</a:t>
            </a:r>
            <a:r>
              <a:rPr dirty="0"/>
              <a:t> </a:t>
            </a:r>
            <a:r>
              <a:rPr dirty="0" err="1"/>
              <a:t>พบช่องโหว่ในโค้ด</a:t>
            </a:r>
            <a:r>
              <a:rPr dirty="0"/>
              <a:t> Python 29.5 </a:t>
            </a:r>
            <a:r>
              <a:rPr dirty="0" err="1"/>
              <a:t>เปอร์เซ็นต์</a:t>
            </a:r>
            <a:r>
              <a:rPr dirty="0"/>
              <a:t> </a:t>
            </a:r>
            <a:r>
              <a:rPr dirty="0" err="1"/>
              <a:t>และ</a:t>
            </a:r>
            <a:r>
              <a:rPr dirty="0"/>
              <a:t> JavaScript 24.2 </a:t>
            </a:r>
            <a:r>
              <a:rPr dirty="0" err="1"/>
              <a:t>เปอร์เซ็นต์</a:t>
            </a:r>
            <a:r>
              <a:rPr dirty="0"/>
              <a:t> </a:t>
            </a:r>
            <a:r>
              <a:rPr dirty="0" err="1"/>
              <a:t>ครอบคลุม</a:t>
            </a:r>
            <a:r>
              <a:rPr dirty="0"/>
              <a:t> CWE </a:t>
            </a:r>
            <a:r>
              <a:rPr dirty="0" err="1"/>
              <a:t>ถึง</a:t>
            </a:r>
            <a:r>
              <a:rPr dirty="0"/>
              <a:t> 43 </a:t>
            </a:r>
            <a:r>
              <a:rPr dirty="0" err="1"/>
              <a:t>ประเภท</a:t>
            </a:r>
            <a:r>
              <a:rPr dirty="0"/>
              <a:t> </a:t>
            </a:r>
            <a:r>
              <a:rPr dirty="0" err="1"/>
              <a:t>โดย</a:t>
            </a:r>
            <a:r>
              <a:rPr dirty="0"/>
              <a:t> 8 </a:t>
            </a:r>
            <a:r>
              <a:rPr dirty="0" err="1"/>
              <a:t>ประเภทอยู่ใน</a:t>
            </a:r>
            <a:r>
              <a:rPr dirty="0"/>
              <a:t> CWE Top-25 </a:t>
            </a:r>
            <a:r>
              <a:rPr dirty="0" err="1"/>
              <a:t>ปี</a:t>
            </a:r>
            <a:r>
              <a:rPr dirty="0"/>
              <a:t> 2023 </a:t>
            </a:r>
            <a:r>
              <a:rPr dirty="0" err="1"/>
              <a:t>และช่องโหว่เหล่านี้อยู่ในโค้ดที่นักพัฒนายอมรับเข้าโครงการแล้ว</a:t>
            </a:r>
            <a:r>
              <a:rPr dirty="0"/>
              <a:t> </a:t>
            </a:r>
            <a:r>
              <a:rPr dirty="0" err="1"/>
              <a:t>แปลว่าการตรวจด้วยคนอย่างเดียวคัดไม่หมด</a:t>
            </a:r>
            <a:r>
              <a:rPr dirty="0"/>
              <a:t> </a:t>
            </a:r>
            <a:r>
              <a:rPr dirty="0" err="1"/>
              <a:t>งานนี้เป็นเหตุผลที่เราบังคับให้มี</a:t>
            </a:r>
            <a:r>
              <a:rPr dirty="0"/>
              <a:t> </a:t>
            </a:r>
            <a:r>
              <a:rPr dirty="0" err="1"/>
              <a:t>CodeQL</a:t>
            </a:r>
            <a:r>
              <a:rPr dirty="0"/>
              <a:t> </a:t>
            </a:r>
            <a:r>
              <a:rPr dirty="0" err="1"/>
              <a:t>และ</a:t>
            </a:r>
            <a:r>
              <a:rPr dirty="0"/>
              <a:t> ZAP </a:t>
            </a:r>
            <a:r>
              <a:rPr dirty="0" err="1"/>
              <a:t>ในกรอบการประเมิน</a:t>
            </a:r>
            <a:endParaRPr dirty="0"/>
          </a:p>
          <a:p>
            <a:endParaRPr dirty="0"/>
          </a:p>
          <a:p>
            <a:r>
              <a:rPr dirty="0" err="1"/>
              <a:t>อีกสามงานขอพูดรวมค่ะ</a:t>
            </a:r>
            <a:r>
              <a:rPr dirty="0"/>
              <a:t> Cotroneo </a:t>
            </a:r>
            <a:r>
              <a:rPr dirty="0" err="1"/>
              <a:t>สร้างเครื่องมือ</a:t>
            </a:r>
            <a:r>
              <a:rPr dirty="0"/>
              <a:t> ACCA </a:t>
            </a:r>
            <a:r>
              <a:rPr dirty="0" err="1"/>
              <a:t>ตรวจความถูกต้องของโค้ดด้านความปลอดภัยแบบอัตโนมัติ</a:t>
            </a:r>
            <a:r>
              <a:rPr dirty="0"/>
              <a:t> Gu </a:t>
            </a:r>
            <a:r>
              <a:rPr dirty="0" err="1"/>
              <a:t>เสนอ</a:t>
            </a:r>
            <a:r>
              <a:rPr dirty="0"/>
              <a:t> </a:t>
            </a:r>
            <a:r>
              <a:rPr dirty="0" err="1"/>
              <a:t>DomCoder</a:t>
            </a:r>
            <a:r>
              <a:rPr dirty="0"/>
              <a:t> </a:t>
            </a:r>
            <a:r>
              <a:rPr dirty="0" err="1"/>
              <a:t>เสริมความรู้</a:t>
            </a:r>
            <a:r>
              <a:rPr dirty="0"/>
              <a:t> API </a:t>
            </a:r>
            <a:r>
              <a:rPr dirty="0" err="1"/>
              <a:t>ให้</a:t>
            </a:r>
            <a:r>
              <a:rPr dirty="0"/>
              <a:t> LLM </a:t>
            </a:r>
            <a:r>
              <a:rPr dirty="0" err="1"/>
              <a:t>สร้างโค้ดเฉพาะโดเมนได้ดีขึ้น</a:t>
            </a:r>
            <a:r>
              <a:rPr dirty="0"/>
              <a:t> </a:t>
            </a:r>
            <a:r>
              <a:rPr dirty="0" err="1"/>
              <a:t>และ</a:t>
            </a:r>
            <a:r>
              <a:rPr dirty="0"/>
              <a:t> Wadhwa </a:t>
            </a:r>
            <a:r>
              <a:rPr dirty="0" err="1"/>
              <a:t>เสนอ</a:t>
            </a:r>
            <a:r>
              <a:rPr dirty="0"/>
              <a:t> CORE </a:t>
            </a:r>
            <a:r>
              <a:rPr dirty="0" err="1"/>
              <a:t>ใช้</a:t>
            </a:r>
            <a:r>
              <a:rPr dirty="0"/>
              <a:t> LLM </a:t>
            </a:r>
            <a:r>
              <a:rPr dirty="0" err="1"/>
              <a:t>สองตัว</a:t>
            </a:r>
            <a:r>
              <a:rPr dirty="0"/>
              <a:t> </a:t>
            </a:r>
            <a:r>
              <a:rPr dirty="0" err="1"/>
              <a:t>ตัวหนึ่งเสนอแก้</a:t>
            </a:r>
            <a:r>
              <a:rPr dirty="0"/>
              <a:t> </a:t>
            </a:r>
            <a:r>
              <a:rPr dirty="0" err="1"/>
              <a:t>อีกตัวตรวจทาน</a:t>
            </a:r>
            <a:r>
              <a:rPr dirty="0"/>
              <a:t> </a:t>
            </a:r>
            <a:r>
              <a:rPr dirty="0" err="1"/>
              <a:t>จุดร่วมคือทั้งสามงานเสนอเครื่องมือหรือวิธีใหม่</a:t>
            </a:r>
            <a:r>
              <a:rPr dirty="0"/>
              <a:t> </a:t>
            </a:r>
            <a:r>
              <a:rPr dirty="0" err="1"/>
              <a:t>ไม่ได้เทียบกลยุทธ์การโต้ตอบที่มีอยู่</a:t>
            </a:r>
            <a:endParaRPr dirty="0"/>
          </a:p>
          <a:p>
            <a:endParaRPr dirty="0"/>
          </a:p>
          <a:p>
            <a:r>
              <a:rPr dirty="0" err="1"/>
              <a:t>สรุปคือยังไม่มีใครเทียบทั้งสามกลยุทธ์ในกรอบเดียวกัน</a:t>
            </a:r>
            <a:r>
              <a:rPr dirty="0"/>
              <a:t> </a:t>
            </a:r>
            <a:r>
              <a:rPr dirty="0" err="1"/>
              <a:t>ตรงนี้คือช่องว่างที่เรามาเติมค่ะ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 </a:t>
            </a:r>
            <a:r>
              <a:rPr dirty="0" err="1"/>
              <a:t>นาที</a:t>
            </a:r>
            <a:r>
              <a:rPr dirty="0"/>
              <a:t>] </a:t>
            </a:r>
            <a:r>
              <a:rPr dirty="0" err="1"/>
              <a:t>หลักของการทดลองคือเปลี่ยนตัวแปรเดียวนะคะ</a:t>
            </a:r>
            <a:r>
              <a:rPr dirty="0"/>
              <a:t> </a:t>
            </a:r>
            <a:r>
              <a:rPr dirty="0" err="1"/>
              <a:t>โมเดล</a:t>
            </a:r>
            <a:r>
              <a:rPr dirty="0"/>
              <a:t> </a:t>
            </a:r>
            <a:r>
              <a:rPr dirty="0" err="1"/>
              <a:t>โจทย์</a:t>
            </a:r>
            <a:r>
              <a:rPr dirty="0"/>
              <a:t> </a:t>
            </a:r>
            <a:r>
              <a:rPr dirty="0" err="1"/>
              <a:t>ชุดทดสอบ</a:t>
            </a:r>
            <a:r>
              <a:rPr dirty="0"/>
              <a:t> </a:t>
            </a:r>
            <a:r>
              <a:rPr dirty="0" err="1"/>
              <a:t>เครื่องมือวัดคงที่หมด</a:t>
            </a:r>
            <a:r>
              <a:rPr dirty="0"/>
              <a:t> </a:t>
            </a:r>
            <a:r>
              <a:rPr dirty="0" err="1"/>
              <a:t>เปลี่ยนแค่กลยุทธ์</a:t>
            </a:r>
            <a:r>
              <a:rPr dirty="0"/>
              <a:t> </a:t>
            </a:r>
            <a:r>
              <a:rPr dirty="0" err="1"/>
              <a:t>แล้วทำสองรอบ</a:t>
            </a:r>
            <a:r>
              <a:rPr dirty="0"/>
              <a:t> </a:t>
            </a:r>
            <a:r>
              <a:rPr dirty="0" err="1"/>
              <a:t>เพราะ</a:t>
            </a:r>
            <a:r>
              <a:rPr dirty="0"/>
              <a:t> LLM </a:t>
            </a:r>
            <a:r>
              <a:rPr dirty="0" err="1"/>
              <a:t>ไม่ได้ให้ผลเหมือนเดิมทุกครั้ง</a:t>
            </a:r>
            <a:r>
              <a:rPr dirty="0"/>
              <a:t> </a:t>
            </a:r>
            <a:r>
              <a:rPr dirty="0" err="1"/>
              <a:t>ถ้าทำรอบเดียวอาจเห็นแค่โชคดีหรือโชคร้าย</a:t>
            </a:r>
            <a:endParaRPr dirty="0"/>
          </a:p>
          <a:p>
            <a:endParaRPr dirty="0"/>
          </a:p>
          <a:p>
            <a:r>
              <a:rPr dirty="0" err="1"/>
              <a:t>ทดลองไปตั้งแต่ธันวาคม</a:t>
            </a:r>
            <a:r>
              <a:rPr dirty="0"/>
              <a:t> 2568 </a:t>
            </a:r>
            <a:r>
              <a:rPr dirty="0" err="1"/>
              <a:t>ถึงสิงหาคม</a:t>
            </a:r>
            <a:r>
              <a:rPr dirty="0"/>
              <a:t> 2569 </a:t>
            </a:r>
            <a:r>
              <a:rPr dirty="0" err="1"/>
              <a:t>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 </a:t>
            </a:r>
            <a:r>
              <a:rPr dirty="0" err="1"/>
              <a:t>นาที</a:t>
            </a:r>
            <a:r>
              <a:rPr dirty="0"/>
              <a:t>] </a:t>
            </a:r>
            <a:r>
              <a:rPr dirty="0" err="1"/>
              <a:t>สิ่งที่ไม่ได้อยู่บนสไลด์คือการกันไม่ให้ผลปนกันค่ะ</a:t>
            </a:r>
            <a:r>
              <a:rPr dirty="0"/>
              <a:t> </a:t>
            </a:r>
            <a:r>
              <a:rPr dirty="0" err="1"/>
              <a:t>ทุกเวอร์ชันเริ่มแชตใหม่</a:t>
            </a:r>
            <a:r>
              <a:rPr dirty="0"/>
              <a:t> </a:t>
            </a:r>
            <a:r>
              <a:rPr dirty="0" err="1"/>
              <a:t>ปิด</a:t>
            </a:r>
            <a:r>
              <a:rPr dirty="0"/>
              <a:t> Memory </a:t>
            </a:r>
            <a:r>
              <a:rPr dirty="0" err="1"/>
              <a:t>ล้าง</a:t>
            </a:r>
            <a:r>
              <a:rPr dirty="0"/>
              <a:t> cache </a:t>
            </a:r>
            <a:r>
              <a:rPr dirty="0" err="1"/>
              <a:t>ส่วนตอนประเมินก็รันในคอนเทนเนอร์แยกแล้วลบทิ้ง</a:t>
            </a:r>
            <a:r>
              <a:rPr dirty="0"/>
              <a:t> </a:t>
            </a:r>
            <a:r>
              <a:rPr dirty="0" err="1"/>
              <a:t>และใช้</a:t>
            </a:r>
            <a:r>
              <a:rPr dirty="0"/>
              <a:t> runner </a:t>
            </a:r>
            <a:r>
              <a:rPr dirty="0" err="1"/>
              <a:t>ใหม่ทุกครั้ง</a:t>
            </a:r>
            <a:endParaRPr dirty="0"/>
          </a:p>
          <a:p>
            <a:endParaRPr dirty="0"/>
          </a:p>
          <a:p>
            <a:r>
              <a:rPr dirty="0" err="1"/>
              <a:t>อีกอย่างคือชุดทดสอบเขียนโดยโมเดลคนละค่ายกับตัวที่สร้างโค้ด</a:t>
            </a:r>
            <a:r>
              <a:rPr dirty="0"/>
              <a:t> </a:t>
            </a:r>
            <a:r>
              <a:rPr dirty="0" err="1"/>
              <a:t>จะได้ไม่เข้าข้างกันค่ะ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 </a:t>
            </a:r>
            <a:r>
              <a:rPr dirty="0" err="1"/>
              <a:t>นาที</a:t>
            </a:r>
            <a:r>
              <a:rPr dirty="0"/>
              <a:t>] </a:t>
            </a:r>
            <a:r>
              <a:rPr dirty="0" err="1"/>
              <a:t>สองรอบของแต่ละคู่คือรันแยกกัน</a:t>
            </a:r>
            <a:r>
              <a:rPr dirty="0"/>
              <a:t> </a:t>
            </a:r>
            <a:r>
              <a:rPr dirty="0" err="1"/>
              <a:t>ไม่ใช่แก้ต่อจากรอบแรก</a:t>
            </a:r>
            <a:r>
              <a:rPr dirty="0"/>
              <a:t> </a:t>
            </a:r>
            <a:r>
              <a:rPr dirty="0" err="1"/>
              <a:t>เลยใช้ดูความนิ่งของผลได้</a:t>
            </a:r>
            <a:r>
              <a:rPr dirty="0"/>
              <a:t> </a:t>
            </a:r>
            <a:r>
              <a:rPr dirty="0" err="1"/>
              <a:t>ไฟล์สถานการณ์ทดสอบก็เหมือนกันทุกไบต์</a:t>
            </a:r>
            <a:r>
              <a:rPr dirty="0"/>
              <a:t> </a:t>
            </a:r>
            <a:r>
              <a:rPr dirty="0" err="1"/>
              <a:t>ผลที่ต่างจึงมาจากโค้ด</a:t>
            </a:r>
            <a:r>
              <a:rPr dirty="0"/>
              <a:t> </a:t>
            </a:r>
            <a:r>
              <a:rPr dirty="0" err="1"/>
              <a:t>ไม่ใช่เครื่องมือวัด</a:t>
            </a:r>
            <a:endParaRPr dirty="0"/>
          </a:p>
          <a:p>
            <a:endParaRPr dirty="0"/>
          </a:p>
          <a:p>
            <a:r>
              <a:rPr dirty="0" err="1"/>
              <a:t>บอกตรง</a:t>
            </a:r>
            <a:r>
              <a:rPr dirty="0"/>
              <a:t> </a:t>
            </a:r>
            <a:r>
              <a:rPr dirty="0" err="1"/>
              <a:t>ๆ</a:t>
            </a:r>
            <a:r>
              <a:rPr dirty="0"/>
              <a:t> </a:t>
            </a:r>
            <a:r>
              <a:rPr dirty="0" err="1"/>
              <a:t>ว่า</a:t>
            </a:r>
            <a:r>
              <a:rPr dirty="0"/>
              <a:t> SDD </a:t>
            </a:r>
            <a:r>
              <a:rPr dirty="0" err="1"/>
              <a:t>รันผ่าน</a:t>
            </a:r>
            <a:r>
              <a:rPr dirty="0"/>
              <a:t> Codex CLI </a:t>
            </a:r>
            <a:r>
              <a:rPr dirty="0" err="1"/>
              <a:t>ซึ่งเข้าถึงไฟล์ในรีโพได้</a:t>
            </a:r>
            <a:r>
              <a:rPr dirty="0"/>
              <a:t> </a:t>
            </a:r>
            <a:r>
              <a:rPr dirty="0" err="1"/>
              <a:t>ส่วน</a:t>
            </a:r>
            <a:r>
              <a:rPr dirty="0"/>
              <a:t> BP </a:t>
            </a:r>
            <a:r>
              <a:rPr dirty="0" err="1"/>
              <a:t>กับ</a:t>
            </a:r>
            <a:r>
              <a:rPr dirty="0"/>
              <a:t> CE </a:t>
            </a:r>
            <a:r>
              <a:rPr dirty="0" err="1"/>
              <a:t>ผ่านเว็บ</a:t>
            </a:r>
            <a:r>
              <a:rPr dirty="0"/>
              <a:t> ChatGPT </a:t>
            </a:r>
            <a:r>
              <a:rPr dirty="0" err="1"/>
              <a:t>โมเดลเป็น</a:t>
            </a:r>
            <a:r>
              <a:rPr dirty="0"/>
              <a:t> GPT-5.2 </a:t>
            </a:r>
            <a:r>
              <a:rPr dirty="0" err="1"/>
              <a:t>เหมือนกัน</a:t>
            </a:r>
            <a:r>
              <a:rPr dirty="0"/>
              <a:t> </a:t>
            </a:r>
            <a:r>
              <a:rPr dirty="0" err="1"/>
              <a:t>แต่ช่องทางต่างกัน</a:t>
            </a:r>
            <a:r>
              <a:rPr dirty="0"/>
              <a:t> </a:t>
            </a:r>
            <a:r>
              <a:rPr dirty="0" err="1"/>
              <a:t>เป็นข้อที่ต้องคำนึงตอนตีความค่ะ</a:t>
            </a:r>
            <a:endParaRPr dirty="0"/>
          </a:p>
          <a:p>
            <a:endParaRPr dirty="0"/>
          </a:p>
          <a:p>
            <a:r>
              <a:rPr dirty="0" err="1"/>
              <a:t>รหัสเวอร์ชันอ่านเป็นสามส่วนค่ะ</a:t>
            </a:r>
            <a:r>
              <a:rPr dirty="0"/>
              <a:t> </a:t>
            </a:r>
            <a:r>
              <a:rPr dirty="0" err="1"/>
              <a:t>สองตัวแรกคือโมดูล</a:t>
            </a:r>
            <a:r>
              <a:rPr dirty="0"/>
              <a:t> IM SC </a:t>
            </a:r>
            <a:r>
              <a:rPr dirty="0" err="1"/>
              <a:t>หรือ</a:t>
            </a:r>
            <a:r>
              <a:rPr dirty="0"/>
              <a:t> PD </a:t>
            </a:r>
            <a:r>
              <a:rPr dirty="0" err="1"/>
              <a:t>สองตัวถัดมาคือกลยุทธ์</a:t>
            </a:r>
            <a:r>
              <a:rPr dirty="0"/>
              <a:t> BP CE </a:t>
            </a:r>
            <a:r>
              <a:rPr dirty="0" err="1"/>
              <a:t>หรือ</a:t>
            </a:r>
            <a:r>
              <a:rPr dirty="0"/>
              <a:t> SD </a:t>
            </a:r>
            <a:r>
              <a:rPr dirty="0" err="1"/>
              <a:t>ซึ่งก็คือ</a:t>
            </a:r>
            <a:r>
              <a:rPr dirty="0"/>
              <a:t> SDD </a:t>
            </a:r>
            <a:r>
              <a:rPr dirty="0" err="1"/>
              <a:t>และสองตัวท้ายคือรอบการทดลอง</a:t>
            </a:r>
            <a:r>
              <a:rPr dirty="0"/>
              <a:t> 01 </a:t>
            </a:r>
            <a:r>
              <a:rPr dirty="0" err="1"/>
              <a:t>หรือ</a:t>
            </a:r>
            <a:r>
              <a:rPr dirty="0"/>
              <a:t> 02 </a:t>
            </a:r>
            <a:r>
              <a:rPr dirty="0" err="1"/>
              <a:t>ตัวอย่าง</a:t>
            </a:r>
            <a:r>
              <a:rPr dirty="0"/>
              <a:t> IMSD02 </a:t>
            </a:r>
            <a:r>
              <a:rPr dirty="0" err="1"/>
              <a:t>คือ</a:t>
            </a:r>
            <a:r>
              <a:rPr dirty="0"/>
              <a:t> Inventory Management, Spec-Driven Development, </a:t>
            </a:r>
            <a:r>
              <a:rPr dirty="0" err="1"/>
              <a:t>รอบที่สอง</a:t>
            </a:r>
            <a:r>
              <a:rPr dirty="0"/>
              <a:t> </a:t>
            </a:r>
            <a:r>
              <a:rPr dirty="0" err="1"/>
              <a:t>พอเห็นรหัสแบบนี้ในบทผลลัพธ์</a:t>
            </a:r>
            <a:r>
              <a:rPr dirty="0"/>
              <a:t> </a:t>
            </a:r>
            <a:r>
              <a:rPr dirty="0" err="1"/>
              <a:t>จะรู้ทันทีว่าเป็นโมดูลไหน</a:t>
            </a:r>
            <a:r>
              <a:rPr dirty="0"/>
              <a:t> </a:t>
            </a:r>
            <a:r>
              <a:rPr dirty="0" err="1"/>
              <a:t>กลยุทธ์ไหน</a:t>
            </a:r>
            <a:r>
              <a:rPr dirty="0"/>
              <a:t> </a:t>
            </a:r>
            <a:r>
              <a:rPr dirty="0" err="1"/>
              <a:t>รอบไหนค่ะ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[4 </a:t>
            </a:r>
            <a:r>
              <a:rPr dirty="0" err="1"/>
              <a:t>นาที</a:t>
            </a:r>
            <a:r>
              <a:rPr dirty="0"/>
              <a:t>] BP </a:t>
            </a:r>
            <a:r>
              <a:rPr dirty="0" err="1"/>
              <a:t>ไม่ใช่แค่สั้นนะคะ</a:t>
            </a:r>
            <a:r>
              <a:rPr dirty="0"/>
              <a:t> </a:t>
            </a:r>
            <a:r>
              <a:rPr dirty="0" err="1"/>
              <a:t>แต่เป็นการคุยโต้ตอบไปเรื่อย</a:t>
            </a:r>
            <a:r>
              <a:rPr dirty="0"/>
              <a:t> </a:t>
            </a:r>
            <a:r>
              <a:rPr dirty="0" err="1"/>
              <a:t>ๆ</a:t>
            </a:r>
            <a:r>
              <a:rPr dirty="0"/>
              <a:t> </a:t>
            </a:r>
            <a:r>
              <a:rPr dirty="0" err="1"/>
              <a:t>ขอฟีเจอร์</a:t>
            </a:r>
            <a:r>
              <a:rPr dirty="0"/>
              <a:t> </a:t>
            </a:r>
            <a:r>
              <a:rPr dirty="0" err="1"/>
              <a:t>เจอบั๊ก</a:t>
            </a:r>
            <a:r>
              <a:rPr dirty="0"/>
              <a:t> </a:t>
            </a:r>
            <a:r>
              <a:rPr dirty="0" err="1"/>
              <a:t>แก้</a:t>
            </a:r>
            <a:r>
              <a:rPr dirty="0"/>
              <a:t> </a:t>
            </a:r>
            <a:r>
              <a:rPr dirty="0" err="1"/>
              <a:t>แล้วขอเพิ่ม</a:t>
            </a:r>
            <a:r>
              <a:rPr dirty="0"/>
              <a:t> </a:t>
            </a:r>
            <a:r>
              <a:rPr dirty="0" err="1"/>
              <a:t>เฉลี่ยประมาณ</a:t>
            </a:r>
            <a:r>
              <a:rPr dirty="0"/>
              <a:t> 3 </a:t>
            </a:r>
            <a:r>
              <a:rPr dirty="0" err="1"/>
              <a:t>รอบต่อเวอร์ชัน</a:t>
            </a:r>
            <a:r>
              <a:rPr dirty="0"/>
              <a:t> </a:t>
            </a:r>
            <a:r>
              <a:rPr dirty="0" err="1"/>
              <a:t>ข้อกำหนดเลยค่อย</a:t>
            </a:r>
            <a:r>
              <a:rPr dirty="0"/>
              <a:t> </a:t>
            </a:r>
            <a:r>
              <a:rPr dirty="0" err="1"/>
              <a:t>ๆ</a:t>
            </a:r>
            <a:r>
              <a:rPr dirty="0"/>
              <a:t> </a:t>
            </a:r>
            <a:r>
              <a:rPr dirty="0" err="1"/>
              <a:t>โผล่ระหว่างทาง</a:t>
            </a:r>
            <a:r>
              <a:rPr dirty="0"/>
              <a:t> </a:t>
            </a:r>
            <a:r>
              <a:rPr dirty="0" err="1"/>
              <a:t>ไม่ได้ครบตั้งแต่แรก</a:t>
            </a:r>
            <a:endParaRPr dirty="0"/>
          </a:p>
          <a:p>
            <a:endParaRPr dirty="0"/>
          </a:p>
          <a:p>
            <a:r>
              <a:rPr dirty="0" err="1"/>
              <a:t>และฝากสังเกตไว้</a:t>
            </a:r>
            <a:r>
              <a:rPr dirty="0"/>
              <a:t> </a:t>
            </a:r>
            <a:r>
              <a:rPr dirty="0" err="1"/>
              <a:t>รอบสองคำสั่งเริ่มต้นสั้นลง</a:t>
            </a:r>
            <a:r>
              <a:rPr dirty="0"/>
              <a:t> </a:t>
            </a:r>
            <a:r>
              <a:rPr dirty="0" err="1"/>
              <a:t>เช่น</a:t>
            </a:r>
            <a:r>
              <a:rPr dirty="0"/>
              <a:t> PDBP01 </a:t>
            </a:r>
            <a:r>
              <a:rPr dirty="0" err="1"/>
              <a:t>ยาว</a:t>
            </a:r>
            <a:r>
              <a:rPr dirty="0"/>
              <a:t> 266 </a:t>
            </a:r>
            <a:r>
              <a:rPr dirty="0" err="1"/>
              <a:t>คำ</a:t>
            </a:r>
            <a:r>
              <a:rPr dirty="0"/>
              <a:t> </a:t>
            </a:r>
            <a:r>
              <a:rPr dirty="0" err="1"/>
              <a:t>แต่</a:t>
            </a:r>
            <a:r>
              <a:rPr dirty="0"/>
              <a:t> PDBP02 </a:t>
            </a:r>
            <a:r>
              <a:rPr dirty="0" err="1"/>
              <a:t>เหลือ</a:t>
            </a:r>
            <a:r>
              <a:rPr dirty="0"/>
              <a:t> 100 </a:t>
            </a:r>
            <a:r>
              <a:rPr dirty="0" err="1"/>
              <a:t>คำ</a:t>
            </a:r>
            <a:r>
              <a:rPr dirty="0"/>
              <a:t> </a:t>
            </a:r>
            <a:r>
              <a:rPr dirty="0" err="1"/>
              <a:t>บางข้อกำหนดที่เคยเขียนไว้หายไป</a:t>
            </a:r>
            <a:r>
              <a:rPr dirty="0"/>
              <a:t> </a:t>
            </a:r>
            <a:r>
              <a:rPr dirty="0" err="1"/>
              <a:t>ซึ่งจะโยงไปผลลัพธ์ค่ะ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[4 </a:t>
            </a:r>
            <a:r>
              <a:rPr dirty="0" err="1"/>
              <a:t>นาที</a:t>
            </a:r>
            <a:r>
              <a:rPr dirty="0"/>
              <a:t>] CE </a:t>
            </a:r>
            <a:r>
              <a:rPr dirty="0" err="1"/>
              <a:t>ไม่ได้แค่ยาวขึ้น</a:t>
            </a:r>
            <a:r>
              <a:rPr dirty="0"/>
              <a:t> </a:t>
            </a:r>
            <a:r>
              <a:rPr dirty="0" err="1"/>
              <a:t>แต่มีบทบาท</a:t>
            </a:r>
            <a:r>
              <a:rPr dirty="0"/>
              <a:t> </a:t>
            </a:r>
            <a:r>
              <a:rPr dirty="0" err="1"/>
              <a:t>มีระบุเทคโนโลยี</a:t>
            </a:r>
            <a:r>
              <a:rPr dirty="0"/>
              <a:t> </a:t>
            </a:r>
            <a:r>
              <a:rPr dirty="0" err="1"/>
              <a:t>มีสั่งให้ตรวจเอง</a:t>
            </a:r>
            <a:r>
              <a:rPr dirty="0"/>
              <a:t> </a:t>
            </a:r>
            <a:r>
              <a:rPr dirty="0" err="1"/>
              <a:t>และโต้ตอบมากกว่า</a:t>
            </a:r>
            <a:r>
              <a:rPr dirty="0"/>
              <a:t> BP </a:t>
            </a:r>
            <a:r>
              <a:rPr dirty="0" err="1"/>
              <a:t>คือ</a:t>
            </a:r>
            <a:r>
              <a:rPr dirty="0"/>
              <a:t> 4.17 </a:t>
            </a:r>
            <a:r>
              <a:rPr dirty="0" err="1"/>
              <a:t>ต่อ</a:t>
            </a:r>
            <a:r>
              <a:rPr dirty="0"/>
              <a:t> 3.17 </a:t>
            </a:r>
            <a:r>
              <a:rPr dirty="0" err="1"/>
              <a:t>รอบ</a:t>
            </a:r>
            <a:r>
              <a:rPr dirty="0"/>
              <a:t> </a:t>
            </a:r>
            <a:r>
              <a:rPr dirty="0" err="1"/>
              <a:t>แปลว่าเราลงแรงมากกว่า</a:t>
            </a:r>
            <a:endParaRPr dirty="0"/>
          </a:p>
          <a:p>
            <a:endParaRPr dirty="0"/>
          </a:p>
          <a:p>
            <a:r>
              <a:rPr dirty="0" err="1"/>
              <a:t>ดูตัวอย่างนี้ค่ะ</a:t>
            </a:r>
            <a:r>
              <a:rPr dirty="0"/>
              <a:t> SCCE02 </a:t>
            </a:r>
            <a:r>
              <a:rPr dirty="0" err="1"/>
              <a:t>ระบุชัดว่าใช้</a:t>
            </a:r>
            <a:r>
              <a:rPr dirty="0"/>
              <a:t> PostgreSQL </a:t>
            </a:r>
            <a:r>
              <a:rPr dirty="0" err="1"/>
              <a:t>โมเดลก็สร้างชั้นฐานข้อมูลให้จริง</a:t>
            </a:r>
            <a:r>
              <a:rPr dirty="0"/>
              <a:t> </a:t>
            </a:r>
            <a:r>
              <a:rPr dirty="0" err="1"/>
              <a:t>แต่</a:t>
            </a:r>
            <a:r>
              <a:rPr dirty="0"/>
              <a:t> SCBP02 </a:t>
            </a:r>
            <a:r>
              <a:rPr dirty="0" err="1"/>
              <a:t>ไม่ได้ระบุ</a:t>
            </a:r>
            <a:r>
              <a:rPr dirty="0"/>
              <a:t> </a:t>
            </a:r>
            <a:r>
              <a:rPr dirty="0" err="1"/>
              <a:t>โมเดลก็เลือกวิธีง่ายสุดคือเก็บในหน่วยความจำ</a:t>
            </a:r>
            <a:r>
              <a:rPr dirty="0"/>
              <a:t> </a:t>
            </a:r>
            <a:r>
              <a:rPr dirty="0" err="1"/>
              <a:t>แปลว่าโมเดลทำตามที่บอก</a:t>
            </a:r>
            <a:endParaRPr dirty="0"/>
          </a:p>
          <a:p>
            <a:endParaRPr dirty="0"/>
          </a:p>
          <a:p>
            <a:r>
              <a:rPr dirty="0" err="1"/>
              <a:t>แต่</a:t>
            </a:r>
            <a:r>
              <a:rPr dirty="0"/>
              <a:t> CE </a:t>
            </a:r>
            <a:r>
              <a:rPr dirty="0" err="1"/>
              <a:t>ก็ระบุไม่ครบทุกอย่าง</a:t>
            </a:r>
            <a:r>
              <a:rPr dirty="0"/>
              <a:t> </a:t>
            </a:r>
            <a:r>
              <a:rPr dirty="0" err="1"/>
              <a:t>และรอบสองคำสั่งก็สั้นลงเหมือนกัน</a:t>
            </a:r>
            <a:r>
              <a:rPr dirty="0"/>
              <a:t> </a:t>
            </a:r>
            <a:r>
              <a:rPr dirty="0" err="1"/>
              <a:t>เช่น</a:t>
            </a:r>
            <a:r>
              <a:rPr dirty="0"/>
              <a:t> IMCE01 </a:t>
            </a:r>
            <a:r>
              <a:rPr dirty="0" err="1"/>
              <a:t>ยาว</a:t>
            </a:r>
            <a:r>
              <a:rPr dirty="0"/>
              <a:t> 280 </a:t>
            </a:r>
            <a:r>
              <a:rPr dirty="0" err="1"/>
              <a:t>คำ</a:t>
            </a:r>
            <a:r>
              <a:rPr dirty="0"/>
              <a:t> IMCE02 </a:t>
            </a:r>
            <a:r>
              <a:rPr dirty="0" err="1"/>
              <a:t>เหลือ</a:t>
            </a:r>
            <a:r>
              <a:rPr dirty="0"/>
              <a:t> 124 </a:t>
            </a:r>
            <a:r>
              <a:rPr dirty="0" err="1"/>
              <a:t>คำ</a:t>
            </a:r>
            <a:r>
              <a:rPr dirty="0"/>
              <a:t> </a:t>
            </a:r>
            <a:r>
              <a:rPr dirty="0" err="1"/>
              <a:t>เลยมีฟีเจอร์ที่ตกหล่นเหมือนกันค่ะ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[5 </a:t>
            </a:r>
            <a:r>
              <a:rPr dirty="0" err="1"/>
              <a:t>นาที</a:t>
            </a:r>
            <a:r>
              <a:rPr dirty="0"/>
              <a:t>] </a:t>
            </a:r>
            <a:r>
              <a:rPr dirty="0" err="1"/>
              <a:t>ที่ต่างจากสองวิธีแรกคือ</a:t>
            </a:r>
            <a:r>
              <a:rPr dirty="0"/>
              <a:t> </a:t>
            </a:r>
            <a:r>
              <a:rPr dirty="0" err="1"/>
              <a:t>ทุกขั้นทิ้งเอกสารไว้ในรีโพ</a:t>
            </a:r>
            <a:r>
              <a:rPr dirty="0"/>
              <a:t> </a:t>
            </a:r>
            <a:r>
              <a:rPr dirty="0" err="1"/>
              <a:t>แล้วขั้นต่อไปอ่านต่อ</a:t>
            </a:r>
            <a:r>
              <a:rPr dirty="0"/>
              <a:t> </a:t>
            </a:r>
            <a:r>
              <a:rPr dirty="0" err="1"/>
              <a:t>งานเลยไม่ลอยไปตามบทสนทนา</a:t>
            </a:r>
            <a:r>
              <a:rPr dirty="0"/>
              <a:t> </a:t>
            </a:r>
            <a:r>
              <a:rPr dirty="0" err="1"/>
              <a:t>เช่น</a:t>
            </a:r>
            <a:r>
              <a:rPr dirty="0"/>
              <a:t> Plan </a:t>
            </a:r>
            <a:r>
              <a:rPr dirty="0" err="1"/>
              <a:t>ต้องตรวจกลับกับ</a:t>
            </a:r>
            <a:r>
              <a:rPr dirty="0"/>
              <a:t> Constitution </a:t>
            </a:r>
            <a:r>
              <a:rPr dirty="0" err="1"/>
              <a:t>และ</a:t>
            </a:r>
            <a:r>
              <a:rPr dirty="0"/>
              <a:t> Task </a:t>
            </a:r>
            <a:r>
              <a:rPr dirty="0" err="1"/>
              <a:t>แตกงานเป็น</a:t>
            </a:r>
            <a:r>
              <a:rPr dirty="0"/>
              <a:t> 38 </a:t>
            </a:r>
            <a:r>
              <a:rPr dirty="0" err="1"/>
              <a:t>ข้อที่ตามได้ทีละข้อ</a:t>
            </a:r>
            <a:endParaRPr dirty="0"/>
          </a:p>
          <a:p>
            <a:endParaRPr dirty="0"/>
          </a:p>
          <a:p>
            <a:r>
              <a:rPr dirty="0" err="1"/>
              <a:t>ผลที่ตามมาคือ</a:t>
            </a:r>
            <a:r>
              <a:rPr dirty="0"/>
              <a:t> </a:t>
            </a:r>
            <a:r>
              <a:rPr dirty="0" err="1"/>
              <a:t>เพราะเอกสารเหมือนเดิมทั้งสองรอบ</a:t>
            </a:r>
            <a:r>
              <a:rPr dirty="0"/>
              <a:t> SDD </a:t>
            </a:r>
            <a:r>
              <a:rPr dirty="0" err="1"/>
              <a:t>ได้ข้อกำหนดครบเท่ากันเสมอ</a:t>
            </a:r>
            <a:r>
              <a:rPr dirty="0"/>
              <a:t> </a:t>
            </a:r>
            <a:r>
              <a:rPr dirty="0" err="1"/>
              <a:t>ไม่ว่าคำสั่งที่พิมพ์จะสั้นแค่ไหน</a:t>
            </a:r>
            <a:r>
              <a:rPr dirty="0"/>
              <a:t> </a:t>
            </a:r>
            <a:r>
              <a:rPr dirty="0" err="1"/>
              <a:t>ต่างจาก</a:t>
            </a:r>
            <a:r>
              <a:rPr dirty="0"/>
              <a:t> BP </a:t>
            </a:r>
            <a:r>
              <a:rPr dirty="0" err="1"/>
              <a:t>กับ</a:t>
            </a:r>
            <a:r>
              <a:rPr dirty="0"/>
              <a:t> CE </a:t>
            </a:r>
            <a:r>
              <a:rPr dirty="0" err="1"/>
              <a:t>ที่ข้อกำหนดอยู่ในข้อความที่พิมพ์แต่ละครั้ง</a:t>
            </a:r>
            <a:endParaRPr dirty="0"/>
          </a:p>
          <a:p>
            <a:endParaRPr dirty="0"/>
          </a:p>
          <a:p>
            <a:r>
              <a:rPr dirty="0" err="1"/>
              <a:t>ส่วนราคาที่ต้องจ่ายคือเขียนเอกสารหลายชั้นก่อนจะได้โค้ด</a:t>
            </a:r>
            <a:r>
              <a:rPr dirty="0"/>
              <a:t> </a:t>
            </a:r>
            <a:r>
              <a:rPr dirty="0" err="1"/>
              <a:t>และ</a:t>
            </a:r>
            <a:r>
              <a:rPr dirty="0"/>
              <a:t> Constitution </a:t>
            </a:r>
            <a:r>
              <a:rPr dirty="0" err="1"/>
              <a:t>ยังไม่ครอบคลุมเรื่องความปลอดภัยค่ะ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 </a:t>
            </a:r>
            <a:r>
              <a:rPr dirty="0" err="1"/>
              <a:t>นาที</a:t>
            </a:r>
            <a:r>
              <a:rPr dirty="0"/>
              <a:t>] </a:t>
            </a:r>
            <a:r>
              <a:rPr dirty="0" err="1"/>
              <a:t>ไฟล์นี้เหมือนสัญญาของโมดูลค่ะ</a:t>
            </a:r>
            <a:r>
              <a:rPr dirty="0"/>
              <a:t> </a:t>
            </a:r>
            <a:r>
              <a:rPr dirty="0" err="1"/>
              <a:t>ใช้เป็นฐานทั้งตอนสร้างโค้ดและตอนเขียนเทสต์</a:t>
            </a:r>
            <a:r>
              <a:rPr dirty="0"/>
              <a:t> </a:t>
            </a:r>
            <a:r>
              <a:rPr dirty="0" err="1"/>
              <a:t>ส่วนที่ยากสุดคือกรณีขอบเขต</a:t>
            </a:r>
            <a:r>
              <a:rPr dirty="0"/>
              <a:t> </a:t>
            </a:r>
            <a:r>
              <a:rPr dirty="0" err="1"/>
              <a:t>เช่น</a:t>
            </a:r>
            <a:r>
              <a:rPr dirty="0"/>
              <a:t> </a:t>
            </a:r>
            <a:r>
              <a:rPr dirty="0" err="1"/>
              <a:t>ยิงห้าคำขอพร้อมกัน</a:t>
            </a:r>
            <a:r>
              <a:rPr dirty="0"/>
              <a:t> </a:t>
            </a:r>
            <a:r>
              <a:rPr dirty="0" err="1"/>
              <a:t>กับ</a:t>
            </a:r>
            <a:r>
              <a:rPr dirty="0"/>
              <a:t> transaction</a:t>
            </a:r>
          </a:p>
          <a:p>
            <a:endParaRPr dirty="0"/>
          </a:p>
          <a:p>
            <a:r>
              <a:rPr dirty="0" err="1"/>
              <a:t>บอกให้ชัดเลยว่า</a:t>
            </a:r>
            <a:r>
              <a:rPr dirty="0"/>
              <a:t> SDD </a:t>
            </a:r>
            <a:r>
              <a:rPr dirty="0" err="1"/>
              <a:t>ได้ไฟล์นี้เป็นข้อมูลนำเข้าโดยตรง</a:t>
            </a:r>
            <a:r>
              <a:rPr dirty="0"/>
              <a:t> </a:t>
            </a:r>
            <a:r>
              <a:rPr dirty="0" err="1"/>
              <a:t>ซึ่งก็คือจุดที่ผลการทดลองอยากชี้</a:t>
            </a:r>
            <a:r>
              <a:rPr dirty="0"/>
              <a:t> </a:t>
            </a:r>
            <a:r>
              <a:rPr dirty="0" err="1"/>
              <a:t>คือคุณภาพตามสิ่งที่ถูกระบุ</a:t>
            </a:r>
            <a:r>
              <a:rPr dirty="0"/>
              <a:t> </a:t>
            </a:r>
            <a:r>
              <a:rPr dirty="0" err="1"/>
              <a:t>ไม่ใช่ข้อบกพร่องของการทดลองค่ะ</a:t>
            </a:r>
            <a:endParaRPr dirty="0"/>
          </a:p>
          <a:p>
            <a:endParaRPr dirty="0"/>
          </a:p>
          <a:p>
            <a:r>
              <a:rPr dirty="0" err="1"/>
              <a:t>ลูกศร</a:t>
            </a:r>
            <a:r>
              <a:rPr dirty="0"/>
              <a:t> Scenario </a:t>
            </a:r>
            <a:r>
              <a:rPr dirty="0" err="1"/>
              <a:t>ชี้เข้าที่ขั้น</a:t>
            </a:r>
            <a:r>
              <a:rPr dirty="0"/>
              <a:t> Spec </a:t>
            </a:r>
            <a:r>
              <a:rPr dirty="0" err="1"/>
              <a:t>ค่ะ</a:t>
            </a:r>
            <a:r>
              <a:rPr dirty="0"/>
              <a:t> </a:t>
            </a:r>
            <a:r>
              <a:rPr dirty="0" err="1"/>
              <a:t>เพราะไฟล์</a:t>
            </a:r>
            <a:r>
              <a:rPr dirty="0"/>
              <a:t> Scenario </a:t>
            </a:r>
            <a:r>
              <a:rPr dirty="0" err="1"/>
              <a:t>คือข้อมูลนำเข้าหลักของการเขียนข้อกำหนด</a:t>
            </a:r>
            <a:r>
              <a:rPr dirty="0"/>
              <a:t> </a:t>
            </a:r>
            <a:r>
              <a:rPr dirty="0" err="1"/>
              <a:t>หลังจากนั้น</a:t>
            </a:r>
            <a:r>
              <a:rPr dirty="0"/>
              <a:t> Plan Task </a:t>
            </a:r>
            <a:r>
              <a:rPr dirty="0" err="1"/>
              <a:t>และ</a:t>
            </a:r>
            <a:r>
              <a:rPr dirty="0"/>
              <a:t> Implement </a:t>
            </a:r>
            <a:r>
              <a:rPr dirty="0" err="1"/>
              <a:t>ก็สืบต่อจากข้อกำหนดนั้น</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[4 </a:t>
            </a:r>
            <a:r>
              <a:rPr dirty="0" err="1"/>
              <a:t>นาที</a:t>
            </a:r>
            <a:r>
              <a:rPr dirty="0"/>
              <a:t>] </a:t>
            </a:r>
            <a:r>
              <a:rPr dirty="0" err="1"/>
              <a:t>ตารางนี้ไล่จากแบบคุยไปถึงแบบมีนโยบายกำกับ</a:t>
            </a:r>
            <a:r>
              <a:rPr dirty="0"/>
              <a:t> </a:t>
            </a:r>
            <a:r>
              <a:rPr dirty="0" err="1"/>
              <a:t>มีสามอย่างที่สำคัญ</a:t>
            </a:r>
            <a:r>
              <a:rPr dirty="0"/>
              <a:t> </a:t>
            </a:r>
            <a:r>
              <a:rPr dirty="0" err="1"/>
              <a:t>คือข้อกำหนดอยู่ที่ไหน</a:t>
            </a:r>
            <a:r>
              <a:rPr dirty="0"/>
              <a:t> </a:t>
            </a:r>
            <a:r>
              <a:rPr dirty="0" err="1"/>
              <a:t>ใน</a:t>
            </a:r>
            <a:r>
              <a:rPr dirty="0"/>
              <a:t> BP </a:t>
            </a:r>
            <a:r>
              <a:rPr dirty="0" err="1"/>
              <a:t>อยู่ในแชต</a:t>
            </a:r>
            <a:r>
              <a:rPr dirty="0"/>
              <a:t> </a:t>
            </a:r>
            <a:r>
              <a:rPr dirty="0" err="1"/>
              <a:t>ใน</a:t>
            </a:r>
            <a:r>
              <a:rPr dirty="0"/>
              <a:t> CE </a:t>
            </a:r>
            <a:r>
              <a:rPr dirty="0" err="1"/>
              <a:t>อยู่ในคำสั่งที่มีโครงสร้าง</a:t>
            </a:r>
            <a:r>
              <a:rPr dirty="0"/>
              <a:t> </a:t>
            </a:r>
            <a:r>
              <a:rPr dirty="0" err="1"/>
              <a:t>ใน</a:t>
            </a:r>
            <a:r>
              <a:rPr dirty="0"/>
              <a:t> SDD </a:t>
            </a:r>
            <a:r>
              <a:rPr dirty="0" err="1"/>
              <a:t>อยู่ในเอกสารแยก</a:t>
            </a:r>
            <a:r>
              <a:rPr dirty="0"/>
              <a:t> </a:t>
            </a:r>
            <a:r>
              <a:rPr dirty="0" err="1"/>
              <a:t>ใครคุมคุณภาพ</a:t>
            </a:r>
            <a:r>
              <a:rPr dirty="0"/>
              <a:t> BP </a:t>
            </a:r>
            <a:r>
              <a:rPr dirty="0" err="1"/>
              <a:t>ไม่มี</a:t>
            </a:r>
            <a:r>
              <a:rPr dirty="0"/>
              <a:t> CE </a:t>
            </a:r>
            <a:r>
              <a:rPr dirty="0" err="1"/>
              <a:t>ให้โมเดลตรวจเอง</a:t>
            </a:r>
            <a:r>
              <a:rPr dirty="0"/>
              <a:t> SDD </a:t>
            </a:r>
            <a:r>
              <a:rPr dirty="0" err="1"/>
              <a:t>มีเกณฑ์ชัด</a:t>
            </a:r>
            <a:r>
              <a:rPr dirty="0"/>
              <a:t> </a:t>
            </a:r>
            <a:r>
              <a:rPr dirty="0" err="1"/>
              <a:t>และสุดท้ายคือปริมาณโค้ดที่ได้</a:t>
            </a:r>
            <a:endParaRPr dirty="0"/>
          </a:p>
          <a:p>
            <a:endParaRPr dirty="0"/>
          </a:p>
          <a:p>
            <a:r>
              <a:rPr dirty="0" err="1"/>
              <a:t>ที่ไม่ได้อยู่บนสไลด์คือ</a:t>
            </a:r>
            <a:r>
              <a:rPr dirty="0"/>
              <a:t> SDD </a:t>
            </a:r>
            <a:r>
              <a:rPr dirty="0" err="1"/>
              <a:t>เขียนโค้ดเฉลี่ย</a:t>
            </a:r>
            <a:r>
              <a:rPr dirty="0"/>
              <a:t> 822.7 </a:t>
            </a:r>
            <a:r>
              <a:rPr dirty="0" err="1"/>
              <a:t>บรรทัดต่อเวอร์ชัน</a:t>
            </a:r>
            <a:r>
              <a:rPr dirty="0"/>
              <a:t> </a:t>
            </a:r>
            <a:r>
              <a:rPr dirty="0" err="1"/>
              <a:t>ส่วน</a:t>
            </a:r>
            <a:r>
              <a:rPr dirty="0"/>
              <a:t> BP 433.3 </a:t>
            </a:r>
            <a:r>
              <a:rPr dirty="0" err="1"/>
              <a:t>และ</a:t>
            </a:r>
            <a:r>
              <a:rPr dirty="0"/>
              <a:t> CE 507.8 </a:t>
            </a:r>
            <a:r>
              <a:rPr dirty="0" err="1"/>
              <a:t>ตัวนี้จะมีผลตอนอ่านค่า</a:t>
            </a:r>
            <a:r>
              <a:rPr dirty="0"/>
              <a:t> SonarQube </a:t>
            </a:r>
            <a:r>
              <a:rPr dirty="0" err="1"/>
              <a:t>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 </a:t>
            </a:r>
            <a:r>
              <a:rPr dirty="0" err="1"/>
              <a:t>นาที</a:t>
            </a:r>
            <a:r>
              <a:rPr dirty="0"/>
              <a:t>] </a:t>
            </a:r>
            <a:r>
              <a:rPr dirty="0" err="1"/>
              <a:t>กติกาตัดสินเข้มนะคะ</a:t>
            </a:r>
            <a:r>
              <a:rPr dirty="0"/>
              <a:t> </a:t>
            </a:r>
            <a:r>
              <a:rPr dirty="0" err="1"/>
              <a:t>ข้อผ่านต่อเมื่อผลที่คาดไว้ทุกข้อถูกตรวจและถูกต้อง</a:t>
            </a:r>
            <a:r>
              <a:rPr dirty="0"/>
              <a:t> </a:t>
            </a:r>
            <a:r>
              <a:rPr dirty="0" err="1"/>
              <a:t>และฟีเจอร์ที่ไม่ได้สร้างนับเป็นไม่ผ่านเลย</a:t>
            </a:r>
            <a:r>
              <a:rPr dirty="0"/>
              <a:t> </a:t>
            </a:r>
            <a:r>
              <a:rPr dirty="0" err="1"/>
              <a:t>ไม่ได้ตัดออก</a:t>
            </a:r>
            <a:r>
              <a:rPr dirty="0"/>
              <a:t> </a:t>
            </a:r>
            <a:r>
              <a:rPr dirty="0" err="1"/>
              <a:t>ทำให้การลืมสร้างฟีเจอร์เสียคะแนนหนัก</a:t>
            </a:r>
            <a:r>
              <a:rPr dirty="0"/>
              <a:t> </a:t>
            </a:r>
            <a:r>
              <a:rPr dirty="0" err="1"/>
              <a:t>ซึ่งเป็นกุญแจของผลที่จะเห็น</a:t>
            </a:r>
            <a:endParaRPr dirty="0"/>
          </a:p>
          <a:p>
            <a:endParaRPr dirty="0"/>
          </a:p>
          <a:p>
            <a:r>
              <a:rPr dirty="0" err="1"/>
              <a:t>และขอย้ำว่า</a:t>
            </a:r>
            <a:r>
              <a:rPr dirty="0"/>
              <a:t> </a:t>
            </a:r>
            <a:r>
              <a:rPr dirty="0" err="1"/>
              <a:t>ผลนี้บอกความถูกต้องในกรณีทดสอบที่กำหนดเท่านั้น</a:t>
            </a:r>
            <a:r>
              <a:rPr dirty="0"/>
              <a:t> </a:t>
            </a:r>
            <a:r>
              <a:rPr dirty="0" err="1"/>
              <a:t>ไม่ได้รับรองทุกสถานการณ์จริงค่ะ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[5 </a:t>
            </a:r>
            <a:r>
              <a:rPr dirty="0" err="1"/>
              <a:t>นาที</a:t>
            </a:r>
            <a:r>
              <a:rPr dirty="0"/>
              <a:t>] </a:t>
            </a:r>
            <a:r>
              <a:rPr dirty="0" err="1"/>
              <a:t>ภาพรวมถือว่าดีนะคะ</a:t>
            </a:r>
            <a:r>
              <a:rPr dirty="0"/>
              <a:t> </a:t>
            </a:r>
            <a:r>
              <a:rPr dirty="0" err="1"/>
              <a:t>ผ่านรวม</a:t>
            </a:r>
            <a:r>
              <a:rPr dirty="0"/>
              <a:t> 86 </a:t>
            </a:r>
            <a:r>
              <a:rPr dirty="0" err="1"/>
              <a:t>จาก</a:t>
            </a:r>
            <a:r>
              <a:rPr dirty="0"/>
              <a:t> 108 </a:t>
            </a:r>
            <a:r>
              <a:rPr dirty="0" err="1"/>
              <a:t>หรือ</a:t>
            </a:r>
            <a:r>
              <a:rPr dirty="0"/>
              <a:t> 80 </a:t>
            </a:r>
            <a:r>
              <a:rPr dirty="0" err="1"/>
              <a:t>เปอร์เซ็นต์</a:t>
            </a:r>
            <a:r>
              <a:rPr dirty="0"/>
              <a:t> </a:t>
            </a:r>
            <a:r>
              <a:rPr dirty="0" err="1"/>
              <a:t>สามวิธีทำซอฟต์แวร์ที่ใช้ได้เป็นส่วนใหญ่</a:t>
            </a:r>
            <a:r>
              <a:rPr dirty="0"/>
              <a:t> </a:t>
            </a:r>
            <a:r>
              <a:rPr dirty="0" err="1"/>
              <a:t>ความต่างอยู่ที่ความน่าเชื่อถือ</a:t>
            </a:r>
            <a:endParaRPr dirty="0"/>
          </a:p>
          <a:p>
            <a:endParaRPr dirty="0"/>
          </a:p>
          <a:p>
            <a:r>
              <a:rPr dirty="0" err="1"/>
              <a:t>ที่น่าสนใจคือลำดับไม่ได้เรียงตามโครงสร้าง</a:t>
            </a:r>
            <a:r>
              <a:rPr dirty="0"/>
              <a:t> CE </a:t>
            </a:r>
            <a:r>
              <a:rPr dirty="0" err="1"/>
              <a:t>ที่โครงสร้างเยอะกว่า</a:t>
            </a:r>
            <a:r>
              <a:rPr dirty="0"/>
              <a:t> BP </a:t>
            </a:r>
            <a:r>
              <a:rPr dirty="0" err="1"/>
              <a:t>กลับต่ำกว่า</a:t>
            </a:r>
            <a:r>
              <a:rPr dirty="0"/>
              <a:t> </a:t>
            </a:r>
            <a:r>
              <a:rPr dirty="0" err="1"/>
              <a:t>และดูโมดูล</a:t>
            </a:r>
            <a:r>
              <a:rPr dirty="0"/>
              <a:t> Promotions </a:t>
            </a:r>
            <a:r>
              <a:rPr dirty="0" err="1"/>
              <a:t>ที่เงื่อนไขซับซ้อนสุด</a:t>
            </a:r>
            <a:r>
              <a:rPr dirty="0"/>
              <a:t> BP </a:t>
            </a:r>
            <a:r>
              <a:rPr dirty="0" err="1"/>
              <a:t>ได้แค่</a:t>
            </a:r>
            <a:r>
              <a:rPr dirty="0"/>
              <a:t> 58 </a:t>
            </a:r>
            <a:r>
              <a:rPr dirty="0" err="1"/>
              <a:t>แต่</a:t>
            </a:r>
            <a:r>
              <a:rPr dirty="0"/>
              <a:t> SDD </a:t>
            </a:r>
            <a:r>
              <a:rPr dirty="0" err="1"/>
              <a:t>ได้</a:t>
            </a:r>
            <a:r>
              <a:rPr dirty="0"/>
              <a:t> 92 </a:t>
            </a:r>
            <a:r>
              <a:rPr dirty="0" err="1"/>
              <a:t>แปลว่ายิ่งกฎธุรกิจซับซ้อน</a:t>
            </a:r>
            <a:r>
              <a:rPr dirty="0"/>
              <a:t> </a:t>
            </a:r>
            <a:r>
              <a:rPr dirty="0" err="1"/>
              <a:t>ยิ่งต้องระบุให้ชัด</a:t>
            </a:r>
            <a:endParaRPr dirty="0"/>
          </a:p>
          <a:p>
            <a:endParaRPr dirty="0"/>
          </a:p>
          <a:p>
            <a:r>
              <a:rPr dirty="0" err="1"/>
              <a:t>อีกอย่างคือ</a:t>
            </a:r>
            <a:r>
              <a:rPr dirty="0"/>
              <a:t> SDD </a:t>
            </a:r>
            <a:r>
              <a:rPr dirty="0" err="1"/>
              <a:t>สูงทุกโมดูล</a:t>
            </a:r>
            <a:r>
              <a:rPr dirty="0"/>
              <a:t> </a:t>
            </a:r>
            <a:r>
              <a:rPr dirty="0" err="1"/>
              <a:t>แต่</a:t>
            </a:r>
            <a:r>
              <a:rPr dirty="0"/>
              <a:t> BP </a:t>
            </a:r>
            <a:r>
              <a:rPr dirty="0" err="1"/>
              <a:t>กับ</a:t>
            </a:r>
            <a:r>
              <a:rPr dirty="0"/>
              <a:t> CE </a:t>
            </a:r>
            <a:r>
              <a:rPr dirty="0" err="1"/>
              <a:t>ขึ้นลงตามโมดูล</a:t>
            </a:r>
            <a:r>
              <a:rPr dirty="0"/>
              <a:t> </a:t>
            </a:r>
            <a:r>
              <a:rPr dirty="0" err="1"/>
              <a:t>เกิดจากอะไร</a:t>
            </a:r>
            <a:r>
              <a:rPr dirty="0"/>
              <a:t> </a:t>
            </a:r>
            <a:r>
              <a:rPr dirty="0" err="1"/>
              <a:t>ไปดูสไลด์ต่อไปค่ะ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 </a:t>
            </a:r>
            <a:r>
              <a:rPr dirty="0" err="1"/>
              <a:t>นาที</a:t>
            </a:r>
            <a:r>
              <a:rPr dirty="0"/>
              <a:t>] </a:t>
            </a:r>
            <a:r>
              <a:rPr dirty="0" err="1"/>
              <a:t>ข้อได้เปรียบของ</a:t>
            </a:r>
            <a:r>
              <a:rPr dirty="0"/>
              <a:t> SDD </a:t>
            </a:r>
            <a:r>
              <a:rPr dirty="0" err="1"/>
              <a:t>ไม่ใช่แค่ค่าเฉลี่ย</a:t>
            </a:r>
            <a:r>
              <a:rPr dirty="0"/>
              <a:t> </a:t>
            </a:r>
            <a:r>
              <a:rPr dirty="0" err="1"/>
              <a:t>แต่คือความนิ่งค่ะ</a:t>
            </a:r>
            <a:r>
              <a:rPr dirty="0"/>
              <a:t> SDD </a:t>
            </a:r>
            <a:r>
              <a:rPr dirty="0" err="1"/>
              <a:t>ผ่านครบ</a:t>
            </a:r>
            <a:r>
              <a:rPr dirty="0"/>
              <a:t> 5 </a:t>
            </a:r>
            <a:r>
              <a:rPr dirty="0" err="1"/>
              <a:t>จาก</a:t>
            </a:r>
            <a:r>
              <a:rPr dirty="0"/>
              <a:t> 6 </a:t>
            </a:r>
            <a:r>
              <a:rPr dirty="0" err="1"/>
              <a:t>เวอร์ชัน</a:t>
            </a:r>
            <a:r>
              <a:rPr dirty="0"/>
              <a:t> </a:t>
            </a:r>
            <a:r>
              <a:rPr dirty="0" err="1"/>
              <a:t>ตัวต่ำสุดยังได้</a:t>
            </a:r>
            <a:r>
              <a:rPr dirty="0"/>
              <a:t> 83 </a:t>
            </a:r>
            <a:r>
              <a:rPr dirty="0" err="1"/>
              <a:t>เปอร์เซ็นต์</a:t>
            </a:r>
            <a:r>
              <a:rPr dirty="0"/>
              <a:t> </a:t>
            </a:r>
            <a:r>
              <a:rPr dirty="0" err="1"/>
              <a:t>ส่วน</a:t>
            </a:r>
            <a:r>
              <a:rPr dirty="0"/>
              <a:t> BP </a:t>
            </a:r>
            <a:r>
              <a:rPr dirty="0" err="1"/>
              <a:t>ผ่านครบแค่</a:t>
            </a:r>
            <a:r>
              <a:rPr dirty="0"/>
              <a:t> 2 </a:t>
            </a:r>
            <a:r>
              <a:rPr dirty="0" err="1"/>
              <a:t>เวอร์ชัน</a:t>
            </a:r>
            <a:r>
              <a:rPr dirty="0"/>
              <a:t> CE </a:t>
            </a:r>
            <a:r>
              <a:rPr dirty="0" err="1"/>
              <a:t>แค่</a:t>
            </a:r>
            <a:r>
              <a:rPr dirty="0"/>
              <a:t> 3 </a:t>
            </a:r>
            <a:r>
              <a:rPr dirty="0" err="1"/>
              <a:t>เวอร์ชัน</a:t>
            </a:r>
            <a:r>
              <a:rPr dirty="0"/>
              <a:t> </a:t>
            </a:r>
            <a:r>
              <a:rPr dirty="0" err="1"/>
              <a:t>และมีบางตัวตกไปถึง</a:t>
            </a:r>
            <a:r>
              <a:rPr dirty="0"/>
              <a:t> 17 </a:t>
            </a:r>
            <a:r>
              <a:rPr dirty="0" err="1"/>
              <a:t>กับ</a:t>
            </a:r>
            <a:r>
              <a:rPr dirty="0"/>
              <a:t> 14 </a:t>
            </a:r>
            <a:r>
              <a:rPr dirty="0" err="1"/>
              <a:t>เปอร์เซ็นต์</a:t>
            </a:r>
            <a:endParaRPr dirty="0"/>
          </a:p>
          <a:p>
            <a:endParaRPr dirty="0"/>
          </a:p>
          <a:p>
            <a:r>
              <a:rPr dirty="0" err="1"/>
              <a:t>ลองสังเกตว่าตัวที่ตกหนักมักเป็นรอบสอง</a:t>
            </a:r>
            <a:r>
              <a:rPr dirty="0"/>
              <a:t> </a:t>
            </a:r>
            <a:r>
              <a:rPr dirty="0" err="1"/>
              <a:t>สไลด์ถัดไปจะอธิบาย</a:t>
            </a:r>
            <a:r>
              <a:rPr dirty="0"/>
              <a:t> </a:t>
            </a:r>
            <a:r>
              <a:rPr dirty="0" err="1"/>
              <a:t>แต่ต้องบอกไว้ด้วยว่าเกณฑ์ตรวจรอบสองเข้มกว่า</a:t>
            </a:r>
            <a:r>
              <a:rPr dirty="0"/>
              <a:t> </a:t>
            </a:r>
            <a:r>
              <a:rPr dirty="0" err="1"/>
              <a:t>ส่วนต่างระหว่างรอบเลยมาจากทั้งโค้ดและเกณฑ์</a:t>
            </a:r>
            <a:r>
              <a:rPr dirty="0"/>
              <a:t> </a:t>
            </a:r>
            <a:r>
              <a:rPr dirty="0" err="1"/>
              <a:t>ดิฉันจึงตีความเป็นแนวโน้มค่ะ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[5 </a:t>
            </a:r>
            <a:r>
              <a:rPr dirty="0" err="1"/>
              <a:t>นาที</a:t>
            </a:r>
            <a:r>
              <a:rPr dirty="0"/>
              <a:t>] </a:t>
            </a:r>
            <a:r>
              <a:rPr dirty="0" err="1"/>
              <a:t>ข้อนี้คือหัวใจของงานค่ะ</a:t>
            </a:r>
            <a:r>
              <a:rPr dirty="0"/>
              <a:t> </a:t>
            </a:r>
            <a:r>
              <a:rPr dirty="0" err="1"/>
              <a:t>ใน</a:t>
            </a:r>
            <a:r>
              <a:rPr dirty="0"/>
              <a:t> 22 </a:t>
            </a:r>
            <a:r>
              <a:rPr dirty="0" err="1"/>
              <a:t>กรณีที่ไม่ผ่าน</a:t>
            </a:r>
            <a:r>
              <a:rPr dirty="0"/>
              <a:t> 86 </a:t>
            </a:r>
            <a:r>
              <a:rPr dirty="0" err="1"/>
              <a:t>เปอร์เซ็นต์ไม่ใช่ตรรกะผิด</a:t>
            </a:r>
            <a:r>
              <a:rPr dirty="0"/>
              <a:t> </a:t>
            </a:r>
            <a:r>
              <a:rPr dirty="0" err="1"/>
              <a:t>แต่คือลืมสร้างฟีเจอร์ไปเฉย</a:t>
            </a:r>
            <a:r>
              <a:rPr dirty="0"/>
              <a:t> </a:t>
            </a:r>
            <a:r>
              <a:rPr dirty="0" err="1"/>
              <a:t>ๆ</a:t>
            </a:r>
            <a:r>
              <a:rPr dirty="0"/>
              <a:t> </a:t>
            </a:r>
            <a:r>
              <a:rPr dirty="0" err="1"/>
              <a:t>เรียกว่า</a:t>
            </a:r>
            <a:r>
              <a:rPr dirty="0"/>
              <a:t> Silent Omission </a:t>
            </a:r>
            <a:r>
              <a:rPr dirty="0" err="1"/>
              <a:t>โมเดลทำแค่เส้นทางหลักแล้วหยุด</a:t>
            </a:r>
            <a:r>
              <a:rPr dirty="0"/>
              <a:t> </a:t>
            </a:r>
            <a:r>
              <a:rPr dirty="0" err="1"/>
              <a:t>ไม่เตือนเลย</a:t>
            </a:r>
            <a:r>
              <a:rPr dirty="0"/>
              <a:t> </a:t>
            </a:r>
            <a:r>
              <a:rPr dirty="0" err="1"/>
              <a:t>เช่น</a:t>
            </a:r>
            <a:r>
              <a:rPr dirty="0"/>
              <a:t> IMBP02 </a:t>
            </a:r>
            <a:r>
              <a:rPr dirty="0" err="1"/>
              <a:t>ไม่มี</a:t>
            </a:r>
            <a:r>
              <a:rPr dirty="0"/>
              <a:t> endpoint restock </a:t>
            </a:r>
            <a:r>
              <a:rPr dirty="0" err="1"/>
              <a:t>ระบบตอบ</a:t>
            </a:r>
            <a:r>
              <a:rPr dirty="0"/>
              <a:t> 404 </a:t>
            </a:r>
            <a:r>
              <a:rPr dirty="0" err="1"/>
              <a:t>และมักลามเป็นลูกโซ่</a:t>
            </a:r>
            <a:r>
              <a:rPr dirty="0"/>
              <a:t> </a:t>
            </a:r>
            <a:r>
              <a:rPr dirty="0" err="1"/>
              <a:t>เช่น</a:t>
            </a:r>
            <a:r>
              <a:rPr dirty="0"/>
              <a:t> PDBP02 </a:t>
            </a:r>
            <a:r>
              <a:rPr dirty="0" err="1"/>
              <a:t>โมเดลคูปองขาดฟิลด์ตั้งแต่ต้น</a:t>
            </a:r>
            <a:r>
              <a:rPr dirty="0"/>
              <a:t> </a:t>
            </a:r>
            <a:r>
              <a:rPr dirty="0" err="1"/>
              <a:t>ตกพร้อมกัน</a:t>
            </a:r>
            <a:r>
              <a:rPr dirty="0"/>
              <a:t> 5 </a:t>
            </a:r>
            <a:r>
              <a:rPr dirty="0" err="1"/>
              <a:t>จาก</a:t>
            </a:r>
            <a:r>
              <a:rPr dirty="0"/>
              <a:t> 6 </a:t>
            </a:r>
            <a:r>
              <a:rPr dirty="0" err="1"/>
              <a:t>กรณี</a:t>
            </a:r>
            <a:endParaRPr dirty="0"/>
          </a:p>
          <a:p>
            <a:endParaRPr dirty="0"/>
          </a:p>
          <a:p>
            <a:r>
              <a:rPr dirty="0" err="1"/>
              <a:t>ทำไมรอบสองตก</a:t>
            </a:r>
            <a:r>
              <a:rPr dirty="0"/>
              <a:t> </a:t>
            </a:r>
            <a:r>
              <a:rPr dirty="0" err="1"/>
              <a:t>เพราะ</a:t>
            </a:r>
            <a:r>
              <a:rPr dirty="0"/>
              <a:t> 21 </a:t>
            </a:r>
            <a:r>
              <a:rPr dirty="0" err="1"/>
              <a:t>จาก</a:t>
            </a:r>
            <a:r>
              <a:rPr dirty="0"/>
              <a:t> 22 </a:t>
            </a:r>
            <a:r>
              <a:rPr dirty="0" err="1"/>
              <a:t>กรณีอยู่ในรอบสอง</a:t>
            </a:r>
            <a:r>
              <a:rPr dirty="0"/>
              <a:t> </a:t>
            </a:r>
            <a:r>
              <a:rPr dirty="0" err="1"/>
              <a:t>ซึ่งคำสั่งสั้นลง</a:t>
            </a:r>
            <a:r>
              <a:rPr dirty="0"/>
              <a:t> </a:t>
            </a:r>
            <a:r>
              <a:rPr dirty="0" err="1"/>
              <a:t>ข้อกำหนดเดิมหายไป</a:t>
            </a:r>
            <a:r>
              <a:rPr dirty="0"/>
              <a:t> </a:t>
            </a:r>
            <a:r>
              <a:rPr dirty="0" err="1"/>
              <a:t>และโมเดลไม่ได้เติมให้เอง</a:t>
            </a:r>
            <a:r>
              <a:rPr dirty="0"/>
              <a:t> </a:t>
            </a:r>
            <a:r>
              <a:rPr dirty="0" err="1"/>
              <a:t>ส่วน</a:t>
            </a:r>
            <a:r>
              <a:rPr dirty="0"/>
              <a:t> SDD </a:t>
            </a:r>
            <a:r>
              <a:rPr dirty="0" err="1"/>
              <a:t>ไม่ลืมเลย</a:t>
            </a:r>
            <a:r>
              <a:rPr dirty="0"/>
              <a:t> </a:t>
            </a:r>
            <a:r>
              <a:rPr dirty="0" err="1"/>
              <a:t>เพราะเอกสารเป็นชุดเดิมทั้งสองรอบ</a:t>
            </a:r>
            <a:r>
              <a:rPr dirty="0"/>
              <a:t> </a:t>
            </a:r>
            <a:r>
              <a:rPr dirty="0" err="1"/>
              <a:t>และคุยเยอะก็ไม่ช่วยนะคะ</a:t>
            </a:r>
            <a:r>
              <a:rPr dirty="0"/>
              <a:t> SCCE02 </a:t>
            </a:r>
            <a:r>
              <a:rPr dirty="0" err="1"/>
              <a:t>คุย</a:t>
            </a:r>
            <a:r>
              <a:rPr dirty="0"/>
              <a:t> 6 </a:t>
            </a:r>
            <a:r>
              <a:rPr dirty="0" err="1"/>
              <a:t>รอบ</a:t>
            </a:r>
            <a:r>
              <a:rPr dirty="0"/>
              <a:t> </a:t>
            </a:r>
            <a:r>
              <a:rPr dirty="0" err="1"/>
              <a:t>ผ่านแค่</a:t>
            </a:r>
            <a:r>
              <a:rPr dirty="0"/>
              <a:t> 1 </a:t>
            </a:r>
            <a:r>
              <a:rPr dirty="0" err="1"/>
              <a:t>จาก</a:t>
            </a:r>
            <a:r>
              <a:rPr dirty="0"/>
              <a:t> 5 </a:t>
            </a:r>
            <a:r>
              <a:rPr dirty="0" err="1"/>
              <a:t>แต่</a:t>
            </a:r>
            <a:r>
              <a:rPr dirty="0"/>
              <a:t> PDCE01 </a:t>
            </a:r>
            <a:r>
              <a:rPr dirty="0" err="1"/>
              <a:t>คุยรอบเดียว</a:t>
            </a:r>
            <a:r>
              <a:rPr dirty="0"/>
              <a:t> </a:t>
            </a:r>
            <a:r>
              <a:rPr dirty="0" err="1"/>
              <a:t>ผ่านครบ</a:t>
            </a:r>
            <a:r>
              <a:rPr dirty="0"/>
              <a:t> 6</a:t>
            </a:r>
          </a:p>
          <a:p>
            <a:endParaRPr dirty="0"/>
          </a:p>
          <a:p>
            <a:r>
              <a:rPr dirty="0" err="1"/>
              <a:t>กรณีเดียวที่</a:t>
            </a:r>
            <a:r>
              <a:rPr dirty="0"/>
              <a:t> SDD </a:t>
            </a:r>
            <a:r>
              <a:rPr dirty="0" err="1"/>
              <a:t>ไม่ผ่านคือ</a:t>
            </a:r>
            <a:r>
              <a:rPr dirty="0"/>
              <a:t> PDSD02 </a:t>
            </a:r>
            <a:r>
              <a:rPr dirty="0" err="1"/>
              <a:t>ซึ่งโค้ดไม่ได้ผิด</a:t>
            </a:r>
            <a:r>
              <a:rPr dirty="0"/>
              <a:t> </a:t>
            </a:r>
            <a:r>
              <a:rPr dirty="0" err="1"/>
              <a:t>แต่ข้อมูลทดสอบมีโปรโมชัน</a:t>
            </a:r>
            <a:r>
              <a:rPr dirty="0"/>
              <a:t> 10 </a:t>
            </a:r>
            <a:r>
              <a:rPr dirty="0" err="1"/>
              <a:t>เปอร์เซ็นต์ซ้อนอยู่</a:t>
            </a:r>
            <a:r>
              <a:rPr dirty="0"/>
              <a:t> </a:t>
            </a:r>
            <a:r>
              <a:rPr dirty="0" err="1"/>
              <a:t>ได้</a:t>
            </a:r>
            <a:r>
              <a:rPr dirty="0"/>
              <a:t> 800 </a:t>
            </a:r>
            <a:r>
              <a:rPr dirty="0" err="1"/>
              <a:t>แทน</a:t>
            </a:r>
            <a:r>
              <a:rPr dirty="0"/>
              <a:t> 900 </a:t>
            </a:r>
            <a:r>
              <a:rPr dirty="0" err="1"/>
              <a:t>บาท</a:t>
            </a:r>
            <a:r>
              <a:rPr dirty="0"/>
              <a:t> </a:t>
            </a:r>
            <a:r>
              <a:rPr dirty="0" err="1"/>
              <a:t>เป็นความกำกวมของข้อกำหนดค่ะ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[5 </a:t>
            </a:r>
            <a:r>
              <a:rPr dirty="0" err="1"/>
              <a:t>นาที</a:t>
            </a:r>
            <a:r>
              <a:rPr dirty="0"/>
              <a:t>] SonarQube </a:t>
            </a:r>
            <a:r>
              <a:rPr dirty="0" err="1"/>
              <a:t>มีสองเรื่องที่ต้องอ่านอย่างระวังค่ะ</a:t>
            </a:r>
            <a:r>
              <a:rPr dirty="0"/>
              <a:t> </a:t>
            </a:r>
            <a:r>
              <a:rPr dirty="0" err="1"/>
              <a:t>เรื่องแรก</a:t>
            </a:r>
            <a:r>
              <a:rPr dirty="0"/>
              <a:t> </a:t>
            </a:r>
            <a:r>
              <a:rPr dirty="0" err="1"/>
              <a:t>ตัวเลขเป็นจำนวนดิบ</a:t>
            </a:r>
            <a:r>
              <a:rPr dirty="0"/>
              <a:t> </a:t>
            </a:r>
            <a:r>
              <a:rPr dirty="0" err="1"/>
              <a:t>ซึ่งขึ้นกับขนาดโค้ด</a:t>
            </a:r>
            <a:r>
              <a:rPr dirty="0"/>
              <a:t> BP </a:t>
            </a:r>
            <a:r>
              <a:rPr dirty="0" err="1"/>
              <a:t>ได้ดีสามมิติ</a:t>
            </a:r>
            <a:r>
              <a:rPr dirty="0"/>
              <a:t> </a:t>
            </a:r>
            <a:r>
              <a:rPr dirty="0" err="1"/>
              <a:t>ส่วนหนึ่งเพราะเขียนโค้ดน้อยสุด</a:t>
            </a:r>
            <a:r>
              <a:rPr dirty="0"/>
              <a:t> </a:t>
            </a:r>
            <a:r>
              <a:rPr dirty="0" err="1"/>
              <a:t>พอปรับเป็นต่อ</a:t>
            </a:r>
            <a:r>
              <a:rPr dirty="0"/>
              <a:t> 100 </a:t>
            </a:r>
            <a:r>
              <a:rPr dirty="0" err="1"/>
              <a:t>บรรทัด</a:t>
            </a:r>
            <a:r>
              <a:rPr dirty="0"/>
              <a:t> SDD </a:t>
            </a:r>
            <a:r>
              <a:rPr dirty="0" err="1"/>
              <a:t>ดีที่สุดทุกมิติที่นับเป็นจำนวน</a:t>
            </a:r>
            <a:r>
              <a:rPr dirty="0"/>
              <a:t> </a:t>
            </a:r>
            <a:r>
              <a:rPr dirty="0" err="1"/>
              <a:t>เช่น</a:t>
            </a:r>
            <a:r>
              <a:rPr dirty="0"/>
              <a:t> </a:t>
            </a:r>
            <a:r>
              <a:rPr dirty="0" err="1"/>
              <a:t>จุดตรวจด้านความปลอดภัย</a:t>
            </a:r>
            <a:r>
              <a:rPr dirty="0"/>
              <a:t> 0.26 </a:t>
            </a:r>
            <a:r>
              <a:rPr dirty="0" err="1"/>
              <a:t>เทียบกับ</a:t>
            </a:r>
            <a:r>
              <a:rPr dirty="0"/>
              <a:t> 0.31 </a:t>
            </a:r>
            <a:r>
              <a:rPr dirty="0" err="1"/>
              <a:t>ของ</a:t>
            </a:r>
            <a:r>
              <a:rPr dirty="0"/>
              <a:t> BP </a:t>
            </a:r>
            <a:r>
              <a:rPr dirty="0" err="1"/>
              <a:t>และ</a:t>
            </a:r>
            <a:r>
              <a:rPr dirty="0"/>
              <a:t> 0.79 </a:t>
            </a:r>
            <a:r>
              <a:rPr dirty="0" err="1"/>
              <a:t>ของ</a:t>
            </a:r>
            <a:r>
              <a:rPr dirty="0"/>
              <a:t> CE</a:t>
            </a:r>
          </a:p>
          <a:p>
            <a:endParaRPr dirty="0"/>
          </a:p>
          <a:p>
            <a:r>
              <a:rPr dirty="0" err="1"/>
              <a:t>เรื่องที่สอง</a:t>
            </a:r>
            <a:r>
              <a:rPr dirty="0"/>
              <a:t> </a:t>
            </a:r>
            <a:r>
              <a:rPr dirty="0" err="1"/>
              <a:t>เครื่องมืออาจรายงานเกินจริง</a:t>
            </a:r>
            <a:r>
              <a:rPr dirty="0"/>
              <a:t> </a:t>
            </a:r>
            <a:r>
              <a:rPr dirty="0" err="1"/>
              <a:t>เช่น</a:t>
            </a:r>
            <a:r>
              <a:rPr dirty="0"/>
              <a:t> IMCE02 </a:t>
            </a:r>
            <a:r>
              <a:rPr dirty="0" err="1"/>
              <a:t>เจอปัญหาความปลอดภัย</a:t>
            </a:r>
            <a:r>
              <a:rPr dirty="0"/>
              <a:t> 16 </a:t>
            </a:r>
            <a:r>
              <a:rPr dirty="0" err="1"/>
              <a:t>รายการจากโค้ดแค่</a:t>
            </a:r>
            <a:r>
              <a:rPr dirty="0"/>
              <a:t> 118 </a:t>
            </a:r>
            <a:r>
              <a:rPr dirty="0" err="1"/>
              <a:t>บรรทัด</a:t>
            </a:r>
            <a:r>
              <a:rPr dirty="0"/>
              <a:t> </a:t>
            </a:r>
            <a:r>
              <a:rPr dirty="0" err="1"/>
              <a:t>หนาแน่นกว่าค่าเฉลี่ย</a:t>
            </a:r>
            <a:r>
              <a:rPr dirty="0"/>
              <a:t> CE </a:t>
            </a:r>
            <a:r>
              <a:rPr dirty="0" err="1"/>
              <a:t>ประมาณ</a:t>
            </a:r>
            <a:r>
              <a:rPr dirty="0"/>
              <a:t> 7.5 </a:t>
            </a:r>
            <a:r>
              <a:rPr dirty="0" err="1"/>
              <a:t>เท่า</a:t>
            </a:r>
            <a:r>
              <a:rPr dirty="0"/>
              <a:t> </a:t>
            </a:r>
            <a:r>
              <a:rPr dirty="0" err="1"/>
              <a:t>เลยตีความเป็นการเทียบแบบสัมพัทธ์</a:t>
            </a:r>
            <a:r>
              <a:rPr dirty="0"/>
              <a:t> </a:t>
            </a:r>
            <a:r>
              <a:rPr dirty="0" err="1"/>
              <a:t>ไม่ใช่จำนวนบั๊กจริงที่ยืนยันแล้ว</a:t>
            </a:r>
            <a:endParaRPr dirty="0"/>
          </a:p>
          <a:p>
            <a:endParaRPr dirty="0"/>
          </a:p>
          <a:p>
            <a:r>
              <a:rPr dirty="0" err="1"/>
              <a:t>ข้อสรุปที่ไม่ขึ้นกับวิธีอ่านคือ</a:t>
            </a:r>
            <a:r>
              <a:rPr dirty="0"/>
              <a:t> </a:t>
            </a:r>
            <a:r>
              <a:rPr dirty="0" err="1"/>
              <a:t>ไม่มีวิธีไหนดีที่สุดครบห้ามิติ</a:t>
            </a:r>
            <a:r>
              <a:rPr dirty="0"/>
              <a:t> </a:t>
            </a:r>
            <a:r>
              <a:rPr dirty="0" err="1"/>
              <a:t>และความซ้ำซ้อนคือจุดที่</a:t>
            </a:r>
            <a:r>
              <a:rPr dirty="0"/>
              <a:t> SDD </a:t>
            </a:r>
            <a:r>
              <a:rPr dirty="0" err="1"/>
              <a:t>แย่กว่าค่ะ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 </a:t>
            </a:r>
            <a:r>
              <a:rPr dirty="0" err="1"/>
              <a:t>นาที</a:t>
            </a:r>
            <a:r>
              <a:rPr dirty="0"/>
              <a:t>] </a:t>
            </a:r>
            <a:r>
              <a:rPr dirty="0" err="1"/>
              <a:t>อย่าดูแค่ค่าเฉลี่ยนะคะ</a:t>
            </a:r>
            <a:r>
              <a:rPr dirty="0"/>
              <a:t> </a:t>
            </a:r>
            <a:r>
              <a:rPr dirty="0" err="1"/>
              <a:t>ภาพรายเวอร์ชันบอกว่าปัญหากระจุกอยู่ไม่กี่เวอร์ชัน</a:t>
            </a:r>
            <a:r>
              <a:rPr dirty="0"/>
              <a:t> </a:t>
            </a:r>
            <a:r>
              <a:rPr dirty="0" err="1"/>
              <a:t>เช่น</a:t>
            </a:r>
            <a:r>
              <a:rPr dirty="0"/>
              <a:t> </a:t>
            </a:r>
            <a:r>
              <a:rPr dirty="0" err="1"/>
              <a:t>ค่าสูงของ</a:t>
            </a:r>
            <a:r>
              <a:rPr dirty="0"/>
              <a:t> CE </a:t>
            </a:r>
            <a:r>
              <a:rPr dirty="0" err="1"/>
              <a:t>ส่วนใหญ่มาจาก</a:t>
            </a:r>
            <a:r>
              <a:rPr dirty="0"/>
              <a:t> IMCE02 </a:t>
            </a:r>
            <a:r>
              <a:rPr dirty="0" err="1"/>
              <a:t>ส่วนความซ้ำซ้อนของ</a:t>
            </a:r>
            <a:r>
              <a:rPr dirty="0"/>
              <a:t> SDD </a:t>
            </a:r>
            <a:r>
              <a:rPr dirty="0" err="1"/>
              <a:t>มาจากสองเวอร์ชัน</a:t>
            </a:r>
            <a:r>
              <a:rPr dirty="0"/>
              <a:t> </a:t>
            </a:r>
            <a:r>
              <a:rPr dirty="0" err="1"/>
              <a:t>คือ</a:t>
            </a:r>
            <a:r>
              <a:rPr dirty="0"/>
              <a:t> SCSD01 21.90 </a:t>
            </a:r>
            <a:r>
              <a:rPr dirty="0" err="1"/>
              <a:t>เปอร์เซ็นต์</a:t>
            </a:r>
            <a:r>
              <a:rPr dirty="0"/>
              <a:t> </a:t>
            </a:r>
            <a:r>
              <a:rPr dirty="0" err="1"/>
              <a:t>กับ</a:t>
            </a:r>
            <a:r>
              <a:rPr dirty="0"/>
              <a:t> IMSD02 13.00 </a:t>
            </a:r>
            <a:r>
              <a:rPr dirty="0" err="1"/>
              <a:t>เปอร์เซ็นต์</a:t>
            </a:r>
            <a:r>
              <a:rPr dirty="0"/>
              <a:t> </a:t>
            </a:r>
            <a:r>
              <a:rPr dirty="0" err="1"/>
              <a:t>อีกสามเวอร์ชันไม่เจอเลย</a:t>
            </a:r>
            <a:r>
              <a:rPr dirty="0"/>
              <a:t> </a:t>
            </a:r>
            <a:r>
              <a:rPr dirty="0" err="1"/>
              <a:t>เลยเป็นเรื่องที่น่าศึกษาต่อ</a:t>
            </a:r>
            <a:r>
              <a:rPr dirty="0"/>
              <a:t> </a:t>
            </a:r>
            <a:r>
              <a:rPr dirty="0" err="1"/>
              <a:t>ซึ่งใส่ไว้ในงานอนาคตแล้วค่ะ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[5 </a:t>
            </a:r>
            <a:r>
              <a:rPr dirty="0" err="1"/>
              <a:t>นาที</a:t>
            </a:r>
            <a:r>
              <a:rPr dirty="0"/>
              <a:t>] </a:t>
            </a:r>
            <a:r>
              <a:rPr dirty="0" err="1"/>
              <a:t>ที่ตัวเลขไม่ได้บอกคือชนิดของช่องโหว่ค่ะ</a:t>
            </a:r>
            <a:r>
              <a:rPr dirty="0"/>
              <a:t> </a:t>
            </a:r>
            <a:r>
              <a:rPr dirty="0" err="1"/>
              <a:t>ของ</a:t>
            </a:r>
            <a:r>
              <a:rPr dirty="0"/>
              <a:t> BP </a:t>
            </a:r>
            <a:r>
              <a:rPr dirty="0" err="1"/>
              <a:t>กับ</a:t>
            </a:r>
            <a:r>
              <a:rPr dirty="0"/>
              <a:t> CE </a:t>
            </a:r>
            <a:r>
              <a:rPr dirty="0" err="1"/>
              <a:t>เป็นแบบไม่ได้สร้างกลไกป้องกัน</a:t>
            </a:r>
            <a:r>
              <a:rPr dirty="0"/>
              <a:t> </a:t>
            </a:r>
            <a:r>
              <a:rPr dirty="0" err="1"/>
              <a:t>ส่วน</a:t>
            </a:r>
            <a:r>
              <a:rPr dirty="0"/>
              <a:t> SDD </a:t>
            </a:r>
            <a:r>
              <a:rPr dirty="0" err="1"/>
              <a:t>คือ</a:t>
            </a:r>
            <a:r>
              <a:rPr dirty="0"/>
              <a:t> Prototype Pollution </a:t>
            </a:r>
            <a:r>
              <a:rPr dirty="0" err="1"/>
              <a:t>ซึ่งเป็นรูปแบบเขียนโค้ดที่เสี่ยงเอง</a:t>
            </a:r>
            <a:r>
              <a:rPr dirty="0"/>
              <a:t> </a:t>
            </a:r>
            <a:r>
              <a:rPr dirty="0" err="1"/>
              <a:t>แปลว่า</a:t>
            </a:r>
            <a:r>
              <a:rPr dirty="0"/>
              <a:t> spec-first </a:t>
            </a:r>
            <a:r>
              <a:rPr dirty="0" err="1"/>
              <a:t>ช่วยลดจำนวน</a:t>
            </a:r>
            <a:r>
              <a:rPr dirty="0"/>
              <a:t> </a:t>
            </a:r>
            <a:r>
              <a:rPr dirty="0" err="1"/>
              <a:t>แต่กันความผิดพลาดตอนเขียนโค้ดไม่ได้หมด</a:t>
            </a:r>
            <a:endParaRPr dirty="0"/>
          </a:p>
          <a:p>
            <a:endParaRPr dirty="0"/>
          </a:p>
          <a:p>
            <a:r>
              <a:rPr dirty="0"/>
              <a:t>86 </a:t>
            </a:r>
            <a:r>
              <a:rPr dirty="0" err="1"/>
              <a:t>เปอร์เซ็นต์คือ</a:t>
            </a:r>
            <a:r>
              <a:rPr dirty="0"/>
              <a:t> Rate Limiting </a:t>
            </a:r>
            <a:r>
              <a:rPr dirty="0" err="1"/>
              <a:t>ที่ไม่มีใครเขียนไว้เลย</a:t>
            </a:r>
            <a:r>
              <a:rPr dirty="0"/>
              <a:t> </a:t>
            </a:r>
            <a:r>
              <a:rPr dirty="0" err="1"/>
              <a:t>แม้แต่</a:t>
            </a:r>
            <a:r>
              <a:rPr dirty="0"/>
              <a:t> Constitution </a:t>
            </a:r>
            <a:r>
              <a:rPr dirty="0" err="1"/>
              <a:t>ของ</a:t>
            </a:r>
            <a:r>
              <a:rPr dirty="0"/>
              <a:t> SDD </a:t>
            </a:r>
            <a:r>
              <a:rPr dirty="0" err="1"/>
              <a:t>นี่คือหลักฐานตรง</a:t>
            </a:r>
            <a:r>
              <a:rPr dirty="0"/>
              <a:t> </a:t>
            </a:r>
            <a:r>
              <a:rPr dirty="0" err="1"/>
              <a:t>ๆ</a:t>
            </a:r>
            <a:r>
              <a:rPr dirty="0"/>
              <a:t> </a:t>
            </a:r>
            <a:r>
              <a:rPr dirty="0" err="1"/>
              <a:t>ว่า</a:t>
            </a:r>
            <a:r>
              <a:rPr dirty="0"/>
              <a:t> AI </a:t>
            </a:r>
            <a:r>
              <a:rPr dirty="0" err="1"/>
              <a:t>ไม่สร้างกลไกป้องกันเองถ้าไม่ถูกบอก</a:t>
            </a:r>
            <a:r>
              <a:rPr dirty="0"/>
              <a:t> </a:t>
            </a:r>
            <a:r>
              <a:rPr dirty="0" err="1"/>
              <a:t>และ</a:t>
            </a:r>
            <a:r>
              <a:rPr dirty="0"/>
              <a:t> CE </a:t>
            </a:r>
            <a:r>
              <a:rPr dirty="0" err="1"/>
              <a:t>ที่ละเอียดกว่าก็ไม่ช่วย</a:t>
            </a:r>
            <a:endParaRPr dirty="0"/>
          </a:p>
          <a:p>
            <a:endParaRPr dirty="0"/>
          </a:p>
          <a:p>
            <a:r>
              <a:rPr dirty="0" err="1"/>
              <a:t>เรื่องขนาด</a:t>
            </a:r>
            <a:r>
              <a:rPr dirty="0"/>
              <a:t> SDD </a:t>
            </a:r>
            <a:r>
              <a:rPr dirty="0" err="1"/>
              <a:t>เขียน</a:t>
            </a:r>
            <a:r>
              <a:rPr dirty="0"/>
              <a:t> 4,936 </a:t>
            </a:r>
            <a:r>
              <a:rPr dirty="0" err="1"/>
              <a:t>บรรทัด</a:t>
            </a:r>
            <a:r>
              <a:rPr dirty="0"/>
              <a:t> </a:t>
            </a:r>
            <a:r>
              <a:rPr dirty="0" err="1"/>
              <a:t>มากกว่า</a:t>
            </a:r>
            <a:r>
              <a:rPr dirty="0"/>
              <a:t> CE </a:t>
            </a:r>
            <a:r>
              <a:rPr dirty="0" err="1"/>
              <a:t>ที่</a:t>
            </a:r>
            <a:r>
              <a:rPr dirty="0"/>
              <a:t> 3,047 </a:t>
            </a:r>
            <a:r>
              <a:rPr dirty="0" err="1"/>
              <a:t>ราว</a:t>
            </a:r>
            <a:r>
              <a:rPr dirty="0"/>
              <a:t> 1.6 </a:t>
            </a:r>
            <a:r>
              <a:rPr dirty="0" err="1"/>
              <a:t>เท่า</a:t>
            </a:r>
            <a:r>
              <a:rPr dirty="0"/>
              <a:t> </a:t>
            </a:r>
            <a:r>
              <a:rPr dirty="0" err="1"/>
              <a:t>แต่</a:t>
            </a:r>
            <a:r>
              <a:rPr dirty="0"/>
              <a:t> alert </a:t>
            </a:r>
            <a:r>
              <a:rPr dirty="0" err="1"/>
              <a:t>น้อยกว่าราว</a:t>
            </a:r>
            <a:r>
              <a:rPr dirty="0"/>
              <a:t> 6.3 </a:t>
            </a:r>
            <a:r>
              <a:rPr dirty="0" err="1"/>
              <a:t>เท่า</a:t>
            </a:r>
            <a:r>
              <a:rPr dirty="0"/>
              <a:t> </a:t>
            </a:r>
            <a:r>
              <a:rPr dirty="0" err="1"/>
              <a:t>ต้องระวังนะคะ</a:t>
            </a:r>
            <a:r>
              <a:rPr dirty="0"/>
              <a:t> </a:t>
            </a:r>
            <a:r>
              <a:rPr dirty="0" err="1"/>
              <a:t>กฎ</a:t>
            </a:r>
            <a:r>
              <a:rPr dirty="0"/>
              <a:t> Rate Limiting </a:t>
            </a:r>
            <a:r>
              <a:rPr dirty="0" err="1"/>
              <a:t>นับแยกตามเส้นทาง</a:t>
            </a:r>
            <a:r>
              <a:rPr dirty="0"/>
              <a:t> </a:t>
            </a:r>
            <a:r>
              <a:rPr dirty="0" err="1"/>
              <a:t>เลยเทียบแบบสัมพัทธ์</a:t>
            </a:r>
            <a:r>
              <a:rPr dirty="0"/>
              <a:t> </a:t>
            </a:r>
            <a:r>
              <a:rPr dirty="0" err="1"/>
              <a:t>และ</a:t>
            </a:r>
            <a:r>
              <a:rPr dirty="0"/>
              <a:t> SDD </a:t>
            </a:r>
            <a:r>
              <a:rPr dirty="0" err="1"/>
              <a:t>ก็ยังไม่ปลอดภัยอัตโนมัติค่ะ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[5 </a:t>
            </a:r>
            <a:r>
              <a:rPr dirty="0" err="1"/>
              <a:t>นาที</a:t>
            </a:r>
            <a:r>
              <a:rPr dirty="0"/>
              <a:t>] ZAP </a:t>
            </a:r>
            <a:r>
              <a:rPr dirty="0" err="1"/>
              <a:t>ไม่มี</a:t>
            </a:r>
            <a:r>
              <a:rPr dirty="0"/>
              <a:t> FAIL </a:t>
            </a:r>
            <a:r>
              <a:rPr dirty="0" err="1"/>
              <a:t>ไม่ได้แปลว่าปลอดภัยนะคะ</a:t>
            </a:r>
            <a:r>
              <a:rPr dirty="0"/>
              <a:t> </a:t>
            </a:r>
            <a:r>
              <a:rPr dirty="0" err="1"/>
              <a:t>เพราะเราใช้แค่</a:t>
            </a:r>
            <a:r>
              <a:rPr dirty="0"/>
              <a:t> Baseline </a:t>
            </a:r>
            <a:r>
              <a:rPr dirty="0" err="1"/>
              <a:t>ซึ่งเป็น</a:t>
            </a:r>
            <a:r>
              <a:rPr dirty="0"/>
              <a:t> Passive Scan </a:t>
            </a:r>
            <a:r>
              <a:rPr dirty="0" err="1"/>
              <a:t>ไม่ได้เจาะลึก</a:t>
            </a:r>
            <a:r>
              <a:rPr dirty="0"/>
              <a:t> SQL Injection </a:t>
            </a:r>
            <a:r>
              <a:rPr dirty="0" err="1"/>
              <a:t>หรือ</a:t>
            </a:r>
            <a:r>
              <a:rPr dirty="0"/>
              <a:t> XSS </a:t>
            </a:r>
            <a:r>
              <a:rPr dirty="0" err="1"/>
              <a:t>คำเตือนเลยเป็นเรื่องการตั้งค่าพื้นฐานเป็นหลัก</a:t>
            </a:r>
            <a:r>
              <a:rPr dirty="0"/>
              <a:t> </a:t>
            </a:r>
            <a:r>
              <a:rPr dirty="0" err="1"/>
              <a:t>ที่เจอบ่อยสุดคือขาด</a:t>
            </a:r>
            <a:r>
              <a:rPr dirty="0"/>
              <a:t> security headers 14 </a:t>
            </a:r>
            <a:r>
              <a:rPr dirty="0" err="1"/>
              <a:t>จาก</a:t>
            </a:r>
            <a:r>
              <a:rPr dirty="0"/>
              <a:t> 18 </a:t>
            </a:r>
            <a:r>
              <a:rPr dirty="0" err="1"/>
              <a:t>เวอร์ชัน</a:t>
            </a:r>
            <a:r>
              <a:rPr dirty="0"/>
              <a:t> </a:t>
            </a:r>
            <a:r>
              <a:rPr dirty="0" err="1"/>
              <a:t>ผู้พัฒนาต้องเขียนตั้งเอง</a:t>
            </a:r>
            <a:r>
              <a:rPr dirty="0"/>
              <a:t> </a:t>
            </a:r>
            <a:r>
              <a:rPr dirty="0" err="1"/>
              <a:t>เช่นใช้</a:t>
            </a:r>
            <a:r>
              <a:rPr dirty="0"/>
              <a:t> helmet </a:t>
            </a:r>
            <a:r>
              <a:rPr dirty="0" err="1"/>
              <a:t>และถ้าไม่ตั้ง</a:t>
            </a:r>
            <a:r>
              <a:rPr dirty="0"/>
              <a:t> CSP </a:t>
            </a:r>
            <a:r>
              <a:rPr dirty="0" err="1"/>
              <a:t>ก็เสี่ยง</a:t>
            </a:r>
            <a:r>
              <a:rPr dirty="0"/>
              <a:t> XSS </a:t>
            </a:r>
            <a:r>
              <a:rPr dirty="0" err="1"/>
              <a:t>จริง</a:t>
            </a:r>
            <a:endParaRPr dirty="0"/>
          </a:p>
          <a:p>
            <a:endParaRPr dirty="0"/>
          </a:p>
          <a:p>
            <a:r>
              <a:rPr dirty="0"/>
              <a:t>X-Powered-By </a:t>
            </a:r>
            <a:r>
              <a:rPr dirty="0" err="1"/>
              <a:t>เจอ</a:t>
            </a:r>
            <a:r>
              <a:rPr dirty="0"/>
              <a:t> 7 </a:t>
            </a:r>
            <a:r>
              <a:rPr dirty="0" err="1"/>
              <a:t>เวอร์ชัน</a:t>
            </a:r>
            <a:r>
              <a:rPr dirty="0"/>
              <a:t> </a:t>
            </a:r>
            <a:r>
              <a:rPr dirty="0" err="1"/>
              <a:t>เป็นรอบสองทั้งหมด</a:t>
            </a:r>
            <a:r>
              <a:rPr dirty="0"/>
              <a:t> </a:t>
            </a:r>
            <a:r>
              <a:rPr dirty="0" err="1"/>
              <a:t>จึงน่าจะเกี่ยวกับการตั้งค่าเฟรมเวิร์กของแต่ละรอบ</a:t>
            </a:r>
            <a:r>
              <a:rPr dirty="0"/>
              <a:t> </a:t>
            </a:r>
            <a:r>
              <a:rPr dirty="0" err="1"/>
              <a:t>มากกว่ากลยุทธ์</a:t>
            </a:r>
            <a:r>
              <a:rPr dirty="0"/>
              <a:t> </a:t>
            </a:r>
            <a:r>
              <a:rPr dirty="0" err="1"/>
              <a:t>ซึ่งเป็นข้อจำกัดที่เราไม่ได้ตรึงรุ่นเฟรมเวิร์ก</a:t>
            </a:r>
            <a:endParaRPr dirty="0"/>
          </a:p>
          <a:p>
            <a:endParaRPr dirty="0"/>
          </a:p>
          <a:p>
            <a:r>
              <a:rPr dirty="0" err="1"/>
              <a:t>ข้อดีคือผลไม่ขึ้นกับขนาดโค้ด</a:t>
            </a:r>
            <a:r>
              <a:rPr dirty="0"/>
              <a:t> </a:t>
            </a:r>
            <a:r>
              <a:rPr dirty="0" err="1"/>
              <a:t>ที่</a:t>
            </a:r>
            <a:r>
              <a:rPr dirty="0"/>
              <a:t> SDD </a:t>
            </a:r>
            <a:r>
              <a:rPr dirty="0" err="1"/>
              <a:t>ได้</a:t>
            </a:r>
            <a:r>
              <a:rPr dirty="0"/>
              <a:t> 6.5 </a:t>
            </a:r>
            <a:r>
              <a:rPr dirty="0" err="1"/>
              <a:t>เทียบกับ</a:t>
            </a:r>
            <a:r>
              <a:rPr dirty="0"/>
              <a:t> 7.2 </a:t>
            </a:r>
            <a:r>
              <a:rPr dirty="0" err="1"/>
              <a:t>และ</a:t>
            </a:r>
            <a:r>
              <a:rPr dirty="0"/>
              <a:t> 8.2 </a:t>
            </a:r>
            <a:r>
              <a:rPr dirty="0" err="1"/>
              <a:t>จึงไม่ได้มาจากปริมาณโค้ด</a:t>
            </a:r>
            <a:r>
              <a:rPr dirty="0"/>
              <a:t> </a:t>
            </a:r>
            <a:r>
              <a:rPr dirty="0" err="1"/>
              <a:t>แม้ความต่างจะไม่มากค่ะ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[5 </a:t>
            </a:r>
            <a:r>
              <a:rPr dirty="0" err="1"/>
              <a:t>นาที</a:t>
            </a:r>
            <a:r>
              <a:rPr dirty="0"/>
              <a:t>] </a:t>
            </a:r>
            <a:r>
              <a:rPr dirty="0" err="1"/>
              <a:t>ตารางนี้ตอบว่าสรุปแล้วใครชนะ</a:t>
            </a:r>
            <a:r>
              <a:rPr dirty="0"/>
              <a:t> </a:t>
            </a:r>
            <a:r>
              <a:rPr dirty="0" err="1"/>
              <a:t>คำตอบคือไม่มีใครชนะทุกมิติค่ะ</a:t>
            </a:r>
            <a:r>
              <a:rPr dirty="0"/>
              <a:t> </a:t>
            </a:r>
            <a:r>
              <a:rPr dirty="0" err="1"/>
              <a:t>แต่มีรายละเอียดนิดนึง</a:t>
            </a:r>
            <a:endParaRPr dirty="0"/>
          </a:p>
          <a:p>
            <a:endParaRPr dirty="0"/>
          </a:p>
          <a:p>
            <a:r>
              <a:rPr dirty="0" err="1"/>
              <a:t>ถ้านับดิบ</a:t>
            </a:r>
            <a:r>
              <a:rPr dirty="0"/>
              <a:t> SDD </a:t>
            </a:r>
            <a:r>
              <a:rPr dirty="0" err="1"/>
              <a:t>ชนะ</a:t>
            </a:r>
            <a:r>
              <a:rPr dirty="0"/>
              <a:t> 4 </a:t>
            </a:r>
            <a:r>
              <a:rPr dirty="0" err="1"/>
              <a:t>มิติ</a:t>
            </a:r>
            <a:r>
              <a:rPr dirty="0"/>
              <a:t> </a:t>
            </a:r>
            <a:r>
              <a:rPr dirty="0" err="1"/>
              <a:t>ส่วนมิติโครงสร้างที่</a:t>
            </a:r>
            <a:r>
              <a:rPr dirty="0"/>
              <a:t> BP </a:t>
            </a:r>
            <a:r>
              <a:rPr dirty="0" err="1"/>
              <a:t>ชนะ</a:t>
            </a:r>
            <a:r>
              <a:rPr dirty="0"/>
              <a:t> </a:t>
            </a:r>
            <a:r>
              <a:rPr dirty="0" err="1"/>
              <a:t>ส่วนหนึ่งเพราะ</a:t>
            </a:r>
            <a:r>
              <a:rPr dirty="0"/>
              <a:t> BP </a:t>
            </a:r>
            <a:r>
              <a:rPr dirty="0" err="1"/>
              <a:t>เขียนโค้ดน้อยกว่ามาก</a:t>
            </a:r>
            <a:r>
              <a:rPr dirty="0"/>
              <a:t> </a:t>
            </a:r>
            <a:r>
              <a:rPr dirty="0" err="1"/>
              <a:t>พอปรับเป็นต่อบรรทัด</a:t>
            </a:r>
            <a:r>
              <a:rPr dirty="0"/>
              <a:t> SDD </a:t>
            </a:r>
            <a:r>
              <a:rPr dirty="0" err="1"/>
              <a:t>ดีสุดทุกมิติที่นับเป็นจำนวน</a:t>
            </a:r>
            <a:r>
              <a:rPr dirty="0"/>
              <a:t> </a:t>
            </a:r>
            <a:r>
              <a:rPr dirty="0" err="1"/>
              <a:t>ยกเว้นความซ้ำซ้อน</a:t>
            </a:r>
            <a:endParaRPr dirty="0"/>
          </a:p>
          <a:p>
            <a:endParaRPr dirty="0"/>
          </a:p>
          <a:p>
            <a:r>
              <a:rPr dirty="0" err="1"/>
              <a:t>ที่น่าสนใจคือ</a:t>
            </a:r>
            <a:r>
              <a:rPr dirty="0"/>
              <a:t> CE </a:t>
            </a:r>
            <a:r>
              <a:rPr dirty="0" err="1"/>
              <a:t>ที่โครงสร้างอยู่ตรงกลางกลับแย่ที่สุดถึง</a:t>
            </a:r>
            <a:r>
              <a:rPr dirty="0"/>
              <a:t> 7 </a:t>
            </a:r>
            <a:r>
              <a:rPr dirty="0" err="1"/>
              <a:t>จาก</a:t>
            </a:r>
            <a:r>
              <a:rPr dirty="0"/>
              <a:t> 8 </a:t>
            </a:r>
            <a:r>
              <a:rPr dirty="0" err="1"/>
              <a:t>มิติ</a:t>
            </a:r>
            <a:r>
              <a:rPr dirty="0"/>
              <a:t> </a:t>
            </a:r>
            <a:r>
              <a:rPr dirty="0" err="1"/>
              <a:t>ส่วน</a:t>
            </a:r>
            <a:r>
              <a:rPr dirty="0"/>
              <a:t> BP </a:t>
            </a:r>
            <a:r>
              <a:rPr dirty="0" err="1"/>
              <a:t>ที่ง่ายสุดไม่เคยแย่สุดเลย</a:t>
            </a:r>
            <a:r>
              <a:rPr dirty="0"/>
              <a:t> </a:t>
            </a:r>
            <a:r>
              <a:rPr dirty="0" err="1"/>
              <a:t>แปลว่าคุณภาพไม่ได้เรียงตามโครงสร้าง</a:t>
            </a:r>
            <a:r>
              <a:rPr dirty="0"/>
              <a:t> </a:t>
            </a:r>
            <a:r>
              <a:rPr dirty="0" err="1"/>
              <a:t>แต่ขึ้นกับว่ามิตินั้นถูกระบุไว้หรือเปล่า</a:t>
            </a:r>
            <a:r>
              <a:rPr dirty="0"/>
              <a:t> </a:t>
            </a:r>
            <a:r>
              <a:rPr dirty="0" err="1"/>
              <a:t>ซึ่งเป็นคำอธิบายเดียวที่ใช้ได้กับทั้งสี่ด้านค่ะ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 </a:t>
            </a:r>
            <a:r>
              <a:rPr dirty="0" err="1"/>
              <a:t>นาที</a:t>
            </a:r>
            <a:r>
              <a:rPr dirty="0"/>
              <a:t>] </a:t>
            </a:r>
            <a:r>
              <a:rPr dirty="0" err="1"/>
              <a:t>กราฟนี้ดูรูปทรงมากกว่าตัวเลขนะคะ</a:t>
            </a:r>
            <a:r>
              <a:rPr dirty="0"/>
              <a:t> </a:t>
            </a:r>
            <a:r>
              <a:rPr dirty="0" err="1"/>
              <a:t>ห้าแกนคือ</a:t>
            </a:r>
            <a:r>
              <a:rPr dirty="0"/>
              <a:t> DAST Pass Rate, </a:t>
            </a:r>
            <a:r>
              <a:rPr dirty="0" err="1"/>
              <a:t>CodeQL</a:t>
            </a:r>
            <a:r>
              <a:rPr dirty="0"/>
              <a:t> </a:t>
            </a:r>
            <a:r>
              <a:rPr dirty="0" err="1"/>
              <a:t>ที่ไม่มี</a:t>
            </a:r>
            <a:r>
              <a:rPr dirty="0"/>
              <a:t> alert, </a:t>
            </a:r>
            <a:r>
              <a:rPr dirty="0" err="1"/>
              <a:t>ความซ้ำซ้อนต่ำ</a:t>
            </a:r>
            <a:r>
              <a:rPr dirty="0"/>
              <a:t>, </a:t>
            </a:r>
            <a:r>
              <a:rPr dirty="0" err="1"/>
              <a:t>การบำรุงรักษา</a:t>
            </a:r>
            <a:r>
              <a:rPr dirty="0"/>
              <a:t> </a:t>
            </a:r>
            <a:r>
              <a:rPr dirty="0" err="1"/>
              <a:t>และความน่าเชื่อถือ</a:t>
            </a:r>
            <a:r>
              <a:rPr dirty="0"/>
              <a:t> </a:t>
            </a:r>
            <a:r>
              <a:rPr dirty="0" err="1"/>
              <a:t>ความถูกต้องเชิงฟังก์ชันไม่ได้อยู่ในกราฟนี้</a:t>
            </a:r>
            <a:r>
              <a:rPr dirty="0"/>
              <a:t> </a:t>
            </a:r>
            <a:r>
              <a:rPr dirty="0" err="1"/>
              <a:t>แต่อยู่ในตารางที่</a:t>
            </a:r>
            <a:r>
              <a:rPr dirty="0"/>
              <a:t> 5.2</a:t>
            </a:r>
          </a:p>
          <a:p>
            <a:endParaRPr dirty="0"/>
          </a:p>
          <a:p>
            <a:r>
              <a:rPr dirty="0" err="1"/>
              <a:t>สิ่งที่อ่านได้คือไม่มีวิธีไหนครอบคลุมทุกแกน</a:t>
            </a:r>
            <a:r>
              <a:rPr dirty="0"/>
              <a:t> SDD </a:t>
            </a:r>
            <a:r>
              <a:rPr dirty="0" err="1"/>
              <a:t>โป่งในด้านที่ระบุชัดและหดที่ความซ้ำซ้อน</a:t>
            </a:r>
            <a:r>
              <a:rPr dirty="0"/>
              <a:t> </a:t>
            </a:r>
            <a:r>
              <a:rPr dirty="0" err="1"/>
              <a:t>ส่วน</a:t>
            </a:r>
            <a:r>
              <a:rPr dirty="0"/>
              <a:t> CE </a:t>
            </a:r>
            <a:r>
              <a:rPr dirty="0" err="1"/>
              <a:t>หดเข้าเกือบทุกแกน</a:t>
            </a:r>
            <a:r>
              <a:rPr dirty="0"/>
              <a:t> </a:t>
            </a:r>
            <a:r>
              <a:rPr dirty="0" err="1"/>
              <a:t>ซึ่งตรงกับที่เล่ามาค่ะ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[5 </a:t>
            </a:r>
            <a:r>
              <a:rPr dirty="0" err="1"/>
              <a:t>นาที</a:t>
            </a:r>
            <a:r>
              <a:rPr dirty="0"/>
              <a:t>] </a:t>
            </a:r>
            <a:r>
              <a:rPr dirty="0" err="1"/>
              <a:t>ที่คนใช้จริงสนใจคือ</a:t>
            </a:r>
            <a:r>
              <a:rPr dirty="0"/>
              <a:t> </a:t>
            </a:r>
            <a:r>
              <a:rPr dirty="0" err="1"/>
              <a:t>รันครั้งหน้าจะได้ผลเหมือนเดิมไหม</a:t>
            </a:r>
            <a:r>
              <a:rPr dirty="0"/>
              <a:t> CE </a:t>
            </a:r>
            <a:r>
              <a:rPr dirty="0" err="1"/>
              <a:t>น่ากังวลค่ะ</a:t>
            </a:r>
            <a:r>
              <a:rPr dirty="0"/>
              <a:t> </a:t>
            </a:r>
            <a:r>
              <a:rPr dirty="0" err="1"/>
              <a:t>คะแนนสองรอบต่างกันเฉลี่ย</a:t>
            </a:r>
            <a:r>
              <a:rPr dirty="0"/>
              <a:t> 66.3 </a:t>
            </a:r>
            <a:r>
              <a:rPr dirty="0" err="1"/>
              <a:t>จุด</a:t>
            </a:r>
            <a:r>
              <a:rPr dirty="0"/>
              <a:t> </a:t>
            </a:r>
            <a:r>
              <a:rPr dirty="0" err="1"/>
              <a:t>ราวสองในสามของช่วงคะแนนทั้งหมด</a:t>
            </a:r>
            <a:r>
              <a:rPr dirty="0"/>
              <a:t> </a:t>
            </a:r>
            <a:r>
              <a:rPr dirty="0" err="1"/>
              <a:t>ยอมรับยากในงานเชิงพาณิชย์</a:t>
            </a:r>
            <a:r>
              <a:rPr dirty="0"/>
              <a:t> </a:t>
            </a:r>
            <a:r>
              <a:rPr dirty="0" err="1"/>
              <a:t>ส่วน</a:t>
            </a:r>
            <a:r>
              <a:rPr dirty="0"/>
              <a:t> SDD </a:t>
            </a:r>
            <a:r>
              <a:rPr dirty="0" err="1"/>
              <a:t>ต่างแค่</a:t>
            </a:r>
            <a:r>
              <a:rPr dirty="0"/>
              <a:t> 5.6 </a:t>
            </a:r>
            <a:r>
              <a:rPr dirty="0" err="1"/>
              <a:t>จุด</a:t>
            </a:r>
            <a:r>
              <a:rPr dirty="0"/>
              <a:t> </a:t>
            </a:r>
            <a:r>
              <a:rPr dirty="0" err="1"/>
              <a:t>ขนาดโค้ดก็นิ่งด้วย</a:t>
            </a:r>
            <a:r>
              <a:rPr dirty="0"/>
              <a:t> </a:t>
            </a:r>
            <a:r>
              <a:rPr dirty="0" err="1"/>
              <a:t>แปรผัน</a:t>
            </a:r>
            <a:r>
              <a:rPr dirty="0"/>
              <a:t> 16 </a:t>
            </a:r>
            <a:r>
              <a:rPr dirty="0" err="1"/>
              <a:t>เปอร์เซ็นต์</a:t>
            </a:r>
            <a:r>
              <a:rPr dirty="0"/>
              <a:t> </a:t>
            </a:r>
            <a:r>
              <a:rPr dirty="0" err="1"/>
              <a:t>เทียบกับ</a:t>
            </a:r>
            <a:r>
              <a:rPr dirty="0"/>
              <a:t> 68 </a:t>
            </a:r>
            <a:r>
              <a:rPr dirty="0" err="1"/>
              <a:t>และ</a:t>
            </a:r>
            <a:r>
              <a:rPr dirty="0"/>
              <a:t> 76 </a:t>
            </a:r>
            <a:r>
              <a:rPr dirty="0" err="1"/>
              <a:t>ของ</a:t>
            </a:r>
            <a:r>
              <a:rPr dirty="0"/>
              <a:t> BP </a:t>
            </a:r>
            <a:r>
              <a:rPr dirty="0" err="1"/>
              <a:t>กับ</a:t>
            </a:r>
            <a:r>
              <a:rPr dirty="0"/>
              <a:t> CE </a:t>
            </a:r>
            <a:r>
              <a:rPr dirty="0" err="1"/>
              <a:t>ที่ได้ตั้งแต่</a:t>
            </a:r>
            <a:r>
              <a:rPr dirty="0"/>
              <a:t> 58 </a:t>
            </a:r>
            <a:r>
              <a:rPr dirty="0" err="1"/>
              <a:t>ไปถึง</a:t>
            </a:r>
            <a:r>
              <a:rPr dirty="0"/>
              <a:t> 409 </a:t>
            </a:r>
            <a:r>
              <a:rPr dirty="0" err="1"/>
              <a:t>บรรทัดจากเจตนาเดียวกัน</a:t>
            </a:r>
            <a:r>
              <a:rPr dirty="0"/>
              <a:t> </a:t>
            </a:r>
            <a:r>
              <a:rPr dirty="0" err="1"/>
              <a:t>แต่ความนิ่งของ</a:t>
            </a:r>
            <a:r>
              <a:rPr dirty="0"/>
              <a:t> SDD </a:t>
            </a:r>
            <a:r>
              <a:rPr dirty="0" err="1"/>
              <a:t>ไม่ครอบคลุมทุกมิติ</a:t>
            </a:r>
            <a:r>
              <a:rPr dirty="0"/>
              <a:t> </a:t>
            </a:r>
            <a:r>
              <a:rPr dirty="0" err="1"/>
              <a:t>ความน่าเชื่อถือกับความซ้ำซ้อนยังแกว่ง</a:t>
            </a:r>
            <a:r>
              <a:rPr dirty="0"/>
              <a:t> </a:t>
            </a:r>
            <a:r>
              <a:rPr dirty="0" err="1"/>
              <a:t>และ</a:t>
            </a:r>
            <a:r>
              <a:rPr dirty="0"/>
              <a:t> CV </a:t>
            </a:r>
            <a:r>
              <a:rPr dirty="0" err="1"/>
              <a:t>เกิน</a:t>
            </a:r>
            <a:r>
              <a:rPr dirty="0"/>
              <a:t> 100 </a:t>
            </a:r>
            <a:r>
              <a:rPr dirty="0" err="1"/>
              <a:t>ไม่ได้คำนวณผิด</a:t>
            </a:r>
            <a:r>
              <a:rPr dirty="0"/>
              <a:t> </a:t>
            </a:r>
            <a:r>
              <a:rPr dirty="0" err="1"/>
              <a:t>เกิดเพราะหลายเวอร์ชันเป็นศูนย์</a:t>
            </a:r>
            <a:r>
              <a:rPr dirty="0"/>
              <a:t> </a:t>
            </a:r>
            <a:r>
              <a:rPr dirty="0" err="1"/>
              <a:t>ควรดูมัธยฐานประกอบ</a:t>
            </a:r>
            <a:endParaRPr dirty="0"/>
          </a:p>
          <a:p>
            <a:endParaRPr dirty="0"/>
          </a:p>
          <a:p>
            <a:r>
              <a:rPr dirty="0" err="1"/>
              <a:t>เรื่องโทเคน</a:t>
            </a:r>
            <a:r>
              <a:rPr dirty="0"/>
              <a:t> </a:t>
            </a:r>
            <a:r>
              <a:rPr dirty="0" err="1"/>
              <a:t>เทียบ</a:t>
            </a:r>
            <a:r>
              <a:rPr dirty="0"/>
              <a:t> SDD </a:t>
            </a:r>
            <a:r>
              <a:rPr dirty="0" err="1"/>
              <a:t>กับอีกสองวิธีไม่ได้นะคะ</a:t>
            </a:r>
            <a:r>
              <a:rPr dirty="0"/>
              <a:t> </a:t>
            </a:r>
            <a:r>
              <a:rPr dirty="0" err="1"/>
              <a:t>เพราะคำสั่งสั้น</a:t>
            </a:r>
            <a:r>
              <a:rPr dirty="0"/>
              <a:t> </a:t>
            </a:r>
            <a:r>
              <a:rPr dirty="0" err="1"/>
              <a:t>ๆ</a:t>
            </a:r>
            <a:r>
              <a:rPr dirty="0"/>
              <a:t> </a:t>
            </a:r>
            <a:r>
              <a:rPr dirty="0" err="1"/>
              <a:t>ของ</a:t>
            </a:r>
            <a:r>
              <a:rPr dirty="0"/>
              <a:t> Codex CLI </a:t>
            </a:r>
            <a:r>
              <a:rPr dirty="0" err="1"/>
              <a:t>ทำให้ระบบอ่านเอกสารทั้งชุดหลายพันโทเคน</a:t>
            </a:r>
            <a:r>
              <a:rPr dirty="0"/>
              <a:t> </a:t>
            </a:r>
            <a:r>
              <a:rPr dirty="0" err="1"/>
              <a:t>ซึ่งไม่ถูกนับ</a:t>
            </a:r>
            <a:r>
              <a:rPr dirty="0"/>
              <a:t> 1,644 </a:t>
            </a:r>
            <a:r>
              <a:rPr dirty="0" err="1"/>
              <a:t>จึงต่ำกว่าจริงมาก</a:t>
            </a:r>
            <a:r>
              <a:rPr dirty="0"/>
              <a:t> </a:t>
            </a:r>
            <a:r>
              <a:rPr dirty="0" err="1"/>
              <a:t>ที่เทียบได้คือ</a:t>
            </a:r>
            <a:r>
              <a:rPr dirty="0"/>
              <a:t> BP </a:t>
            </a:r>
            <a:r>
              <a:rPr dirty="0" err="1"/>
              <a:t>กับ</a:t>
            </a:r>
            <a:r>
              <a:rPr dirty="0"/>
              <a:t> CE </a:t>
            </a:r>
            <a:r>
              <a:rPr dirty="0" err="1"/>
              <a:t>ซึ่ง</a:t>
            </a:r>
            <a:r>
              <a:rPr dirty="0"/>
              <a:t> CE </a:t>
            </a:r>
            <a:r>
              <a:rPr dirty="0" err="1"/>
              <a:t>ใช้น้อยกว่าราว</a:t>
            </a:r>
            <a:r>
              <a:rPr dirty="0"/>
              <a:t> 10 </a:t>
            </a:r>
            <a:r>
              <a:rPr dirty="0" err="1"/>
              <a:t>เปอร์เซ็นต์แต่ผ่านต่ำกว่า</a:t>
            </a:r>
            <a:r>
              <a:rPr dirty="0"/>
              <a:t> SCCE02 </a:t>
            </a:r>
            <a:r>
              <a:rPr dirty="0" err="1"/>
              <a:t>ใช้</a:t>
            </a:r>
            <a:r>
              <a:rPr dirty="0"/>
              <a:t> 508 </a:t>
            </a:r>
            <a:r>
              <a:rPr dirty="0" err="1"/>
              <a:t>โทเคน</a:t>
            </a:r>
            <a:r>
              <a:rPr dirty="0"/>
              <a:t> </a:t>
            </a:r>
            <a:r>
              <a:rPr dirty="0" err="1"/>
              <a:t>ผ่าน</a:t>
            </a:r>
            <a:r>
              <a:rPr dirty="0"/>
              <a:t> 1 </a:t>
            </a:r>
            <a:r>
              <a:rPr dirty="0" err="1"/>
              <a:t>จาก</a:t>
            </a:r>
            <a:r>
              <a:rPr dirty="0"/>
              <a:t> 5 PDCE01 </a:t>
            </a:r>
            <a:r>
              <a:rPr dirty="0" err="1"/>
              <a:t>ใช้</a:t>
            </a:r>
            <a:r>
              <a:rPr dirty="0"/>
              <a:t> 531 </a:t>
            </a:r>
            <a:r>
              <a:rPr dirty="0" err="1"/>
              <a:t>ผ่านครบ</a:t>
            </a:r>
            <a:r>
              <a:rPr dirty="0"/>
              <a:t> 6 </a:t>
            </a:r>
            <a:r>
              <a:rPr dirty="0" err="1"/>
              <a:t>แปลว่าสำคัญที่เนื้อหาข้อกำหนด</a:t>
            </a:r>
            <a:r>
              <a:rPr dirty="0"/>
              <a:t> </a:t>
            </a:r>
            <a:r>
              <a:rPr dirty="0" err="1"/>
              <a:t>ไม่ใช่ปริมาณ</a:t>
            </a:r>
            <a:r>
              <a:rPr dirty="0"/>
              <a:t> </a:t>
            </a:r>
            <a:r>
              <a:rPr dirty="0" err="1"/>
              <a:t>ส่วนต้นทุนฝั่งโมเดลยังไม่ได้นับ</a:t>
            </a:r>
            <a:r>
              <a:rPr dirty="0"/>
              <a:t> </a:t>
            </a:r>
            <a:r>
              <a:rPr dirty="0" err="1"/>
              <a:t>เป็นงานต่อยอดค่ะ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[4 </a:t>
            </a:r>
            <a:r>
              <a:rPr dirty="0" err="1"/>
              <a:t>นาที</a:t>
            </a:r>
            <a:r>
              <a:rPr dirty="0"/>
              <a:t>] </a:t>
            </a:r>
            <a:r>
              <a:rPr dirty="0" err="1"/>
              <a:t>ถ้าให้จำประโยคเดียวคือ</a:t>
            </a:r>
            <a:r>
              <a:rPr dirty="0"/>
              <a:t> AI </a:t>
            </a:r>
            <a:r>
              <a:rPr dirty="0" err="1"/>
              <a:t>ทำตามที่เราบอก</a:t>
            </a:r>
            <a:r>
              <a:rPr dirty="0"/>
              <a:t> </a:t>
            </a:r>
            <a:r>
              <a:rPr dirty="0" err="1"/>
              <a:t>แต่ไม่เติมสิ่งที่เราไม่ได้บอกให้ค่ะ</a:t>
            </a:r>
            <a:r>
              <a:rPr dirty="0"/>
              <a:t> </a:t>
            </a:r>
            <a:r>
              <a:rPr dirty="0" err="1"/>
              <a:t>หลักฐานมีสามอย่างที่ไม่ได้อยู่บนสไลด์</a:t>
            </a:r>
            <a:r>
              <a:rPr dirty="0"/>
              <a:t> </a:t>
            </a:r>
            <a:r>
              <a:rPr dirty="0" err="1"/>
              <a:t>คือ</a:t>
            </a:r>
            <a:r>
              <a:rPr dirty="0"/>
              <a:t> 86 </a:t>
            </a:r>
            <a:r>
              <a:rPr dirty="0" err="1"/>
              <a:t>เปอร์เซ็นต์ของความล้มเหลวคือลืมสร้างฟีเจอร์</a:t>
            </a:r>
            <a:r>
              <a:rPr dirty="0"/>
              <a:t> 86 </a:t>
            </a:r>
            <a:r>
              <a:rPr dirty="0" err="1"/>
              <a:t>เปอร์เซ็นต์ของ</a:t>
            </a:r>
            <a:r>
              <a:rPr dirty="0"/>
              <a:t> alert </a:t>
            </a:r>
            <a:r>
              <a:rPr dirty="0" err="1"/>
              <a:t>คือ</a:t>
            </a:r>
            <a:r>
              <a:rPr dirty="0"/>
              <a:t> Rate Limiting </a:t>
            </a:r>
            <a:r>
              <a:rPr dirty="0" err="1"/>
              <a:t>ที่ไม่มีใครระบุ</a:t>
            </a:r>
            <a:r>
              <a:rPr dirty="0"/>
              <a:t> </a:t>
            </a:r>
            <a:r>
              <a:rPr dirty="0" err="1"/>
              <a:t>และ</a:t>
            </a:r>
            <a:r>
              <a:rPr dirty="0"/>
              <a:t> SCBP02 </a:t>
            </a:r>
            <a:r>
              <a:rPr dirty="0" err="1"/>
              <a:t>ที่ไม่มีฐานข้อมูลเพราะไม่ได้ถูกสั่ง</a:t>
            </a:r>
            <a:endParaRPr dirty="0"/>
          </a:p>
          <a:p>
            <a:endParaRPr dirty="0"/>
          </a:p>
          <a:p>
            <a:r>
              <a:rPr dirty="0" err="1"/>
              <a:t>เพราะงั้นการเพิ่มโครงสร้างให้ซับซ้อนไม่ใช่คำตอบ</a:t>
            </a:r>
            <a:r>
              <a:rPr dirty="0"/>
              <a:t> CE </a:t>
            </a:r>
            <a:r>
              <a:rPr dirty="0" err="1"/>
              <a:t>ที่โครงสร้างกลาง</a:t>
            </a:r>
            <a:r>
              <a:rPr dirty="0"/>
              <a:t> </a:t>
            </a:r>
            <a:r>
              <a:rPr dirty="0" err="1"/>
              <a:t>ๆ</a:t>
            </a:r>
            <a:r>
              <a:rPr dirty="0"/>
              <a:t> </a:t>
            </a:r>
            <a:r>
              <a:rPr dirty="0" err="1"/>
              <a:t>กลับแย่สุด</a:t>
            </a:r>
            <a:r>
              <a:rPr dirty="0"/>
              <a:t> </a:t>
            </a:r>
            <a:r>
              <a:rPr dirty="0" err="1"/>
              <a:t>ส่วน</a:t>
            </a:r>
            <a:r>
              <a:rPr dirty="0"/>
              <a:t> SDD </a:t>
            </a:r>
            <a:r>
              <a:rPr dirty="0" err="1"/>
              <a:t>ดีสุดเพราะข้อกำหนดแยกเป็นเอกสารที่คงที่และครบ</a:t>
            </a:r>
            <a:r>
              <a:rPr dirty="0"/>
              <a:t> </a:t>
            </a:r>
            <a:r>
              <a:rPr dirty="0" err="1"/>
              <a:t>ไม่ใช่เพราะซับซ้อน</a:t>
            </a:r>
            <a:endParaRPr dirty="0"/>
          </a:p>
          <a:p>
            <a:endParaRPr dirty="0"/>
          </a:p>
          <a:p>
            <a:r>
              <a:rPr dirty="0" err="1"/>
              <a:t>แต่</a:t>
            </a:r>
            <a:r>
              <a:rPr dirty="0"/>
              <a:t> SDD </a:t>
            </a:r>
            <a:r>
              <a:rPr dirty="0" err="1"/>
              <a:t>ก็ไม่ใช่ยาวิเศษ</a:t>
            </a:r>
            <a:r>
              <a:rPr dirty="0"/>
              <a:t> </a:t>
            </a:r>
            <a:r>
              <a:rPr dirty="0" err="1"/>
              <a:t>ยังมี</a:t>
            </a:r>
            <a:r>
              <a:rPr dirty="0"/>
              <a:t> Prototype Pollution </a:t>
            </a:r>
            <a:r>
              <a:rPr dirty="0" err="1"/>
              <a:t>ใน</a:t>
            </a:r>
            <a:r>
              <a:rPr dirty="0"/>
              <a:t> PDSD01 </a:t>
            </a:r>
            <a:r>
              <a:rPr dirty="0" err="1"/>
              <a:t>ซ้ำซ้อนสูง</a:t>
            </a:r>
            <a:r>
              <a:rPr dirty="0"/>
              <a:t> </a:t>
            </a:r>
            <a:r>
              <a:rPr dirty="0" err="1"/>
              <a:t>และต้นทุนเอกสารสูงสุด</a:t>
            </a:r>
            <a:r>
              <a:rPr dirty="0"/>
              <a:t> </a:t>
            </a:r>
            <a:r>
              <a:rPr dirty="0" err="1"/>
              <a:t>และทั้งหมดนี้บอกความถูกต้องในกรณีทดสอบที่กำหนดเท่านั้น</a:t>
            </a:r>
            <a:r>
              <a:rPr dirty="0"/>
              <a:t> </a:t>
            </a:r>
            <a:r>
              <a:rPr dirty="0" err="1"/>
              <a:t>ควรอ่านเป็นแนวโน้มค่ะ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[4 </a:t>
            </a:r>
            <a:r>
              <a:rPr dirty="0" err="1"/>
              <a:t>นาที</a:t>
            </a:r>
            <a:r>
              <a:rPr dirty="0"/>
              <a:t>] </a:t>
            </a:r>
            <a:r>
              <a:rPr dirty="0" err="1"/>
              <a:t>ตารางนี้ไม่ใช่การตัดสินผู้ชนะนะคะ</a:t>
            </a:r>
            <a:r>
              <a:rPr dirty="0"/>
              <a:t> </a:t>
            </a:r>
            <a:r>
              <a:rPr dirty="0" err="1"/>
              <a:t>แต่เป็นราคากับความเสี่ยงของแต่ละทางเลือก</a:t>
            </a:r>
            <a:r>
              <a:rPr dirty="0"/>
              <a:t> BP </a:t>
            </a:r>
            <a:r>
              <a:rPr dirty="0" err="1"/>
              <a:t>ถูกสุดและไม่เคยแย่สุด</a:t>
            </a:r>
            <a:r>
              <a:rPr dirty="0"/>
              <a:t> </a:t>
            </a:r>
            <a:r>
              <a:rPr dirty="0" err="1"/>
              <a:t>แต่ความเสี่ยงคือพลาดแบบเงียบ</a:t>
            </a:r>
            <a:r>
              <a:rPr dirty="0"/>
              <a:t> </a:t>
            </a:r>
            <a:r>
              <a:rPr dirty="0" err="1"/>
              <a:t>ๆ</a:t>
            </a:r>
            <a:r>
              <a:rPr dirty="0"/>
              <a:t> CE </a:t>
            </a:r>
            <a:r>
              <a:rPr dirty="0" err="1"/>
              <a:t>แบบที่ใช้ศึกษานี้ไม่คุ้มแรง</a:t>
            </a:r>
            <a:r>
              <a:rPr dirty="0"/>
              <a:t> </a:t>
            </a:r>
            <a:r>
              <a:rPr dirty="0" err="1"/>
              <a:t>ประหยัดโทเคนราว</a:t>
            </a:r>
            <a:r>
              <a:rPr dirty="0"/>
              <a:t> 10 </a:t>
            </a:r>
            <a:r>
              <a:rPr dirty="0" err="1"/>
              <a:t>เปอร์เซ็นต์</a:t>
            </a:r>
            <a:r>
              <a:rPr dirty="0"/>
              <a:t> </a:t>
            </a:r>
            <a:r>
              <a:rPr dirty="0" err="1"/>
              <a:t>แต่แลกกับความแกว่งสูงสุด</a:t>
            </a:r>
            <a:r>
              <a:rPr dirty="0"/>
              <a:t> </a:t>
            </a:r>
            <a:r>
              <a:rPr dirty="0" err="1"/>
              <a:t>ส่วน</a:t>
            </a:r>
            <a:r>
              <a:rPr dirty="0"/>
              <a:t> SDD </a:t>
            </a:r>
            <a:r>
              <a:rPr dirty="0" err="1"/>
              <a:t>ต้นทุนเอกสารสูงสุด</a:t>
            </a:r>
            <a:r>
              <a:rPr dirty="0"/>
              <a:t> </a:t>
            </a:r>
            <a:r>
              <a:rPr dirty="0" err="1"/>
              <a:t>ซึ่งมองเป็นการลงทุนลดความไม่แน่นอนได้</a:t>
            </a:r>
            <a:r>
              <a:rPr dirty="0"/>
              <a:t> </a:t>
            </a:r>
            <a:r>
              <a:rPr dirty="0" err="1"/>
              <a:t>แลกกับความถูกต้อง</a:t>
            </a:r>
            <a:r>
              <a:rPr dirty="0"/>
              <a:t> </a:t>
            </a:r>
            <a:r>
              <a:rPr dirty="0" err="1"/>
              <a:t>ความปลอดภัย</a:t>
            </a:r>
            <a:r>
              <a:rPr dirty="0"/>
              <a:t> </a:t>
            </a:r>
            <a:r>
              <a:rPr dirty="0" err="1"/>
              <a:t>และความนิ่งที่ดีที่สุดค่ะ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 </a:t>
            </a:r>
            <a:r>
              <a:rPr dirty="0" err="1"/>
              <a:t>นาที</a:t>
            </a:r>
            <a:r>
              <a:rPr dirty="0"/>
              <a:t>] </a:t>
            </a:r>
            <a:r>
              <a:rPr dirty="0" err="1"/>
              <a:t>ครึ่งหลังของตารางคือเช็กลิสต์ใช้งานจริงค่ะ</a:t>
            </a:r>
            <a:r>
              <a:rPr dirty="0"/>
              <a:t> </a:t>
            </a:r>
            <a:r>
              <a:rPr dirty="0" err="1"/>
              <a:t>ช่องสิ่งที่ต้องเสริมเสมอสำคัญสุด</a:t>
            </a:r>
            <a:r>
              <a:rPr dirty="0"/>
              <a:t> </a:t>
            </a:r>
            <a:r>
              <a:rPr dirty="0" err="1"/>
              <a:t>เพราะทุกวิธีมีจุดบอด</a:t>
            </a:r>
            <a:r>
              <a:rPr dirty="0"/>
              <a:t> BP </a:t>
            </a:r>
            <a:r>
              <a:rPr dirty="0" err="1"/>
              <a:t>ต้องเช็กฟีเจอร์ทีละข้อ</a:t>
            </a:r>
            <a:r>
              <a:rPr dirty="0"/>
              <a:t> CE </a:t>
            </a:r>
            <a:r>
              <a:rPr dirty="0" err="1"/>
              <a:t>ต้องตรวจโครงสร้างกับความปลอดภัยเพิ่ม</a:t>
            </a:r>
            <a:r>
              <a:rPr dirty="0"/>
              <a:t> SDD </a:t>
            </a:r>
            <a:r>
              <a:rPr dirty="0" err="1"/>
              <a:t>ต้องคุมความซ้ำซ้อน</a:t>
            </a:r>
            <a:endParaRPr dirty="0"/>
          </a:p>
          <a:p>
            <a:endParaRPr dirty="0"/>
          </a:p>
          <a:p>
            <a:r>
              <a:rPr dirty="0" err="1"/>
              <a:t>พูดง่าย</a:t>
            </a:r>
            <a:r>
              <a:rPr dirty="0"/>
              <a:t> </a:t>
            </a:r>
            <a:r>
              <a:rPr dirty="0" err="1"/>
              <a:t>ๆ</a:t>
            </a:r>
            <a:r>
              <a:rPr dirty="0"/>
              <a:t> </a:t>
            </a:r>
            <a:r>
              <a:rPr dirty="0" err="1"/>
              <a:t>คือเลือกวิธีไหนก็ไม่ได้แปลว่าไม่ต้องตรวจ</a:t>
            </a:r>
            <a:r>
              <a:rPr dirty="0"/>
              <a:t> </a:t>
            </a:r>
            <a:r>
              <a:rPr dirty="0" err="1"/>
              <a:t>แค่เปลี่ยนว่าต้องตรวจอะไรค่ะ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 </a:t>
            </a:r>
            <a:r>
              <a:rPr dirty="0" err="1"/>
              <a:t>นาที</a:t>
            </a:r>
            <a:r>
              <a:rPr dirty="0"/>
              <a:t>] </a:t>
            </a:r>
            <a:r>
              <a:rPr dirty="0" err="1"/>
              <a:t>ถ้าต้องแนะนำทีม</a:t>
            </a:r>
            <a:r>
              <a:rPr dirty="0"/>
              <a:t> </a:t>
            </a:r>
            <a:r>
              <a:rPr dirty="0" err="1"/>
              <a:t>ก็ตอบเป็นลำดับคำถามค่ะ</a:t>
            </a:r>
            <a:r>
              <a:rPr dirty="0"/>
              <a:t> </a:t>
            </a:r>
            <a:r>
              <a:rPr dirty="0" err="1"/>
              <a:t>งานนี้ถ้าพลาดแล้วเสียหายหนักเรื่องกฎธุรกิจหรือความปลอดภัยไหม</a:t>
            </a:r>
            <a:r>
              <a:rPr dirty="0"/>
              <a:t> </a:t>
            </a:r>
            <a:r>
              <a:rPr dirty="0" err="1"/>
              <a:t>ถ้าใช่</a:t>
            </a:r>
            <a:r>
              <a:rPr dirty="0"/>
              <a:t> </a:t>
            </a:r>
            <a:r>
              <a:rPr dirty="0" err="1"/>
              <a:t>ลงทุน</a:t>
            </a:r>
            <a:r>
              <a:rPr dirty="0"/>
              <a:t> SDD </a:t>
            </a:r>
            <a:r>
              <a:rPr dirty="0" err="1"/>
              <a:t>และใส่เกณฑ์คุมความซ้ำซ้อนไว้ใน</a:t>
            </a:r>
            <a:r>
              <a:rPr dirty="0"/>
              <a:t> Constitution </a:t>
            </a:r>
            <a:r>
              <a:rPr dirty="0" err="1"/>
              <a:t>ถ้าเป็นต้นแบบเร็ว</a:t>
            </a:r>
            <a:r>
              <a:rPr dirty="0"/>
              <a:t> </a:t>
            </a:r>
            <a:r>
              <a:rPr dirty="0" err="1"/>
              <a:t>ๆ</a:t>
            </a:r>
            <a:r>
              <a:rPr dirty="0"/>
              <a:t> </a:t>
            </a:r>
            <a:r>
              <a:rPr dirty="0" err="1"/>
              <a:t>ใช้</a:t>
            </a:r>
            <a:r>
              <a:rPr dirty="0"/>
              <a:t> BP </a:t>
            </a:r>
            <a:r>
              <a:rPr dirty="0" err="1"/>
              <a:t>ได้</a:t>
            </a:r>
            <a:r>
              <a:rPr dirty="0"/>
              <a:t> </a:t>
            </a:r>
            <a:r>
              <a:rPr dirty="0" err="1"/>
              <a:t>แต่ต้องมีเทสต์ที่อ้างอิงข้อกำหนดโดยตรง</a:t>
            </a:r>
            <a:r>
              <a:rPr dirty="0"/>
              <a:t> </a:t>
            </a:r>
            <a:r>
              <a:rPr dirty="0" err="1"/>
              <a:t>เพราะฟีเจอร์ที่ถูกลืมจะไม่เตือนเรา</a:t>
            </a:r>
            <a:endParaRPr dirty="0"/>
          </a:p>
          <a:p>
            <a:endParaRPr dirty="0"/>
          </a:p>
          <a:p>
            <a:r>
              <a:rPr dirty="0" err="1"/>
              <a:t>ฝากไว้อีกอย่าง</a:t>
            </a:r>
            <a:r>
              <a:rPr dirty="0"/>
              <a:t> </a:t>
            </a:r>
            <a:r>
              <a:rPr dirty="0" err="1"/>
              <a:t>อย่าคิดว่าเขียนบริบทละเอียดแล้วจะดีเอง</a:t>
            </a:r>
            <a:r>
              <a:rPr dirty="0"/>
              <a:t> CE </a:t>
            </a:r>
            <a:r>
              <a:rPr dirty="0" err="1"/>
              <a:t>ในงานนี้แย่กว่าคำสั่งง่าย</a:t>
            </a:r>
            <a:r>
              <a:rPr dirty="0"/>
              <a:t> </a:t>
            </a:r>
            <a:r>
              <a:rPr dirty="0" err="1"/>
              <a:t>ๆ</a:t>
            </a:r>
            <a:r>
              <a:rPr dirty="0"/>
              <a:t> </a:t>
            </a:r>
            <a:r>
              <a:rPr dirty="0" err="1"/>
              <a:t>ด้วยซ้ำ</a:t>
            </a:r>
            <a:r>
              <a:rPr dirty="0"/>
              <a:t> </a:t>
            </a:r>
            <a:r>
              <a:rPr dirty="0" err="1"/>
              <a:t>และไม่ว่าเลือกอะไร</a:t>
            </a:r>
            <a:r>
              <a:rPr dirty="0"/>
              <a:t> </a:t>
            </a:r>
            <a:r>
              <a:rPr dirty="0" err="1"/>
              <a:t>ต้องเขียนข้อกำหนดด้านความปลอดภัยเอง</a:t>
            </a:r>
            <a:r>
              <a:rPr dirty="0"/>
              <a:t> </a:t>
            </a:r>
            <a:r>
              <a:rPr dirty="0" err="1"/>
              <a:t>เพราะ</a:t>
            </a:r>
            <a:r>
              <a:rPr dirty="0"/>
              <a:t> AI </a:t>
            </a:r>
            <a:r>
              <a:rPr dirty="0" err="1"/>
              <a:t>ไม่สร้างให้ค่ะ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 </a:t>
            </a:r>
            <a:r>
              <a:rPr dirty="0" err="1"/>
              <a:t>นาที</a:t>
            </a:r>
            <a:r>
              <a:rPr dirty="0"/>
              <a:t>] </a:t>
            </a:r>
            <a:r>
              <a:rPr dirty="0" err="1"/>
              <a:t>งานอนาคตในเล่มมีห้าข้อ</a:t>
            </a:r>
            <a:r>
              <a:rPr dirty="0"/>
              <a:t> </a:t>
            </a:r>
            <a:r>
              <a:rPr dirty="0" err="1"/>
              <a:t>บนสไลด์โชว์สามข้อ</a:t>
            </a:r>
            <a:r>
              <a:rPr dirty="0"/>
              <a:t> </a:t>
            </a:r>
            <a:r>
              <a:rPr dirty="0" err="1"/>
              <a:t>อีกสองข้อคือ</a:t>
            </a:r>
            <a:r>
              <a:rPr dirty="0"/>
              <a:t> </a:t>
            </a:r>
            <a:r>
              <a:rPr dirty="0" err="1"/>
              <a:t>ศึกษาสาเหตุความซ้ำซ้อนของ</a:t>
            </a:r>
            <a:r>
              <a:rPr dirty="0"/>
              <a:t> SDD </a:t>
            </a:r>
            <a:r>
              <a:rPr dirty="0" err="1"/>
              <a:t>ว่ามาจากการแตกงานใน</a:t>
            </a:r>
            <a:r>
              <a:rPr dirty="0"/>
              <a:t> </a:t>
            </a:r>
            <a:r>
              <a:rPr dirty="0" err="1"/>
              <a:t>tasks.md</a:t>
            </a:r>
            <a:r>
              <a:rPr dirty="0"/>
              <a:t> </a:t>
            </a:r>
            <a:r>
              <a:rPr dirty="0" err="1"/>
              <a:t>หรือเปล่า</a:t>
            </a:r>
            <a:r>
              <a:rPr dirty="0"/>
              <a:t> </a:t>
            </a:r>
            <a:r>
              <a:rPr dirty="0" err="1"/>
              <a:t>กับวัดโทเคนจริงผ่าน</a:t>
            </a:r>
            <a:r>
              <a:rPr dirty="0"/>
              <a:t> API </a:t>
            </a:r>
            <a:r>
              <a:rPr dirty="0" err="1"/>
              <a:t>ที่รายงานครบทั้งฝั่งคำสั่งและฝั่งผลลัพธ์</a:t>
            </a:r>
            <a:endParaRPr dirty="0"/>
          </a:p>
          <a:p>
            <a:endParaRPr dirty="0"/>
          </a:p>
          <a:p>
            <a:r>
              <a:rPr dirty="0" err="1"/>
              <a:t>ข้อจำกัดที่ควรบอกตรง</a:t>
            </a:r>
            <a:r>
              <a:rPr dirty="0"/>
              <a:t> </a:t>
            </a:r>
            <a:r>
              <a:rPr dirty="0" err="1"/>
              <a:t>ๆ</a:t>
            </a:r>
            <a:r>
              <a:rPr dirty="0"/>
              <a:t> </a:t>
            </a:r>
            <a:r>
              <a:rPr dirty="0" err="1"/>
              <a:t>คือ</a:t>
            </a:r>
            <a:r>
              <a:rPr dirty="0"/>
              <a:t> </a:t>
            </a:r>
            <a:r>
              <a:rPr dirty="0" err="1"/>
              <a:t>คุมค่า</a:t>
            </a:r>
            <a:r>
              <a:rPr dirty="0"/>
              <a:t> temperature </a:t>
            </a:r>
            <a:r>
              <a:rPr dirty="0" err="1"/>
              <a:t>กับ</a:t>
            </a:r>
            <a:r>
              <a:rPr dirty="0"/>
              <a:t> seed </a:t>
            </a:r>
            <a:r>
              <a:rPr dirty="0" err="1"/>
              <a:t>ไม่ได้</a:t>
            </a:r>
            <a:r>
              <a:rPr dirty="0"/>
              <a:t> </a:t>
            </a:r>
            <a:r>
              <a:rPr dirty="0" err="1"/>
              <a:t>เลยทำซ้ำให้ได้ผลเดิมไม่สมบูรณ์</a:t>
            </a:r>
            <a:r>
              <a:rPr dirty="0"/>
              <a:t> ZAP </a:t>
            </a:r>
            <a:r>
              <a:rPr dirty="0" err="1"/>
              <a:t>ใช้แค่</a:t>
            </a:r>
            <a:r>
              <a:rPr dirty="0"/>
              <a:t> Baseline </a:t>
            </a:r>
            <a:r>
              <a:rPr dirty="0" err="1"/>
              <a:t>และระบบจำกัดอยู่ที่อีคอมเมิร์ซกับ</a:t>
            </a:r>
            <a:r>
              <a:rPr dirty="0"/>
              <a:t> Node.js, React, PostgreSQL </a:t>
            </a:r>
            <a:r>
              <a:rPr dirty="0" err="1"/>
              <a:t>ผลจึงควรอ่านเป็นแนวโน้ม</a:t>
            </a:r>
            <a:r>
              <a:rPr dirty="0"/>
              <a:t> </a:t>
            </a:r>
            <a:r>
              <a:rPr dirty="0" err="1"/>
              <a:t>ไม่ใช่ข้อสรุปเรื่องสาเหตุที่ยืนยันแล้วค่ะ</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[0 </a:t>
            </a:r>
            <a:r>
              <a:rPr dirty="0" err="1"/>
              <a:t>นาที</a:t>
            </a:r>
            <a:r>
              <a:rPr dirty="0"/>
              <a:t>] </a:t>
            </a:r>
            <a:r>
              <a:rPr dirty="0" err="1"/>
              <a:t>การนำเสนอของดิฉันจบเพียงเท่านี้ค่ะ</a:t>
            </a:r>
            <a:r>
              <a:rPr dirty="0"/>
              <a:t> </a:t>
            </a:r>
            <a:r>
              <a:rPr dirty="0" err="1"/>
              <a:t>ขอบคุณท่านอาจารย์และคณะกรรมการทุกท่าน</a:t>
            </a:r>
            <a:r>
              <a:rPr dirty="0"/>
              <a:t> </a:t>
            </a:r>
            <a:r>
              <a:rPr dirty="0" err="1"/>
              <a:t>ยินดีตอบคำถามค่ะ</a:t>
            </a:r>
            <a:endParaRPr dirty="0"/>
          </a:p>
          <a:p>
            <a:endParaRPr dirty="0"/>
          </a:p>
          <a:p>
            <a:r>
              <a:rPr dirty="0"/>
              <a:t>(</a:t>
            </a:r>
            <a:r>
              <a:rPr dirty="0" err="1"/>
              <a:t>เวลาที่เหลือประมาณ</a:t>
            </a:r>
            <a:r>
              <a:rPr dirty="0"/>
              <a:t> 60 </a:t>
            </a:r>
            <a:r>
              <a:rPr dirty="0" err="1"/>
              <a:t>นาทีใช้ถาม-ตอบ</a:t>
            </a:r>
            <a:r>
              <a:rPr dirty="0"/>
              <a:t> </a:t>
            </a:r>
            <a:r>
              <a:rPr dirty="0" err="1"/>
              <a:t>ดูแนวคำถามที่คาดว่าจะถูกถามในภาคผนวกท้ายเอกสาร</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DFBFB"/>
        </a:solidFill>
        <a:effectLst/>
      </p:bgPr>
    </p:bg>
    <p:spTree>
      <p:nvGrpSpPr>
        <p:cNvPr id="1" name=""/>
        <p:cNvGrpSpPr/>
        <p:nvPr/>
      </p:nvGrpSpPr>
      <p:grpSpPr>
        <a:xfrm>
          <a:off x="0" y="0"/>
          <a:ext cx="0" cy="0"/>
          <a:chOff x="0" y="0"/>
          <a:chExt cx="0" cy="0"/>
        </a:xfrm>
      </p:grpSpPr>
      <p:pic>
        <p:nvPicPr>
          <p:cNvPr id="2" name="Image 0" descr="/private/tmp/claude-501/-Users-phatchareepuangjai-Documents-learn-chatGPT5-IS/bcc159a5-8b57-4c10-a996-b7c3ff46d4b1/scratchpad/build/img/theme11.png"/>
          <p:cNvPicPr>
            <a:picLocks noChangeAspect="1"/>
          </p:cNvPicPr>
          <p:nvPr/>
        </p:nvPicPr>
        <p:blipFill>
          <a:blip r:embed="rId2">
            <a:alphaModFix amt="60000"/>
          </a:blip>
          <a:stretch>
            <a:fillRect/>
          </a:stretch>
        </p:blipFill>
        <p:spPr>
          <a:xfrm>
            <a:off x="10113264" y="5294376"/>
            <a:ext cx="3127248" cy="3127248"/>
          </a:xfrm>
          <a:prstGeom prst="rect">
            <a:avLst/>
          </a:prstGeom>
        </p:spPr>
      </p:pic>
      <p:sp>
        <p:nvSpPr>
          <p:cNvPr id="3" name="Shape 0"/>
          <p:cNvSpPr/>
          <p:nvPr/>
        </p:nvSpPr>
        <p:spPr>
          <a:xfrm>
            <a:off x="0" y="0"/>
            <a:ext cx="10835640" cy="1216152"/>
          </a:xfrm>
          <a:prstGeom prst="rect">
            <a:avLst/>
          </a:prstGeom>
          <a:solidFill>
            <a:srgbClr val="1C5739"/>
          </a:solidFill>
          <a:ln/>
        </p:spPr>
        <p:txBody>
          <a:bodyPr/>
          <a:lstStyle/>
          <a:p>
            <a:endParaRPr lang="en-TH"/>
          </a:p>
        </p:txBody>
      </p:sp>
      <p:pic>
        <p:nvPicPr>
          <p:cNvPr id="4" name="Image 1" descr="/private/tmp/claude-501/-Users-phatchareepuangjai-Documents-learn-chatGPT5-IS/bcc159a5-8b57-4c10-a996-b7c3ff46d4b1/scratchpad/build/img/theme9.png"/>
          <p:cNvPicPr>
            <a:picLocks noChangeAspect="1"/>
          </p:cNvPicPr>
          <p:nvPr/>
        </p:nvPicPr>
        <p:blipFill>
          <a:blip r:embed="rId3"/>
          <a:stretch>
            <a:fillRect/>
          </a:stretch>
        </p:blipFill>
        <p:spPr>
          <a:xfrm>
            <a:off x="11018520" y="91440"/>
            <a:ext cx="969264" cy="1143000"/>
          </a:xfrm>
          <a:prstGeom prst="rect">
            <a:avLst/>
          </a:prstGeom>
        </p:spPr>
      </p:pic>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IRCLE">
    <p:bg>
      <p:bgPr>
        <a:solidFill>
          <a:srgbClr val="FDFBFB"/>
        </a:solidFill>
        <a:effectLst/>
      </p:bgPr>
    </p:bg>
    <p:spTree>
      <p:nvGrpSpPr>
        <p:cNvPr id="1" name=""/>
        <p:cNvGrpSpPr/>
        <p:nvPr/>
      </p:nvGrpSpPr>
      <p:grpSpPr>
        <a:xfrm>
          <a:off x="0" y="0"/>
          <a:ext cx="0" cy="0"/>
          <a:chOff x="0" y="0"/>
          <a:chExt cx="0" cy="0"/>
        </a:xfrm>
      </p:grpSpPr>
      <p:pic>
        <p:nvPicPr>
          <p:cNvPr id="2" name="Image 0" descr="/private/tmp/claude-501/-Users-phatchareepuangjai-Documents-learn-chatGPT5-IS/bcc159a5-8b57-4c10-a996-b7c3ff46d4b1/scratchpad/build/img/theme14.png"/>
          <p:cNvPicPr>
            <a:picLocks noChangeAspect="1"/>
          </p:cNvPicPr>
          <p:nvPr/>
        </p:nvPicPr>
        <p:blipFill>
          <a:blip r:embed="rId2"/>
          <a:stretch>
            <a:fillRect/>
          </a:stretch>
        </p:blipFill>
        <p:spPr>
          <a:xfrm>
            <a:off x="-2679192" y="-3730752"/>
            <a:ext cx="5349240" cy="5349240"/>
          </a:xfrm>
          <a:prstGeom prst="rect">
            <a:avLst/>
          </a:prstGeom>
        </p:spPr>
      </p:pic>
      <p:pic>
        <p:nvPicPr>
          <p:cNvPr id="3" name="Image 1" descr="/private/tmp/claude-501/-Users-phatchareepuangjai-Documents-learn-chatGPT5-IS/bcc159a5-8b57-4c10-a996-b7c3ff46d4b1/scratchpad/build/img/theme11.png"/>
          <p:cNvPicPr>
            <a:picLocks noChangeAspect="1"/>
          </p:cNvPicPr>
          <p:nvPr/>
        </p:nvPicPr>
        <p:blipFill>
          <a:blip r:embed="rId3">
            <a:alphaModFix amt="60000"/>
          </a:blip>
          <a:stretch>
            <a:fillRect/>
          </a:stretch>
        </p:blipFill>
        <p:spPr>
          <a:xfrm>
            <a:off x="-658368" y="996696"/>
            <a:ext cx="1828800" cy="1828800"/>
          </a:xfrm>
          <a:prstGeom prst="rect">
            <a:avLst/>
          </a:prstGeom>
        </p:spPr>
      </p:pic>
      <p:pic>
        <p:nvPicPr>
          <p:cNvPr id="4" name="Image 2" descr="/private/tmp/claude-501/-Users-phatchareepuangjai-Documents-learn-chatGPT5-IS/bcc159a5-8b57-4c10-a996-b7c3ff46d4b1/scratchpad/build/img/theme11.png"/>
          <p:cNvPicPr>
            <a:picLocks noChangeAspect="1"/>
          </p:cNvPicPr>
          <p:nvPr/>
        </p:nvPicPr>
        <p:blipFill>
          <a:blip r:embed="rId3">
            <a:alphaModFix amt="60000"/>
          </a:blip>
          <a:stretch>
            <a:fillRect/>
          </a:stretch>
        </p:blipFill>
        <p:spPr>
          <a:xfrm>
            <a:off x="10113264" y="5294376"/>
            <a:ext cx="3127248" cy="3127248"/>
          </a:xfrm>
          <a:prstGeom prst="rect">
            <a:avLst/>
          </a:prstGeom>
        </p:spPr>
      </p:pic>
      <p:pic>
        <p:nvPicPr>
          <p:cNvPr id="5" name="Image 3" descr="/private/tmp/claude-501/-Users-phatchareepuangjai-Documents-learn-chatGPT5-IS/bcc159a5-8b57-4c10-a996-b7c3ff46d4b1/scratchpad/build/img/theme9.png"/>
          <p:cNvPicPr>
            <a:picLocks noChangeAspect="1"/>
          </p:cNvPicPr>
          <p:nvPr/>
        </p:nvPicPr>
        <p:blipFill>
          <a:blip r:embed="rId4"/>
          <a:stretch>
            <a:fillRect/>
          </a:stretch>
        </p:blipFill>
        <p:spPr>
          <a:xfrm>
            <a:off x="11018520" y="91440"/>
            <a:ext cx="969264" cy="1143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FDFBF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1.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868680" cy="6858000"/>
          </a:xfrm>
          <a:prstGeom prst="rect">
            <a:avLst/>
          </a:prstGeom>
          <a:solidFill>
            <a:srgbClr val="1C5739"/>
          </a:solidFill>
          <a:ln w="12700">
            <a:solidFill>
              <a:srgbClr val="1C5739"/>
            </a:solidFill>
            <a:prstDash val="solid"/>
          </a:ln>
        </p:spPr>
        <p:txBody>
          <a:bodyPr/>
          <a:lstStyle/>
          <a:p>
            <a:endParaRPr lang="en-TH"/>
          </a:p>
        </p:txBody>
      </p:sp>
      <p:pic>
        <p:nvPicPr>
          <p:cNvPr id="4" name="Image 1" descr="Kasetsart University logo"/>
          <p:cNvPicPr>
            <a:picLocks noChangeAspect="1"/>
          </p:cNvPicPr>
          <p:nvPr/>
        </p:nvPicPr>
        <p:blipFill>
          <a:blip r:embed="rId3"/>
          <a:stretch>
            <a:fillRect/>
          </a:stretch>
        </p:blipFill>
        <p:spPr>
          <a:xfrm>
            <a:off x="1371600" y="365760"/>
            <a:ext cx="1005840" cy="1188720"/>
          </a:xfrm>
          <a:prstGeom prst="rect">
            <a:avLst/>
          </a:prstGeom>
        </p:spPr>
      </p:pic>
      <p:sp>
        <p:nvSpPr>
          <p:cNvPr id="5" name="Shape 1"/>
          <p:cNvSpPr/>
          <p:nvPr/>
        </p:nvSpPr>
        <p:spPr>
          <a:xfrm>
            <a:off x="9052560" y="0"/>
            <a:ext cx="2377440" cy="6858000"/>
          </a:xfrm>
          <a:prstGeom prst="rect">
            <a:avLst/>
          </a:prstGeom>
          <a:solidFill>
            <a:srgbClr val="1C5739"/>
          </a:solidFill>
          <a:ln w="12700">
            <a:solidFill>
              <a:srgbClr val="1C5739"/>
            </a:solidFill>
            <a:prstDash val="solid"/>
          </a:ln>
        </p:spPr>
        <p:txBody>
          <a:bodyPr/>
          <a:lstStyle/>
          <a:p>
            <a:endParaRPr lang="en-TH"/>
          </a:p>
        </p:txBody>
      </p:sp>
      <p:pic>
        <p:nvPicPr>
          <p:cNvPr id="6" name="Image 2" descr="cover photo"/>
          <p:cNvPicPr>
            <a:picLocks noChangeAspect="1"/>
          </p:cNvPicPr>
          <p:nvPr/>
        </p:nvPicPr>
        <p:blipFill>
          <a:blip r:embed="rId4"/>
          <a:stretch>
            <a:fillRect/>
          </a:stretch>
        </p:blipFill>
        <p:spPr>
          <a:xfrm>
            <a:off x="8823960" y="950976"/>
            <a:ext cx="2788920" cy="4956048"/>
          </a:xfrm>
          <a:prstGeom prst="rect">
            <a:avLst/>
          </a:prstGeom>
        </p:spPr>
      </p:pic>
      <p:pic>
        <p:nvPicPr>
          <p:cNvPr id="7" name="Image 3" descr="decor"/>
          <p:cNvPicPr>
            <a:picLocks noChangeAspect="1"/>
          </p:cNvPicPr>
          <p:nvPr/>
        </p:nvPicPr>
        <p:blipFill>
          <a:blip r:embed="rId5"/>
          <a:stretch>
            <a:fillRect/>
          </a:stretch>
        </p:blipFill>
        <p:spPr>
          <a:xfrm>
            <a:off x="10607040" y="5943600"/>
            <a:ext cx="1463040" cy="804672"/>
          </a:xfrm>
          <a:prstGeom prst="rect">
            <a:avLst/>
          </a:prstGeom>
        </p:spPr>
      </p:pic>
      <p:sp>
        <p:nvSpPr>
          <p:cNvPr id="8" name="Text 2"/>
          <p:cNvSpPr txBox="1"/>
          <p:nvPr/>
        </p:nvSpPr>
        <p:spPr>
          <a:xfrm>
            <a:off x="1371600" y="1965960"/>
            <a:ext cx="7223760" cy="320040"/>
          </a:xfrm>
          <a:prstGeom prst="rect">
            <a:avLst/>
          </a:prstGeom>
          <a:noFill/>
          <a:ln/>
        </p:spPr>
        <p:txBody>
          <a:bodyPr wrap="square" lIns="0" tIns="0" rIns="0" bIns="0" rtlCol="0" anchor="t"/>
          <a:lstStyle/>
          <a:p>
            <a:pPr marL="0" indent="0">
              <a:buNone/>
            </a:pPr>
            <a:r>
              <a:rPr lang="en-US" sz="1400" b="1" dirty="0">
                <a:solidFill>
                  <a:srgbClr val="1C5739"/>
                </a:solidFill>
                <a:latin typeface="Sarabun" pitchFamily="34" charset="0"/>
                <a:ea typeface="Sarabun" pitchFamily="34" charset="-122"/>
                <a:cs typeface="Sarabun" pitchFamily="34" charset="-120"/>
              </a:rPr>
              <a:t>การศึกษาค้นคว้าอิสระ  ·  วิทยาศาสตร์มหาบัณฑิต (วิทยาการคอมพิวเตอร์)</a:t>
            </a:r>
            <a:endParaRPr lang="en-US" sz="1400" dirty="0"/>
          </a:p>
        </p:txBody>
      </p:sp>
      <p:sp>
        <p:nvSpPr>
          <p:cNvPr id="9" name="Text 3"/>
          <p:cNvSpPr txBox="1"/>
          <p:nvPr/>
        </p:nvSpPr>
        <p:spPr>
          <a:xfrm>
            <a:off x="1371600" y="2377440"/>
            <a:ext cx="7223760" cy="1737360"/>
          </a:xfrm>
          <a:prstGeom prst="rect">
            <a:avLst/>
          </a:prstGeom>
          <a:noFill/>
          <a:ln/>
        </p:spPr>
        <p:txBody>
          <a:bodyPr wrap="square" lIns="0" tIns="0" rIns="0" bIns="0" rtlCol="0" anchor="t"/>
          <a:lstStyle/>
          <a:p>
            <a:pPr marL="0" indent="0">
              <a:buNone/>
            </a:pPr>
            <a:r>
              <a:rPr lang="en-US" sz="3400" b="1" dirty="0">
                <a:solidFill>
                  <a:srgbClr val="1C5739"/>
                </a:solidFill>
                <a:latin typeface="Sarabun" pitchFamily="34" charset="0"/>
                <a:ea typeface="Sarabun" pitchFamily="34" charset="-122"/>
                <a:cs typeface="Sarabun" pitchFamily="34" charset="-120"/>
              </a:rPr>
              <a:t>Evaluating AI-Generated Code Quality across Prompting Strategies</a:t>
            </a:r>
            <a:endParaRPr lang="en-US" sz="3400" dirty="0"/>
          </a:p>
        </p:txBody>
      </p:sp>
      <p:sp>
        <p:nvSpPr>
          <p:cNvPr id="10" name="Text 4"/>
          <p:cNvSpPr txBox="1"/>
          <p:nvPr/>
        </p:nvSpPr>
        <p:spPr>
          <a:xfrm>
            <a:off x="1371600" y="4160520"/>
            <a:ext cx="6949440" cy="822960"/>
          </a:xfrm>
          <a:prstGeom prst="rect">
            <a:avLst/>
          </a:prstGeom>
          <a:noFill/>
          <a:ln/>
        </p:spPr>
        <p:txBody>
          <a:bodyPr wrap="square" lIns="0" tIns="0" rIns="0" bIns="0" rtlCol="0" anchor="t"/>
          <a:lstStyle/>
          <a:p>
            <a:pPr marL="0" indent="0">
              <a:buNone/>
            </a:pPr>
            <a:r>
              <a:rPr lang="en-US" sz="1800" dirty="0">
                <a:solidFill>
                  <a:srgbClr val="1F2937"/>
                </a:solidFill>
                <a:latin typeface="Sarabun" pitchFamily="34" charset="0"/>
                <a:ea typeface="Sarabun" pitchFamily="34" charset="-122"/>
                <a:cs typeface="Sarabun" pitchFamily="34" charset="-120"/>
              </a:rPr>
              <a:t>การประเมินคุณภาพโค้ดที่สร้างโดยปัญญาประดิษฐ์ ภายใต้กลยุทธ์การโต้ตอบที่แตกต่างกัน</a:t>
            </a:r>
            <a:endParaRPr lang="en-US" sz="1800" dirty="0"/>
          </a:p>
        </p:txBody>
      </p:sp>
      <p:sp>
        <p:nvSpPr>
          <p:cNvPr id="11" name="Text 5"/>
          <p:cNvSpPr txBox="1"/>
          <p:nvPr/>
        </p:nvSpPr>
        <p:spPr>
          <a:xfrm>
            <a:off x="1371600" y="5257800"/>
            <a:ext cx="6949440" cy="365760"/>
          </a:xfrm>
          <a:prstGeom prst="rect">
            <a:avLst/>
          </a:prstGeom>
          <a:noFill/>
          <a:ln/>
        </p:spPr>
        <p:txBody>
          <a:bodyPr wrap="square" lIns="0" tIns="0" rIns="0" bIns="0" rtlCol="0" anchor="t"/>
          <a:lstStyle/>
          <a:p>
            <a:pPr marL="0" indent="0">
              <a:buNone/>
            </a:pPr>
            <a:r>
              <a:rPr lang="en-US" sz="1700" b="1" dirty="0">
                <a:solidFill>
                  <a:srgbClr val="1C5739"/>
                </a:solidFill>
                <a:latin typeface="Sarabun" pitchFamily="34" charset="0"/>
                <a:ea typeface="Sarabun" pitchFamily="34" charset="-122"/>
                <a:cs typeface="Sarabun" pitchFamily="34" charset="-120"/>
              </a:rPr>
              <a:t>พัชรี ปวงใจ  ·  6714450168</a:t>
            </a:r>
            <a:endParaRPr lang="en-US" sz="1700" dirty="0"/>
          </a:p>
        </p:txBody>
      </p:sp>
      <p:sp>
        <p:nvSpPr>
          <p:cNvPr id="12" name="Text 6"/>
          <p:cNvSpPr txBox="1"/>
          <p:nvPr/>
        </p:nvSpPr>
        <p:spPr>
          <a:xfrm>
            <a:off x="1371600" y="5669280"/>
            <a:ext cx="6949440" cy="292608"/>
          </a:xfrm>
          <a:prstGeom prst="rect">
            <a:avLst/>
          </a:prstGeom>
          <a:noFill/>
          <a:ln/>
        </p:spPr>
        <p:txBody>
          <a:bodyPr wrap="square" lIns="0" tIns="0" rIns="0" bIns="0" rtlCol="0" anchor="t"/>
          <a:lstStyle/>
          <a:p>
            <a:pPr marL="0" indent="0">
              <a:buNone/>
            </a:pPr>
            <a:r>
              <a:rPr lang="en-US" sz="1300" dirty="0">
                <a:solidFill>
                  <a:srgbClr val="6B7280"/>
                </a:solidFill>
                <a:latin typeface="Sarabun" pitchFamily="34" charset="0"/>
                <a:ea typeface="Sarabun" pitchFamily="34" charset="-122"/>
                <a:cs typeface="Sarabun" pitchFamily="34" charset="-120"/>
              </a:rPr>
              <a:t>อาจารย์ที่ปรึกษา: ผศ.อุษา สัมมาพันธ์, Ph.D.</a:t>
            </a:r>
            <a:endParaRPr lang="en-US" sz="1300" dirty="0"/>
          </a:p>
        </p:txBody>
      </p:sp>
      <p:sp>
        <p:nvSpPr>
          <p:cNvPr id="13" name="Text 7"/>
          <p:cNvSpPr txBox="1"/>
          <p:nvPr/>
        </p:nvSpPr>
        <p:spPr>
          <a:xfrm>
            <a:off x="1371600" y="5989320"/>
            <a:ext cx="6949440" cy="292608"/>
          </a:xfrm>
          <a:prstGeom prst="rect">
            <a:avLst/>
          </a:prstGeom>
          <a:noFill/>
          <a:ln/>
        </p:spPr>
        <p:txBody>
          <a:bodyPr wrap="square" lIns="0" tIns="0" rIns="0" bIns="0" rtlCol="0" anchor="t"/>
          <a:lstStyle/>
          <a:p>
            <a:pPr marL="0" indent="0">
              <a:buNone/>
            </a:pPr>
            <a:r>
              <a:rPr lang="en-US" sz="1300" dirty="0">
                <a:solidFill>
                  <a:srgbClr val="6B7280"/>
                </a:solidFill>
                <a:latin typeface="Sarabun" pitchFamily="34" charset="0"/>
                <a:ea typeface="Sarabun" pitchFamily="34" charset="-122"/>
                <a:cs typeface="Sarabun" pitchFamily="34" charset="-120"/>
              </a:rPr>
              <a:t>บัณฑิตวิทยาลัย มหาวิทยาลัยเกษตรศาสตร์  ·  พ.ศ. 2569</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สารบัญ</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หัวข้อการนำเสนอ</a:t>
            </a:r>
            <a:endParaRPr lang="en-US" sz="2800" dirty="0"/>
          </a:p>
        </p:txBody>
      </p:sp>
      <p:sp>
        <p:nvSpPr>
          <p:cNvPr id="4" name="card"/>
          <p:cNvSpPr/>
          <p:nvPr/>
        </p:nvSpPr>
        <p:spPr>
          <a:xfrm>
            <a:off x="548640" y="1691640"/>
            <a:ext cx="3474720" cy="2103120"/>
          </a:xfrm>
          <a:prstGeom prst="roundRect">
            <a:avLst>
              <a:gd name="adj" fmla="val 5217"/>
            </a:avLst>
          </a:prstGeom>
          <a:solidFill>
            <a:srgbClr val="EEF3EF"/>
          </a:solidFill>
          <a:ln w="12700">
            <a:solidFill>
              <a:srgbClr val="EEF3EF"/>
            </a:solidFill>
            <a:prstDash val="solid"/>
          </a:ln>
        </p:spPr>
        <p:txBody>
          <a:bodyPr/>
          <a:lstStyle/>
          <a:p>
            <a:endParaRPr lang="en-TH"/>
          </a:p>
        </p:txBody>
      </p:sp>
      <p:sp>
        <p:nvSpPr>
          <p:cNvPr id="5" name="Shape 3"/>
          <p:cNvSpPr/>
          <p:nvPr/>
        </p:nvSpPr>
        <p:spPr>
          <a:xfrm>
            <a:off x="822960" y="1965960"/>
            <a:ext cx="548640" cy="548640"/>
          </a:xfrm>
          <a:prstGeom prst="ellipse">
            <a:avLst/>
          </a:prstGeom>
          <a:solidFill>
            <a:srgbClr val="1C5739"/>
          </a:solidFill>
          <a:ln w="12700">
            <a:solidFill>
              <a:srgbClr val="1C5739"/>
            </a:solidFill>
            <a:prstDash val="solid"/>
          </a:ln>
        </p:spPr>
        <p:txBody>
          <a:bodyPr/>
          <a:lstStyle/>
          <a:p>
            <a:endParaRPr lang="en-TH"/>
          </a:p>
        </p:txBody>
      </p:sp>
      <p:sp>
        <p:nvSpPr>
          <p:cNvPr id="6" name="Text 4"/>
          <p:cNvSpPr txBox="1"/>
          <p:nvPr/>
        </p:nvSpPr>
        <p:spPr>
          <a:xfrm>
            <a:off x="822960" y="19659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1</a:t>
            </a:r>
            <a:endParaRPr lang="en-US" sz="1600" dirty="0"/>
          </a:p>
        </p:txBody>
      </p:sp>
      <p:sp>
        <p:nvSpPr>
          <p:cNvPr id="7" name="Text 5"/>
          <p:cNvSpPr txBox="1"/>
          <p:nvPr/>
        </p:nvSpPr>
        <p:spPr>
          <a:xfrm>
            <a:off x="822960" y="2651760"/>
            <a:ext cx="2926080" cy="411480"/>
          </a:xfrm>
          <a:prstGeom prst="rect">
            <a:avLst/>
          </a:prstGeom>
          <a:noFill/>
          <a:ln/>
        </p:spPr>
        <p:txBody>
          <a:bodyPr wrap="square" lIns="0" tIns="0" rIns="0" bIns="0" rtlCol="0" anchor="t"/>
          <a:lstStyle/>
          <a:p>
            <a:pPr marL="0" indent="0">
              <a:buNone/>
            </a:pPr>
            <a:r>
              <a:rPr lang="en-US" sz="2000" b="1" dirty="0">
                <a:solidFill>
                  <a:srgbClr val="1C5739"/>
                </a:solidFill>
                <a:latin typeface="Sarabun" pitchFamily="34" charset="0"/>
                <a:ea typeface="Sarabun" pitchFamily="34" charset="-122"/>
                <a:cs typeface="Sarabun" pitchFamily="34" charset="-120"/>
              </a:rPr>
              <a:t>บทนำ</a:t>
            </a:r>
            <a:endParaRPr lang="en-US" sz="2000" dirty="0"/>
          </a:p>
        </p:txBody>
      </p:sp>
      <p:sp>
        <p:nvSpPr>
          <p:cNvPr id="8" name="Text 6"/>
          <p:cNvSpPr txBox="1"/>
          <p:nvPr/>
        </p:nvSpPr>
        <p:spPr>
          <a:xfrm>
            <a:off x="822960" y="3063240"/>
            <a:ext cx="2926080" cy="594360"/>
          </a:xfrm>
          <a:prstGeom prst="rect">
            <a:avLst/>
          </a:prstGeom>
          <a:noFill/>
          <a:ln/>
        </p:spPr>
        <p:txBody>
          <a:bodyPr wrap="square" lIns="0" tIns="0" rIns="0" bIns="0" rtlCol="0" anchor="t"/>
          <a:lstStyle/>
          <a:p>
            <a:pPr marL="0" indent="0">
              <a:buNone/>
            </a:pPr>
            <a:r>
              <a:rPr lang="en-US" sz="1400" dirty="0">
                <a:solidFill>
                  <a:srgbClr val="6B7280"/>
                </a:solidFill>
                <a:latin typeface="Sarabun" pitchFamily="34" charset="0"/>
                <a:ea typeface="Sarabun" pitchFamily="34" charset="-122"/>
                <a:cs typeface="Sarabun" pitchFamily="34" charset="-120"/>
              </a:rPr>
              <a:t>ความเป็นมา วัตถุประสงค์ และขอบเขต</a:t>
            </a:r>
            <a:endParaRPr lang="en-US" sz="1400" dirty="0"/>
          </a:p>
        </p:txBody>
      </p:sp>
      <p:sp>
        <p:nvSpPr>
          <p:cNvPr id="9" name="card"/>
          <p:cNvSpPr/>
          <p:nvPr/>
        </p:nvSpPr>
        <p:spPr>
          <a:xfrm>
            <a:off x="4361688" y="1691640"/>
            <a:ext cx="3474720" cy="2103120"/>
          </a:xfrm>
          <a:prstGeom prst="roundRect">
            <a:avLst>
              <a:gd name="adj" fmla="val 5217"/>
            </a:avLst>
          </a:prstGeom>
          <a:solidFill>
            <a:srgbClr val="EEF3EF"/>
          </a:solidFill>
          <a:ln w="12700">
            <a:solidFill>
              <a:srgbClr val="EEF3EF"/>
            </a:solidFill>
            <a:prstDash val="solid"/>
          </a:ln>
        </p:spPr>
        <p:txBody>
          <a:bodyPr/>
          <a:lstStyle/>
          <a:p>
            <a:endParaRPr lang="en-TH"/>
          </a:p>
        </p:txBody>
      </p:sp>
      <p:sp>
        <p:nvSpPr>
          <p:cNvPr id="10" name="Shape 8"/>
          <p:cNvSpPr/>
          <p:nvPr/>
        </p:nvSpPr>
        <p:spPr>
          <a:xfrm>
            <a:off x="4636008" y="1965960"/>
            <a:ext cx="548640" cy="548640"/>
          </a:xfrm>
          <a:prstGeom prst="ellipse">
            <a:avLst/>
          </a:prstGeom>
          <a:solidFill>
            <a:srgbClr val="1C5739"/>
          </a:solidFill>
          <a:ln w="12700">
            <a:solidFill>
              <a:srgbClr val="1C5739"/>
            </a:solidFill>
            <a:prstDash val="solid"/>
          </a:ln>
        </p:spPr>
        <p:txBody>
          <a:bodyPr/>
          <a:lstStyle/>
          <a:p>
            <a:endParaRPr lang="en-TH"/>
          </a:p>
        </p:txBody>
      </p:sp>
      <p:sp>
        <p:nvSpPr>
          <p:cNvPr id="11" name="Text 9"/>
          <p:cNvSpPr txBox="1"/>
          <p:nvPr/>
        </p:nvSpPr>
        <p:spPr>
          <a:xfrm>
            <a:off x="4636008" y="19659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2</a:t>
            </a:r>
            <a:endParaRPr lang="en-US" sz="1600" dirty="0"/>
          </a:p>
        </p:txBody>
      </p:sp>
      <p:sp>
        <p:nvSpPr>
          <p:cNvPr id="12" name="Text 10"/>
          <p:cNvSpPr txBox="1"/>
          <p:nvPr/>
        </p:nvSpPr>
        <p:spPr>
          <a:xfrm>
            <a:off x="4636008" y="2651760"/>
            <a:ext cx="2926080" cy="411480"/>
          </a:xfrm>
          <a:prstGeom prst="rect">
            <a:avLst/>
          </a:prstGeom>
          <a:noFill/>
          <a:ln/>
        </p:spPr>
        <p:txBody>
          <a:bodyPr wrap="square" lIns="0" tIns="0" rIns="0" bIns="0" rtlCol="0" anchor="t"/>
          <a:lstStyle/>
          <a:p>
            <a:pPr marL="0" indent="0">
              <a:buNone/>
            </a:pPr>
            <a:r>
              <a:rPr lang="en-US" sz="2000" b="1" dirty="0">
                <a:solidFill>
                  <a:srgbClr val="1C5739"/>
                </a:solidFill>
                <a:latin typeface="Sarabun" pitchFamily="34" charset="0"/>
                <a:ea typeface="Sarabun" pitchFamily="34" charset="-122"/>
                <a:cs typeface="Sarabun" pitchFamily="34" charset="-120"/>
              </a:rPr>
              <a:t>แนวคิด ทฤษฎี</a:t>
            </a:r>
            <a:endParaRPr lang="en-US" sz="2000" dirty="0"/>
          </a:p>
        </p:txBody>
      </p:sp>
      <p:sp>
        <p:nvSpPr>
          <p:cNvPr id="13" name="Text 11"/>
          <p:cNvSpPr txBox="1"/>
          <p:nvPr/>
        </p:nvSpPr>
        <p:spPr>
          <a:xfrm>
            <a:off x="4636008" y="3063240"/>
            <a:ext cx="2926080" cy="594360"/>
          </a:xfrm>
          <a:prstGeom prst="rect">
            <a:avLst/>
          </a:prstGeom>
          <a:noFill/>
          <a:ln/>
        </p:spPr>
        <p:txBody>
          <a:bodyPr wrap="square" lIns="0" tIns="0" rIns="0" bIns="0" rtlCol="0" anchor="t"/>
          <a:lstStyle/>
          <a:p>
            <a:pPr marL="0" indent="0">
              <a:buNone/>
            </a:pPr>
            <a:r>
              <a:rPr lang="en-US" sz="1400" dirty="0">
                <a:solidFill>
                  <a:srgbClr val="6B7280"/>
                </a:solidFill>
                <a:latin typeface="Sarabun" pitchFamily="34" charset="0"/>
                <a:ea typeface="Sarabun" pitchFamily="34" charset="-122"/>
                <a:cs typeface="Sarabun" pitchFamily="34" charset="-120"/>
              </a:rPr>
              <a:t>Context Engineering และ Spec-Driven Development</a:t>
            </a:r>
            <a:endParaRPr lang="en-US" sz="1400" dirty="0"/>
          </a:p>
        </p:txBody>
      </p:sp>
      <p:sp>
        <p:nvSpPr>
          <p:cNvPr id="14" name="card"/>
          <p:cNvSpPr/>
          <p:nvPr/>
        </p:nvSpPr>
        <p:spPr>
          <a:xfrm>
            <a:off x="8174736" y="1691640"/>
            <a:ext cx="3474720" cy="2103120"/>
          </a:xfrm>
          <a:prstGeom prst="roundRect">
            <a:avLst>
              <a:gd name="adj" fmla="val 5217"/>
            </a:avLst>
          </a:prstGeom>
          <a:solidFill>
            <a:srgbClr val="EEF3EF"/>
          </a:solidFill>
          <a:ln w="12700">
            <a:solidFill>
              <a:srgbClr val="EEF3EF"/>
            </a:solidFill>
            <a:prstDash val="solid"/>
          </a:ln>
        </p:spPr>
        <p:txBody>
          <a:bodyPr/>
          <a:lstStyle/>
          <a:p>
            <a:endParaRPr lang="en-TH"/>
          </a:p>
        </p:txBody>
      </p:sp>
      <p:sp>
        <p:nvSpPr>
          <p:cNvPr id="15" name="Shape 13"/>
          <p:cNvSpPr/>
          <p:nvPr/>
        </p:nvSpPr>
        <p:spPr>
          <a:xfrm>
            <a:off x="8449056" y="1965960"/>
            <a:ext cx="548640" cy="548640"/>
          </a:xfrm>
          <a:prstGeom prst="ellipse">
            <a:avLst/>
          </a:prstGeom>
          <a:solidFill>
            <a:srgbClr val="1C5739"/>
          </a:solidFill>
          <a:ln w="12700">
            <a:solidFill>
              <a:srgbClr val="1C5739"/>
            </a:solidFill>
            <a:prstDash val="solid"/>
          </a:ln>
        </p:spPr>
        <p:txBody>
          <a:bodyPr/>
          <a:lstStyle/>
          <a:p>
            <a:endParaRPr lang="en-TH"/>
          </a:p>
        </p:txBody>
      </p:sp>
      <p:sp>
        <p:nvSpPr>
          <p:cNvPr id="16" name="Text 14"/>
          <p:cNvSpPr txBox="1"/>
          <p:nvPr/>
        </p:nvSpPr>
        <p:spPr>
          <a:xfrm>
            <a:off x="8449056" y="19659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3</a:t>
            </a:r>
            <a:endParaRPr lang="en-US" sz="1600" dirty="0"/>
          </a:p>
        </p:txBody>
      </p:sp>
      <p:sp>
        <p:nvSpPr>
          <p:cNvPr id="17" name="Text 15"/>
          <p:cNvSpPr txBox="1"/>
          <p:nvPr/>
        </p:nvSpPr>
        <p:spPr>
          <a:xfrm>
            <a:off x="8449056" y="2651760"/>
            <a:ext cx="2926080" cy="411480"/>
          </a:xfrm>
          <a:prstGeom prst="rect">
            <a:avLst/>
          </a:prstGeom>
          <a:noFill/>
          <a:ln/>
        </p:spPr>
        <p:txBody>
          <a:bodyPr wrap="square" lIns="0" tIns="0" rIns="0" bIns="0" rtlCol="0" anchor="t"/>
          <a:lstStyle/>
          <a:p>
            <a:pPr marL="0" indent="0">
              <a:buNone/>
            </a:pPr>
            <a:r>
              <a:rPr lang="en-US" sz="2000" b="1" dirty="0">
                <a:solidFill>
                  <a:srgbClr val="1C5739"/>
                </a:solidFill>
                <a:latin typeface="Sarabun" pitchFamily="34" charset="0"/>
                <a:ea typeface="Sarabun" pitchFamily="34" charset="-122"/>
                <a:cs typeface="Sarabun" pitchFamily="34" charset="-120"/>
              </a:rPr>
              <a:t>ทบทวนวรรณกรรม</a:t>
            </a:r>
            <a:endParaRPr lang="en-US" sz="2000" dirty="0"/>
          </a:p>
        </p:txBody>
      </p:sp>
      <p:sp>
        <p:nvSpPr>
          <p:cNvPr id="18" name="Text 16"/>
          <p:cNvSpPr txBox="1"/>
          <p:nvPr/>
        </p:nvSpPr>
        <p:spPr>
          <a:xfrm>
            <a:off x="8449056" y="3063240"/>
            <a:ext cx="2926080" cy="594360"/>
          </a:xfrm>
          <a:prstGeom prst="rect">
            <a:avLst/>
          </a:prstGeom>
          <a:noFill/>
          <a:ln/>
        </p:spPr>
        <p:txBody>
          <a:bodyPr wrap="square" lIns="0" tIns="0" rIns="0" bIns="0" rtlCol="0" anchor="t"/>
          <a:lstStyle/>
          <a:p>
            <a:pPr marL="0" indent="0">
              <a:buNone/>
            </a:pPr>
            <a:r>
              <a:rPr lang="en-US" sz="1400" dirty="0">
                <a:solidFill>
                  <a:srgbClr val="6B7280"/>
                </a:solidFill>
                <a:latin typeface="Sarabun" pitchFamily="34" charset="0"/>
                <a:ea typeface="Sarabun" pitchFamily="34" charset="-122"/>
                <a:cs typeface="Sarabun" pitchFamily="34" charset="-120"/>
              </a:rPr>
              <a:t>งานวิจัยที่เกี่ยวข้องกับคุณภาพโค้ดจาก AI</a:t>
            </a:r>
            <a:endParaRPr lang="en-US" sz="1400" dirty="0"/>
          </a:p>
        </p:txBody>
      </p:sp>
      <p:sp>
        <p:nvSpPr>
          <p:cNvPr id="19" name="card"/>
          <p:cNvSpPr/>
          <p:nvPr/>
        </p:nvSpPr>
        <p:spPr>
          <a:xfrm>
            <a:off x="548640" y="4114800"/>
            <a:ext cx="3474720" cy="2103120"/>
          </a:xfrm>
          <a:prstGeom prst="roundRect">
            <a:avLst>
              <a:gd name="adj" fmla="val 5217"/>
            </a:avLst>
          </a:prstGeom>
          <a:solidFill>
            <a:srgbClr val="EEF3EF"/>
          </a:solidFill>
          <a:ln w="12700">
            <a:solidFill>
              <a:srgbClr val="EEF3EF"/>
            </a:solidFill>
            <a:prstDash val="solid"/>
          </a:ln>
        </p:spPr>
        <p:txBody>
          <a:bodyPr/>
          <a:lstStyle/>
          <a:p>
            <a:endParaRPr lang="en-TH"/>
          </a:p>
        </p:txBody>
      </p:sp>
      <p:sp>
        <p:nvSpPr>
          <p:cNvPr id="20" name="Shape 18"/>
          <p:cNvSpPr/>
          <p:nvPr/>
        </p:nvSpPr>
        <p:spPr>
          <a:xfrm>
            <a:off x="822960" y="4389120"/>
            <a:ext cx="548640" cy="548640"/>
          </a:xfrm>
          <a:prstGeom prst="ellipse">
            <a:avLst/>
          </a:prstGeom>
          <a:solidFill>
            <a:srgbClr val="1C5739"/>
          </a:solidFill>
          <a:ln w="12700">
            <a:solidFill>
              <a:srgbClr val="1C5739"/>
            </a:solidFill>
            <a:prstDash val="solid"/>
          </a:ln>
        </p:spPr>
        <p:txBody>
          <a:bodyPr/>
          <a:lstStyle/>
          <a:p>
            <a:endParaRPr lang="en-TH"/>
          </a:p>
        </p:txBody>
      </p:sp>
      <p:sp>
        <p:nvSpPr>
          <p:cNvPr id="21" name="Text 19"/>
          <p:cNvSpPr txBox="1"/>
          <p:nvPr/>
        </p:nvSpPr>
        <p:spPr>
          <a:xfrm>
            <a:off x="822960" y="438912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4</a:t>
            </a:r>
            <a:endParaRPr lang="en-US" sz="1600" dirty="0"/>
          </a:p>
        </p:txBody>
      </p:sp>
      <p:sp>
        <p:nvSpPr>
          <p:cNvPr id="22" name="Text 20"/>
          <p:cNvSpPr txBox="1"/>
          <p:nvPr/>
        </p:nvSpPr>
        <p:spPr>
          <a:xfrm>
            <a:off x="822960" y="5074920"/>
            <a:ext cx="2926080" cy="411480"/>
          </a:xfrm>
          <a:prstGeom prst="rect">
            <a:avLst/>
          </a:prstGeom>
          <a:noFill/>
          <a:ln/>
        </p:spPr>
        <p:txBody>
          <a:bodyPr wrap="square" lIns="0" tIns="0" rIns="0" bIns="0" rtlCol="0" anchor="t"/>
          <a:lstStyle/>
          <a:p>
            <a:pPr marL="0" indent="0">
              <a:buNone/>
            </a:pPr>
            <a:r>
              <a:rPr lang="en-US" sz="2000" b="1" dirty="0">
                <a:solidFill>
                  <a:srgbClr val="1C5739"/>
                </a:solidFill>
                <a:latin typeface="Sarabun" pitchFamily="34" charset="0"/>
                <a:ea typeface="Sarabun" pitchFamily="34" charset="-122"/>
                <a:cs typeface="Sarabun" pitchFamily="34" charset="-120"/>
              </a:rPr>
              <a:t>วิธีการดำเนินงาน</a:t>
            </a:r>
            <a:endParaRPr lang="en-US" sz="2000" dirty="0"/>
          </a:p>
        </p:txBody>
      </p:sp>
      <p:sp>
        <p:nvSpPr>
          <p:cNvPr id="23" name="Text 21"/>
          <p:cNvSpPr txBox="1"/>
          <p:nvPr/>
        </p:nvSpPr>
        <p:spPr>
          <a:xfrm>
            <a:off x="822960" y="5486400"/>
            <a:ext cx="2926080" cy="594360"/>
          </a:xfrm>
          <a:prstGeom prst="rect">
            <a:avLst/>
          </a:prstGeom>
          <a:noFill/>
          <a:ln/>
        </p:spPr>
        <p:txBody>
          <a:bodyPr wrap="square" lIns="0" tIns="0" rIns="0" bIns="0" rtlCol="0" anchor="t"/>
          <a:lstStyle/>
          <a:p>
            <a:pPr marL="0" indent="0">
              <a:buNone/>
            </a:pPr>
            <a:r>
              <a:rPr lang="en-US" sz="1400" dirty="0">
                <a:solidFill>
                  <a:srgbClr val="6B7280"/>
                </a:solidFill>
                <a:latin typeface="Sarabun" pitchFamily="34" charset="0"/>
                <a:ea typeface="Sarabun" pitchFamily="34" charset="-122"/>
                <a:cs typeface="Sarabun" pitchFamily="34" charset="-120"/>
              </a:rPr>
              <a:t>การควบคุมการทดลอง 18 เวอร์ชัน และ 3 กลยุทธ์</a:t>
            </a:r>
            <a:endParaRPr lang="en-US" sz="1400" dirty="0"/>
          </a:p>
        </p:txBody>
      </p:sp>
      <p:sp>
        <p:nvSpPr>
          <p:cNvPr id="24" name="card"/>
          <p:cNvSpPr/>
          <p:nvPr/>
        </p:nvSpPr>
        <p:spPr>
          <a:xfrm>
            <a:off x="4361688" y="4114800"/>
            <a:ext cx="3474720" cy="2103120"/>
          </a:xfrm>
          <a:prstGeom prst="roundRect">
            <a:avLst>
              <a:gd name="adj" fmla="val 5217"/>
            </a:avLst>
          </a:prstGeom>
          <a:solidFill>
            <a:srgbClr val="EEF3EF"/>
          </a:solidFill>
          <a:ln w="12700">
            <a:solidFill>
              <a:srgbClr val="EEF3EF"/>
            </a:solidFill>
            <a:prstDash val="solid"/>
          </a:ln>
        </p:spPr>
        <p:txBody>
          <a:bodyPr/>
          <a:lstStyle/>
          <a:p>
            <a:endParaRPr lang="en-TH"/>
          </a:p>
        </p:txBody>
      </p:sp>
      <p:sp>
        <p:nvSpPr>
          <p:cNvPr id="25" name="Shape 23"/>
          <p:cNvSpPr/>
          <p:nvPr/>
        </p:nvSpPr>
        <p:spPr>
          <a:xfrm>
            <a:off x="4636008" y="4389120"/>
            <a:ext cx="548640" cy="548640"/>
          </a:xfrm>
          <a:prstGeom prst="ellipse">
            <a:avLst/>
          </a:prstGeom>
          <a:solidFill>
            <a:srgbClr val="1C5739"/>
          </a:solidFill>
          <a:ln w="12700">
            <a:solidFill>
              <a:srgbClr val="1C5739"/>
            </a:solidFill>
            <a:prstDash val="solid"/>
          </a:ln>
        </p:spPr>
        <p:txBody>
          <a:bodyPr/>
          <a:lstStyle/>
          <a:p>
            <a:endParaRPr lang="en-TH"/>
          </a:p>
        </p:txBody>
      </p:sp>
      <p:sp>
        <p:nvSpPr>
          <p:cNvPr id="26" name="Text 24"/>
          <p:cNvSpPr txBox="1"/>
          <p:nvPr/>
        </p:nvSpPr>
        <p:spPr>
          <a:xfrm>
            <a:off x="4636008" y="438912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5</a:t>
            </a:r>
            <a:endParaRPr lang="en-US" sz="1600" dirty="0"/>
          </a:p>
        </p:txBody>
      </p:sp>
      <p:sp>
        <p:nvSpPr>
          <p:cNvPr id="27" name="Text 25"/>
          <p:cNvSpPr txBox="1"/>
          <p:nvPr/>
        </p:nvSpPr>
        <p:spPr>
          <a:xfrm>
            <a:off x="4636008" y="5074920"/>
            <a:ext cx="2926080" cy="411480"/>
          </a:xfrm>
          <a:prstGeom prst="rect">
            <a:avLst/>
          </a:prstGeom>
          <a:noFill/>
          <a:ln/>
        </p:spPr>
        <p:txBody>
          <a:bodyPr wrap="square" lIns="0" tIns="0" rIns="0" bIns="0" rtlCol="0" anchor="t"/>
          <a:lstStyle/>
          <a:p>
            <a:pPr marL="0" indent="0">
              <a:buNone/>
            </a:pPr>
            <a:r>
              <a:rPr lang="en-US" sz="2000" b="1" dirty="0">
                <a:solidFill>
                  <a:srgbClr val="1C5739"/>
                </a:solidFill>
                <a:latin typeface="Sarabun" pitchFamily="34" charset="0"/>
                <a:ea typeface="Sarabun" pitchFamily="34" charset="-122"/>
                <a:cs typeface="Sarabun" pitchFamily="34" charset="-120"/>
              </a:rPr>
              <a:t>ผลลัพธ์</a:t>
            </a:r>
            <a:endParaRPr lang="en-US" sz="2000" dirty="0"/>
          </a:p>
        </p:txBody>
      </p:sp>
      <p:sp>
        <p:nvSpPr>
          <p:cNvPr id="28" name="Text 26"/>
          <p:cNvSpPr txBox="1"/>
          <p:nvPr/>
        </p:nvSpPr>
        <p:spPr>
          <a:xfrm>
            <a:off x="4636008" y="5486400"/>
            <a:ext cx="2926080" cy="594360"/>
          </a:xfrm>
          <a:prstGeom prst="rect">
            <a:avLst/>
          </a:prstGeom>
          <a:noFill/>
          <a:ln/>
        </p:spPr>
        <p:txBody>
          <a:bodyPr wrap="square" lIns="0" tIns="0" rIns="0" bIns="0" rtlCol="0" anchor="t"/>
          <a:lstStyle/>
          <a:p>
            <a:pPr marL="0" indent="0">
              <a:buNone/>
            </a:pPr>
            <a:r>
              <a:rPr lang="en-US" sz="1400" dirty="0">
                <a:solidFill>
                  <a:srgbClr val="6B7280"/>
                </a:solidFill>
                <a:latin typeface="Sarabun" pitchFamily="34" charset="0"/>
                <a:ea typeface="Sarabun" pitchFamily="34" charset="-122"/>
                <a:cs typeface="Sarabun" pitchFamily="34" charset="-120"/>
              </a:rPr>
              <a:t>ฟังก์ชัน SonarQube CodeQL และ ZAP</a:t>
            </a:r>
            <a:endParaRPr lang="en-US" sz="1400" dirty="0"/>
          </a:p>
        </p:txBody>
      </p:sp>
      <p:sp>
        <p:nvSpPr>
          <p:cNvPr id="29" name="card"/>
          <p:cNvSpPr/>
          <p:nvPr/>
        </p:nvSpPr>
        <p:spPr>
          <a:xfrm>
            <a:off x="8174736" y="4114800"/>
            <a:ext cx="3474720" cy="2103120"/>
          </a:xfrm>
          <a:prstGeom prst="roundRect">
            <a:avLst>
              <a:gd name="adj" fmla="val 5217"/>
            </a:avLst>
          </a:prstGeom>
          <a:solidFill>
            <a:srgbClr val="EEF3EF"/>
          </a:solidFill>
          <a:ln w="12700">
            <a:solidFill>
              <a:srgbClr val="EEF3EF"/>
            </a:solidFill>
            <a:prstDash val="solid"/>
          </a:ln>
        </p:spPr>
        <p:txBody>
          <a:bodyPr/>
          <a:lstStyle/>
          <a:p>
            <a:endParaRPr lang="en-TH"/>
          </a:p>
        </p:txBody>
      </p:sp>
      <p:sp>
        <p:nvSpPr>
          <p:cNvPr id="30" name="Shape 28"/>
          <p:cNvSpPr/>
          <p:nvPr/>
        </p:nvSpPr>
        <p:spPr>
          <a:xfrm>
            <a:off x="8449056" y="4389120"/>
            <a:ext cx="548640" cy="548640"/>
          </a:xfrm>
          <a:prstGeom prst="ellipse">
            <a:avLst/>
          </a:prstGeom>
          <a:solidFill>
            <a:srgbClr val="1C5739"/>
          </a:solidFill>
          <a:ln w="12700">
            <a:solidFill>
              <a:srgbClr val="1C5739"/>
            </a:solidFill>
            <a:prstDash val="solid"/>
          </a:ln>
        </p:spPr>
        <p:txBody>
          <a:bodyPr/>
          <a:lstStyle/>
          <a:p>
            <a:endParaRPr lang="en-TH"/>
          </a:p>
        </p:txBody>
      </p:sp>
      <p:sp>
        <p:nvSpPr>
          <p:cNvPr id="31" name="Text 29"/>
          <p:cNvSpPr txBox="1"/>
          <p:nvPr/>
        </p:nvSpPr>
        <p:spPr>
          <a:xfrm>
            <a:off x="8449056" y="438912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6</a:t>
            </a:r>
            <a:endParaRPr lang="en-US" sz="1600" dirty="0"/>
          </a:p>
        </p:txBody>
      </p:sp>
      <p:sp>
        <p:nvSpPr>
          <p:cNvPr id="32" name="Text 30"/>
          <p:cNvSpPr txBox="1"/>
          <p:nvPr/>
        </p:nvSpPr>
        <p:spPr>
          <a:xfrm>
            <a:off x="8449056" y="5074920"/>
            <a:ext cx="2926080" cy="411480"/>
          </a:xfrm>
          <a:prstGeom prst="rect">
            <a:avLst/>
          </a:prstGeom>
          <a:noFill/>
          <a:ln/>
        </p:spPr>
        <p:txBody>
          <a:bodyPr wrap="square" lIns="0" tIns="0" rIns="0" bIns="0" rtlCol="0" anchor="t"/>
          <a:lstStyle/>
          <a:p>
            <a:pPr marL="0" indent="0">
              <a:buNone/>
            </a:pPr>
            <a:r>
              <a:rPr lang="en-US" sz="2000" b="1" dirty="0">
                <a:solidFill>
                  <a:srgbClr val="1C5739"/>
                </a:solidFill>
                <a:latin typeface="Sarabun" pitchFamily="34" charset="0"/>
                <a:ea typeface="Sarabun" pitchFamily="34" charset="-122"/>
                <a:cs typeface="Sarabun" pitchFamily="34" charset="-120"/>
              </a:rPr>
              <a:t>สรุปผลและข้อเสนอแนะ</a:t>
            </a:r>
            <a:endParaRPr lang="en-US" sz="2000" dirty="0"/>
          </a:p>
        </p:txBody>
      </p:sp>
      <p:sp>
        <p:nvSpPr>
          <p:cNvPr id="33" name="Text 31"/>
          <p:cNvSpPr txBox="1"/>
          <p:nvPr/>
        </p:nvSpPr>
        <p:spPr>
          <a:xfrm>
            <a:off x="8449056" y="5486400"/>
            <a:ext cx="2926080" cy="594360"/>
          </a:xfrm>
          <a:prstGeom prst="rect">
            <a:avLst/>
          </a:prstGeom>
          <a:noFill/>
          <a:ln/>
        </p:spPr>
        <p:txBody>
          <a:bodyPr wrap="square" lIns="0" tIns="0" rIns="0" bIns="0" rtlCol="0" anchor="t"/>
          <a:lstStyle/>
          <a:p>
            <a:pPr marL="0" indent="0">
              <a:buNone/>
            </a:pPr>
            <a:r>
              <a:rPr lang="en-US" sz="1400" dirty="0">
                <a:solidFill>
                  <a:srgbClr val="6B7280"/>
                </a:solidFill>
                <a:latin typeface="Sarabun" pitchFamily="34" charset="0"/>
                <a:ea typeface="Sarabun" pitchFamily="34" charset="-122"/>
                <a:cs typeface="Sarabun" pitchFamily="34" charset="-120"/>
              </a:rPr>
              <a:t>ข้อดี ข้อจำกัด และเงื่อนไขการใช้งาน</a:t>
            </a:r>
            <a:endParaRPr lang="en-US" sz="1400" dirty="0"/>
          </a:p>
        </p:txBody>
      </p:sp>
      <p:sp>
        <p:nvSpPr>
          <p:cNvPr id="34"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1  บทนำ</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ความเป็นมาและความสำคัญของปัญหา</a:t>
            </a:r>
            <a:endParaRPr lang="en-US" sz="2800" dirty="0"/>
          </a:p>
        </p:txBody>
      </p:sp>
      <p:sp>
        <p:nvSpPr>
          <p:cNvPr id="4" name="Shape 2"/>
          <p:cNvSpPr/>
          <p:nvPr/>
        </p:nvSpPr>
        <p:spPr>
          <a:xfrm>
            <a:off x="548640" y="1691640"/>
            <a:ext cx="457200" cy="457200"/>
          </a:xfrm>
          <a:prstGeom prst="ellipse">
            <a:avLst/>
          </a:prstGeom>
          <a:solidFill>
            <a:srgbClr val="1C5739"/>
          </a:solidFill>
          <a:ln w="12700">
            <a:solidFill>
              <a:srgbClr val="1C5739"/>
            </a:solidFill>
            <a:prstDash val="solid"/>
          </a:ln>
        </p:spPr>
        <p:txBody>
          <a:bodyPr/>
          <a:lstStyle/>
          <a:p>
            <a:endParaRPr lang="en-TH"/>
          </a:p>
        </p:txBody>
      </p:sp>
      <p:sp>
        <p:nvSpPr>
          <p:cNvPr id="5" name="Text 3"/>
          <p:cNvSpPr txBox="1"/>
          <p:nvPr/>
        </p:nvSpPr>
        <p:spPr>
          <a:xfrm>
            <a:off x="548640" y="16916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1</a:t>
            </a:r>
            <a:endParaRPr lang="en-US" sz="1600" dirty="0"/>
          </a:p>
        </p:txBody>
      </p:sp>
      <p:sp>
        <p:nvSpPr>
          <p:cNvPr id="6" name="Text 4"/>
          <p:cNvSpPr txBox="1"/>
          <p:nvPr/>
        </p:nvSpPr>
        <p:spPr>
          <a:xfrm>
            <a:off x="1234440" y="1645920"/>
            <a:ext cx="5760720" cy="365760"/>
          </a:xfrm>
          <a:prstGeom prst="rect">
            <a:avLst/>
          </a:prstGeom>
          <a:noFill/>
          <a:ln/>
        </p:spPr>
        <p:txBody>
          <a:bodyPr wrap="square" lIns="0" tIns="0" rIns="0" bIns="0" rtlCol="0" anchor="t"/>
          <a:lstStyle/>
          <a:p>
            <a:pPr marL="0" indent="0">
              <a:buNone/>
            </a:pPr>
            <a:r>
              <a:rPr lang="en-US" sz="1900" b="1" dirty="0">
                <a:solidFill>
                  <a:srgbClr val="1C5739"/>
                </a:solidFill>
                <a:latin typeface="Sarabun" pitchFamily="34" charset="0"/>
                <a:ea typeface="Sarabun" pitchFamily="34" charset="-122"/>
                <a:cs typeface="Sarabun" pitchFamily="34" charset="-120"/>
              </a:rPr>
              <a:t>โค้ดจาก AI ยังมีจุดอ่อน</a:t>
            </a:r>
            <a:endParaRPr lang="en-US" sz="1900" dirty="0"/>
          </a:p>
        </p:txBody>
      </p:sp>
      <p:sp>
        <p:nvSpPr>
          <p:cNvPr id="7" name="Text 5"/>
          <p:cNvSpPr txBox="1"/>
          <p:nvPr/>
        </p:nvSpPr>
        <p:spPr>
          <a:xfrm>
            <a:off x="1234440" y="2103120"/>
            <a:ext cx="5760720" cy="1005840"/>
          </a:xfrm>
          <a:prstGeom prst="rect">
            <a:avLst/>
          </a:prstGeom>
          <a:noFill/>
          <a:ln/>
        </p:spPr>
        <p:txBody>
          <a:bodyPr wrap="square" lIns="0" tIns="0" rIns="0" bIns="0" rtlCol="0" anchor="t"/>
          <a:lstStyle/>
          <a:p>
            <a:pPr marL="0" indent="0">
              <a:buNone/>
            </a:pPr>
            <a:r>
              <a:rPr lang="en-US" sz="1500" dirty="0">
                <a:solidFill>
                  <a:srgbClr val="1F2937"/>
                </a:solidFill>
                <a:latin typeface="Sarabun" pitchFamily="34" charset="0"/>
                <a:ea typeface="Sarabun" pitchFamily="34" charset="-122"/>
                <a:cs typeface="Sarabun" pitchFamily="34" charset="-120"/>
              </a:rPr>
              <a:t>งานวิจัยก่อนหน้าชี้ว่ายังมีปัญหาด้านโครงสร้าง การบำรุงรักษา และช่องโหว่ด้านความปลอดภัย</a:t>
            </a:r>
            <a:endParaRPr lang="en-US" sz="1500" dirty="0"/>
          </a:p>
        </p:txBody>
      </p:sp>
      <p:sp>
        <p:nvSpPr>
          <p:cNvPr id="8" name="Shape 6"/>
          <p:cNvSpPr/>
          <p:nvPr/>
        </p:nvSpPr>
        <p:spPr>
          <a:xfrm>
            <a:off x="548640" y="3246120"/>
            <a:ext cx="457200" cy="457200"/>
          </a:xfrm>
          <a:prstGeom prst="ellipse">
            <a:avLst/>
          </a:prstGeom>
          <a:solidFill>
            <a:srgbClr val="1C5739"/>
          </a:solidFill>
          <a:ln w="12700">
            <a:solidFill>
              <a:srgbClr val="1C5739"/>
            </a:solidFill>
            <a:prstDash val="solid"/>
          </a:ln>
        </p:spPr>
        <p:txBody>
          <a:bodyPr/>
          <a:lstStyle/>
          <a:p>
            <a:endParaRPr lang="en-TH"/>
          </a:p>
        </p:txBody>
      </p:sp>
      <p:sp>
        <p:nvSpPr>
          <p:cNvPr id="9" name="Text 7"/>
          <p:cNvSpPr txBox="1"/>
          <p:nvPr/>
        </p:nvSpPr>
        <p:spPr>
          <a:xfrm>
            <a:off x="548640" y="32461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2</a:t>
            </a:r>
            <a:endParaRPr lang="en-US" sz="1600" dirty="0"/>
          </a:p>
        </p:txBody>
      </p:sp>
      <p:sp>
        <p:nvSpPr>
          <p:cNvPr id="10" name="Text 8"/>
          <p:cNvSpPr txBox="1"/>
          <p:nvPr/>
        </p:nvSpPr>
        <p:spPr>
          <a:xfrm>
            <a:off x="1234440" y="3200400"/>
            <a:ext cx="5760720" cy="365760"/>
          </a:xfrm>
          <a:prstGeom prst="rect">
            <a:avLst/>
          </a:prstGeom>
          <a:noFill/>
          <a:ln/>
        </p:spPr>
        <p:txBody>
          <a:bodyPr wrap="square" lIns="0" tIns="0" rIns="0" bIns="0" rtlCol="0" anchor="t"/>
          <a:lstStyle/>
          <a:p>
            <a:pPr marL="0" indent="0">
              <a:buNone/>
            </a:pPr>
            <a:r>
              <a:rPr lang="en-US" sz="1900" b="1" dirty="0">
                <a:solidFill>
                  <a:srgbClr val="1C5739"/>
                </a:solidFill>
                <a:latin typeface="Sarabun" pitchFamily="34" charset="0"/>
                <a:ea typeface="Sarabun" pitchFamily="34" charset="-122"/>
                <a:cs typeface="Sarabun" pitchFamily="34" charset="-120"/>
              </a:rPr>
              <a:t>LLM ถูกใช้สร้างโค้ดอย่างแพร่หลาย</a:t>
            </a:r>
            <a:endParaRPr lang="en-US" sz="1900" dirty="0"/>
          </a:p>
        </p:txBody>
      </p:sp>
      <p:sp>
        <p:nvSpPr>
          <p:cNvPr id="11" name="Text 9"/>
          <p:cNvSpPr txBox="1"/>
          <p:nvPr/>
        </p:nvSpPr>
        <p:spPr>
          <a:xfrm>
            <a:off x="1234440" y="3657600"/>
            <a:ext cx="5760720" cy="1005840"/>
          </a:xfrm>
          <a:prstGeom prst="rect">
            <a:avLst/>
          </a:prstGeom>
          <a:noFill/>
          <a:ln/>
        </p:spPr>
        <p:txBody>
          <a:bodyPr wrap="square" lIns="0" tIns="0" rIns="0" bIns="0" rtlCol="0" anchor="t"/>
          <a:lstStyle/>
          <a:p>
            <a:pPr marL="0" indent="0">
              <a:buNone/>
            </a:pPr>
            <a:r>
              <a:rPr lang="en-US" sz="1500" dirty="0">
                <a:solidFill>
                  <a:srgbClr val="1F2937"/>
                </a:solidFill>
                <a:latin typeface="Sarabun" pitchFamily="34" charset="0"/>
                <a:ea typeface="Sarabun" pitchFamily="34" charset="-122"/>
                <a:cs typeface="Sarabun" pitchFamily="34" charset="-120"/>
              </a:rPr>
              <a:t>แต่วิธีโต้ตอบกับโมเดลต่างกัน ทั้ง Basic Prompting, Context Engineering และ Spec-Driven Development ซึ่งมีระดับโครงสร้างของข้อมูลนำเข้าไม่เท่ากัน</a:t>
            </a:r>
            <a:endParaRPr lang="en-US" sz="1500" dirty="0"/>
          </a:p>
        </p:txBody>
      </p:sp>
      <p:sp>
        <p:nvSpPr>
          <p:cNvPr id="12" name="Shape 10"/>
          <p:cNvSpPr/>
          <p:nvPr/>
        </p:nvSpPr>
        <p:spPr>
          <a:xfrm>
            <a:off x="548640" y="4800600"/>
            <a:ext cx="457200" cy="457200"/>
          </a:xfrm>
          <a:prstGeom prst="ellipse">
            <a:avLst/>
          </a:prstGeom>
          <a:solidFill>
            <a:srgbClr val="1C5739"/>
          </a:solidFill>
          <a:ln w="12700">
            <a:solidFill>
              <a:srgbClr val="1C5739"/>
            </a:solidFill>
            <a:prstDash val="solid"/>
          </a:ln>
        </p:spPr>
        <p:txBody>
          <a:bodyPr/>
          <a:lstStyle/>
          <a:p>
            <a:endParaRPr lang="en-TH"/>
          </a:p>
        </p:txBody>
      </p:sp>
      <p:sp>
        <p:nvSpPr>
          <p:cNvPr id="13" name="Text 11"/>
          <p:cNvSpPr txBox="1"/>
          <p:nvPr/>
        </p:nvSpPr>
        <p:spPr>
          <a:xfrm>
            <a:off x="548640" y="48006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3</a:t>
            </a:r>
            <a:endParaRPr lang="en-US" sz="1600" dirty="0"/>
          </a:p>
        </p:txBody>
      </p:sp>
      <p:sp>
        <p:nvSpPr>
          <p:cNvPr id="14" name="Text 12"/>
          <p:cNvSpPr txBox="1"/>
          <p:nvPr/>
        </p:nvSpPr>
        <p:spPr>
          <a:xfrm>
            <a:off x="1234440" y="4754880"/>
            <a:ext cx="5760720" cy="365760"/>
          </a:xfrm>
          <a:prstGeom prst="rect">
            <a:avLst/>
          </a:prstGeom>
          <a:noFill/>
          <a:ln/>
        </p:spPr>
        <p:txBody>
          <a:bodyPr wrap="square" lIns="0" tIns="0" rIns="0" bIns="0" rtlCol="0" anchor="t"/>
          <a:lstStyle/>
          <a:p>
            <a:pPr marL="0" indent="0">
              <a:buNone/>
            </a:pPr>
            <a:r>
              <a:rPr lang="en-US" sz="1900" b="1" dirty="0">
                <a:solidFill>
                  <a:srgbClr val="1C5739"/>
                </a:solidFill>
                <a:latin typeface="Sarabun" pitchFamily="34" charset="0"/>
                <a:ea typeface="Sarabun" pitchFamily="34" charset="-122"/>
                <a:cs typeface="Sarabun" pitchFamily="34" charset="-120"/>
              </a:rPr>
              <a:t>ยังขาดการเปรียบเทียบภายใต้กรอบเดียวกัน</a:t>
            </a:r>
            <a:endParaRPr lang="en-US" sz="1900" dirty="0"/>
          </a:p>
        </p:txBody>
      </p:sp>
      <p:sp>
        <p:nvSpPr>
          <p:cNvPr id="15" name="Text 13"/>
          <p:cNvSpPr txBox="1"/>
          <p:nvPr/>
        </p:nvSpPr>
        <p:spPr>
          <a:xfrm>
            <a:off x="1234440" y="5212080"/>
            <a:ext cx="5760720" cy="1005840"/>
          </a:xfrm>
          <a:prstGeom prst="rect">
            <a:avLst/>
          </a:prstGeom>
          <a:noFill/>
          <a:ln/>
        </p:spPr>
        <p:txBody>
          <a:bodyPr wrap="square" lIns="0" tIns="0" rIns="0" bIns="0" rtlCol="0" anchor="t"/>
          <a:lstStyle/>
          <a:p>
            <a:pPr marL="0" indent="0">
              <a:buNone/>
            </a:pPr>
            <a:r>
              <a:rPr lang="en-US" sz="1500" dirty="0">
                <a:solidFill>
                  <a:srgbClr val="1F2937"/>
                </a:solidFill>
                <a:latin typeface="Sarabun" pitchFamily="34" charset="0"/>
                <a:ea typeface="Sarabun" pitchFamily="34" charset="-122"/>
                <a:cs typeface="Sarabun" pitchFamily="34" charset="-120"/>
              </a:rPr>
              <a:t>งานนี้เปรียบเทียบทั้งสามกลยุทธ์ด้วยโมเดลเดียวกัน (GPT-5.2) และเกณฑ์การประเมินเดียวกัน</a:t>
            </a:r>
            <a:endParaRPr lang="en-US" sz="1500" dirty="0"/>
          </a:p>
        </p:txBody>
      </p:sp>
      <p:sp>
        <p:nvSpPr>
          <p:cNvPr id="16" name="card"/>
          <p:cNvSpPr/>
          <p:nvPr/>
        </p:nvSpPr>
        <p:spPr>
          <a:xfrm>
            <a:off x="7273489" y="2526630"/>
            <a:ext cx="4599432" cy="2334126"/>
          </a:xfrm>
          <a:prstGeom prst="roundRect">
            <a:avLst>
              <a:gd name="adj" fmla="val 2400"/>
            </a:avLst>
          </a:prstGeom>
          <a:solidFill>
            <a:srgbClr val="1C5739"/>
          </a:solidFill>
          <a:ln w="12700">
            <a:solidFill>
              <a:srgbClr val="1C5739"/>
            </a:solidFill>
            <a:prstDash val="solid"/>
          </a:ln>
        </p:spPr>
        <p:txBody>
          <a:bodyPr/>
          <a:lstStyle/>
          <a:p>
            <a:endParaRPr lang="en-TH" dirty="0"/>
          </a:p>
        </p:txBody>
      </p:sp>
      <p:sp>
        <p:nvSpPr>
          <p:cNvPr id="17" name="Text 15"/>
          <p:cNvSpPr txBox="1"/>
          <p:nvPr/>
        </p:nvSpPr>
        <p:spPr>
          <a:xfrm>
            <a:off x="7607245" y="2948940"/>
            <a:ext cx="3931920" cy="320040"/>
          </a:xfrm>
          <a:prstGeom prst="rect">
            <a:avLst/>
          </a:prstGeom>
          <a:noFill/>
          <a:ln/>
        </p:spPr>
        <p:txBody>
          <a:bodyPr wrap="square" lIns="0" tIns="0" rIns="0" bIns="0" rtlCol="0" anchor="t"/>
          <a:lstStyle/>
          <a:p>
            <a:r>
              <a:rPr lang="th-TH" sz="1300" b="1" dirty="0">
                <a:solidFill>
                  <a:srgbClr val="C5CF2E"/>
                </a:solidFill>
                <a:latin typeface="Sarabun" pitchFamily="34" charset="0"/>
                <a:cs typeface="Sarabun" pitchFamily="34" charset="-120"/>
              </a:rPr>
              <a:t>คำถามของ</a:t>
            </a:r>
            <a:r>
              <a:rPr lang="en-US" sz="1300" b="1" dirty="0" err="1">
                <a:solidFill>
                  <a:srgbClr val="C5CF2E"/>
                </a:solidFill>
                <a:latin typeface="Sarabun" pitchFamily="34" charset="0"/>
                <a:cs typeface="Sarabun" pitchFamily="34" charset="-120"/>
              </a:rPr>
              <a:t>การศึกษาค้นคว้าอิสระ</a:t>
            </a:r>
            <a:endParaRPr lang="en-US" sz="1300" b="1" dirty="0">
              <a:solidFill>
                <a:srgbClr val="C5CF2E"/>
              </a:solidFill>
              <a:latin typeface="Sarabun" pitchFamily="34" charset="0"/>
              <a:cs typeface="Sarabun" pitchFamily="34" charset="-120"/>
            </a:endParaRPr>
          </a:p>
        </p:txBody>
      </p:sp>
      <p:sp>
        <p:nvSpPr>
          <p:cNvPr id="18" name="Text 16"/>
          <p:cNvSpPr txBox="1"/>
          <p:nvPr/>
        </p:nvSpPr>
        <p:spPr>
          <a:xfrm>
            <a:off x="7593529" y="3246120"/>
            <a:ext cx="4023360" cy="2011680"/>
          </a:xfrm>
          <a:prstGeom prst="rect">
            <a:avLst/>
          </a:prstGeom>
          <a:noFill/>
          <a:ln/>
        </p:spPr>
        <p:txBody>
          <a:bodyPr wrap="square" lIns="0" tIns="0" rIns="0" bIns="0" rtlCol="0" anchor="t"/>
          <a:lstStyle/>
          <a:p>
            <a:pPr>
              <a:lnSpc>
                <a:spcPct val="150000"/>
              </a:lnSpc>
            </a:pPr>
            <a:r>
              <a:rPr lang="en-US" sz="2400" dirty="0" err="1">
                <a:solidFill>
                  <a:schemeClr val="bg1"/>
                </a:solidFill>
                <a:latin typeface="Sarabun" pitchFamily="34" charset="0"/>
                <a:ea typeface="Sarabun" pitchFamily="34" charset="-122"/>
                <a:cs typeface="Sarabun" pitchFamily="34" charset="-120"/>
              </a:rPr>
              <a:t>กลยุทธ์ใดช่วยยกระดับคุณภาพของโค้ดที่สร้างโดย</a:t>
            </a:r>
            <a:r>
              <a:rPr lang="en-US" sz="2400" dirty="0">
                <a:solidFill>
                  <a:schemeClr val="bg1"/>
                </a:solidFill>
                <a:latin typeface="Sarabun" pitchFamily="34" charset="0"/>
                <a:ea typeface="Sarabun" pitchFamily="34" charset="-122"/>
                <a:cs typeface="Sarabun" pitchFamily="34" charset="-120"/>
              </a:rPr>
              <a:t> AI ได้ดีที่สุด</a:t>
            </a:r>
            <a:endParaRPr lang="en-US" sz="2000" dirty="0">
              <a:solidFill>
                <a:schemeClr val="bg1"/>
              </a:solidFill>
            </a:endParaRPr>
          </a:p>
        </p:txBody>
      </p:sp>
      <p:sp>
        <p:nvSpPr>
          <p:cNvPr id="27"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1  บทนำ</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วัตถุประสงค์การศึกษาค้นคว้าอิสระ</a:t>
            </a:r>
            <a:endParaRPr lang="en-US" sz="2800" dirty="0"/>
          </a:p>
        </p:txBody>
      </p:sp>
      <p:sp>
        <p:nvSpPr>
          <p:cNvPr id="4" name="card"/>
          <p:cNvSpPr/>
          <p:nvPr/>
        </p:nvSpPr>
        <p:spPr>
          <a:xfrm>
            <a:off x="548640" y="1691640"/>
            <a:ext cx="5422392" cy="4297680"/>
          </a:xfrm>
          <a:prstGeom prst="roundRect">
            <a:avLst>
              <a:gd name="adj" fmla="val 2553"/>
            </a:avLst>
          </a:prstGeom>
          <a:solidFill>
            <a:srgbClr val="EEF3EF"/>
          </a:solidFill>
          <a:ln w="12700">
            <a:solidFill>
              <a:srgbClr val="EEF3EF"/>
            </a:solidFill>
            <a:prstDash val="solid"/>
          </a:ln>
        </p:spPr>
        <p:txBody>
          <a:bodyPr/>
          <a:lstStyle/>
          <a:p>
            <a:endParaRPr lang="en-TH"/>
          </a:p>
        </p:txBody>
      </p:sp>
      <p:sp>
        <p:nvSpPr>
          <p:cNvPr id="5" name="Shape 3"/>
          <p:cNvSpPr/>
          <p:nvPr/>
        </p:nvSpPr>
        <p:spPr>
          <a:xfrm>
            <a:off x="914400" y="2011680"/>
            <a:ext cx="731520" cy="731520"/>
          </a:xfrm>
          <a:prstGeom prst="ellipse">
            <a:avLst/>
          </a:prstGeom>
          <a:solidFill>
            <a:srgbClr val="1C5739"/>
          </a:solidFill>
          <a:ln w="12700">
            <a:solidFill>
              <a:srgbClr val="1C5739"/>
            </a:solidFill>
            <a:prstDash val="solid"/>
          </a:ln>
        </p:spPr>
        <p:txBody>
          <a:bodyPr/>
          <a:lstStyle/>
          <a:p>
            <a:endParaRPr lang="en-TH"/>
          </a:p>
        </p:txBody>
      </p:sp>
      <p:sp>
        <p:nvSpPr>
          <p:cNvPr id="6" name="Text 4"/>
          <p:cNvSpPr txBox="1"/>
          <p:nvPr/>
        </p:nvSpPr>
        <p:spPr>
          <a:xfrm>
            <a:off x="914400" y="2011680"/>
            <a:ext cx="73152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1</a:t>
            </a:r>
            <a:endParaRPr lang="en-US" sz="1600" dirty="0"/>
          </a:p>
        </p:txBody>
      </p:sp>
      <p:sp>
        <p:nvSpPr>
          <p:cNvPr id="7" name="Text 5"/>
          <p:cNvSpPr txBox="1"/>
          <p:nvPr/>
        </p:nvSpPr>
        <p:spPr>
          <a:xfrm>
            <a:off x="914400" y="2926080"/>
            <a:ext cx="4690872" cy="457200"/>
          </a:xfrm>
          <a:prstGeom prst="rect">
            <a:avLst/>
          </a:prstGeom>
          <a:noFill/>
          <a:ln/>
        </p:spPr>
        <p:txBody>
          <a:bodyPr wrap="square" lIns="0" tIns="0" rIns="0" bIns="0" rtlCol="0" anchor="t"/>
          <a:lstStyle/>
          <a:p>
            <a:pPr marL="0" indent="0">
              <a:buNone/>
            </a:pPr>
            <a:r>
              <a:rPr lang="en-US" sz="2200" b="1" dirty="0">
                <a:solidFill>
                  <a:srgbClr val="1C5739"/>
                </a:solidFill>
                <a:latin typeface="Sarabun" pitchFamily="34" charset="0"/>
                <a:ea typeface="Sarabun" pitchFamily="34" charset="-122"/>
                <a:cs typeface="Sarabun" pitchFamily="34" charset="-120"/>
              </a:rPr>
              <a:t>เปรียบเทียบคุณภาพ</a:t>
            </a:r>
            <a:endParaRPr lang="en-US" sz="2200" dirty="0"/>
          </a:p>
        </p:txBody>
      </p:sp>
      <p:sp>
        <p:nvSpPr>
          <p:cNvPr id="8" name="Text 6"/>
          <p:cNvSpPr txBox="1"/>
          <p:nvPr/>
        </p:nvSpPr>
        <p:spPr>
          <a:xfrm>
            <a:off x="914400" y="3520440"/>
            <a:ext cx="4690872" cy="2286000"/>
          </a:xfrm>
          <a:prstGeom prst="rect">
            <a:avLst/>
          </a:prstGeom>
          <a:noFill/>
          <a:ln/>
        </p:spPr>
        <p:txBody>
          <a:bodyPr wrap="square" lIns="0" tIns="0" rIns="0" bIns="0" rtlCol="0" anchor="t"/>
          <a:lstStyle/>
          <a:p>
            <a:pPr marL="0" indent="0">
              <a:buNone/>
            </a:pPr>
            <a:r>
              <a:rPr lang="en-US" sz="1600" dirty="0">
                <a:solidFill>
                  <a:srgbClr val="1F2937"/>
                </a:solidFill>
                <a:latin typeface="Sarabun" pitchFamily="34" charset="0"/>
                <a:ea typeface="Sarabun" pitchFamily="34" charset="-122"/>
                <a:cs typeface="Sarabun" pitchFamily="34" charset="-120"/>
              </a:rPr>
              <a:t>เพื่อเปรียบเทียบคุณภาพซอร์สโค้ดที่สร้างโดย AI จากกลยุทธ์การโต้ตอบ 3 รูปแบบ ได้แก่ Basic Prompting (BP), Context Engineering (CE) และ Spec-Driven Development (SDD) ภายใต้เงื่อนไขการทดลองที่ควบคุมตัวแปรในลักษณะเดียวกัน</a:t>
            </a:r>
            <a:endParaRPr lang="en-US" sz="1600" dirty="0"/>
          </a:p>
        </p:txBody>
      </p:sp>
      <p:sp>
        <p:nvSpPr>
          <p:cNvPr id="9" name="card"/>
          <p:cNvSpPr/>
          <p:nvPr/>
        </p:nvSpPr>
        <p:spPr>
          <a:xfrm>
            <a:off x="6217920" y="1691640"/>
            <a:ext cx="5422392" cy="4297680"/>
          </a:xfrm>
          <a:prstGeom prst="roundRect">
            <a:avLst>
              <a:gd name="adj" fmla="val 2553"/>
            </a:avLst>
          </a:prstGeom>
          <a:solidFill>
            <a:srgbClr val="EEF3EF"/>
          </a:solidFill>
          <a:ln w="12700">
            <a:solidFill>
              <a:srgbClr val="EEF3EF"/>
            </a:solidFill>
            <a:prstDash val="solid"/>
          </a:ln>
        </p:spPr>
        <p:txBody>
          <a:bodyPr/>
          <a:lstStyle/>
          <a:p>
            <a:endParaRPr lang="en-TH"/>
          </a:p>
        </p:txBody>
      </p:sp>
      <p:sp>
        <p:nvSpPr>
          <p:cNvPr id="10" name="Shape 8"/>
          <p:cNvSpPr/>
          <p:nvPr/>
        </p:nvSpPr>
        <p:spPr>
          <a:xfrm>
            <a:off x="6583680" y="2011680"/>
            <a:ext cx="731520" cy="731520"/>
          </a:xfrm>
          <a:prstGeom prst="ellipse">
            <a:avLst/>
          </a:prstGeom>
          <a:solidFill>
            <a:srgbClr val="1FA971"/>
          </a:solidFill>
          <a:ln w="12700">
            <a:solidFill>
              <a:srgbClr val="1FA971"/>
            </a:solidFill>
            <a:prstDash val="solid"/>
          </a:ln>
        </p:spPr>
        <p:txBody>
          <a:bodyPr/>
          <a:lstStyle/>
          <a:p>
            <a:endParaRPr lang="en-TH"/>
          </a:p>
        </p:txBody>
      </p:sp>
      <p:sp>
        <p:nvSpPr>
          <p:cNvPr id="11" name="Text 9"/>
          <p:cNvSpPr txBox="1"/>
          <p:nvPr/>
        </p:nvSpPr>
        <p:spPr>
          <a:xfrm>
            <a:off x="6583680" y="2011680"/>
            <a:ext cx="73152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2</a:t>
            </a:r>
            <a:endParaRPr lang="en-US" sz="1600" dirty="0"/>
          </a:p>
        </p:txBody>
      </p:sp>
      <p:sp>
        <p:nvSpPr>
          <p:cNvPr id="12" name="Text 10"/>
          <p:cNvSpPr txBox="1"/>
          <p:nvPr/>
        </p:nvSpPr>
        <p:spPr>
          <a:xfrm>
            <a:off x="6583680" y="2926080"/>
            <a:ext cx="4690872" cy="457200"/>
          </a:xfrm>
          <a:prstGeom prst="rect">
            <a:avLst/>
          </a:prstGeom>
          <a:noFill/>
          <a:ln/>
        </p:spPr>
        <p:txBody>
          <a:bodyPr wrap="square" lIns="0" tIns="0" rIns="0" bIns="0" rtlCol="0" anchor="t"/>
          <a:lstStyle/>
          <a:p>
            <a:pPr marL="0" indent="0">
              <a:buNone/>
            </a:pPr>
            <a:r>
              <a:rPr lang="en-US" sz="2200" b="1" dirty="0">
                <a:solidFill>
                  <a:srgbClr val="1C5739"/>
                </a:solidFill>
                <a:latin typeface="Sarabun" pitchFamily="34" charset="0"/>
                <a:ea typeface="Sarabun" pitchFamily="34" charset="-122"/>
                <a:cs typeface="Sarabun" pitchFamily="34" charset="-120"/>
              </a:rPr>
              <a:t>วิเคราะห์ข้อดีและข้อจำกัด</a:t>
            </a:r>
            <a:endParaRPr lang="en-US" sz="2200" dirty="0"/>
          </a:p>
        </p:txBody>
      </p:sp>
      <p:sp>
        <p:nvSpPr>
          <p:cNvPr id="13" name="Text 11"/>
          <p:cNvSpPr txBox="1"/>
          <p:nvPr/>
        </p:nvSpPr>
        <p:spPr>
          <a:xfrm>
            <a:off x="6583680" y="3520440"/>
            <a:ext cx="4690872" cy="2286000"/>
          </a:xfrm>
          <a:prstGeom prst="rect">
            <a:avLst/>
          </a:prstGeom>
          <a:noFill/>
          <a:ln/>
        </p:spPr>
        <p:txBody>
          <a:bodyPr wrap="square" lIns="0" tIns="0" rIns="0" bIns="0" rtlCol="0" anchor="t"/>
          <a:lstStyle/>
          <a:p>
            <a:pPr marL="0" indent="0">
              <a:buNone/>
            </a:pPr>
            <a:r>
              <a:rPr lang="en-US" sz="1600" dirty="0">
                <a:solidFill>
                  <a:srgbClr val="1F2937"/>
                </a:solidFill>
                <a:latin typeface="Sarabun" pitchFamily="34" charset="0"/>
                <a:ea typeface="Sarabun" pitchFamily="34" charset="-122"/>
                <a:cs typeface="Sarabun" pitchFamily="34" charset="-120"/>
              </a:rPr>
              <a:t>เพื่อวิเคราะห์ข้อดี ข้อจำกัด และประสิทธิภาพของแต่ละกลยุทธ์ โดยมุ่งระบุแนวทางที่เหมาะสมในการนำ AI มาใช้พัฒนาซอฟต์แวร์</a:t>
            </a:r>
            <a:endParaRPr lang="en-US" sz="16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1  บทนำ</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3 กลยุทธ์การโต้ตอบกับ LLM</a:t>
            </a:r>
            <a:endParaRPr lang="en-US" sz="2800" dirty="0"/>
          </a:p>
        </p:txBody>
      </p:sp>
      <p:sp>
        <p:nvSpPr>
          <p:cNvPr id="4" name="card"/>
          <p:cNvSpPr/>
          <p:nvPr/>
        </p:nvSpPr>
        <p:spPr>
          <a:xfrm>
            <a:off x="548640" y="1691640"/>
            <a:ext cx="3474720" cy="4480560"/>
          </a:xfrm>
          <a:prstGeom prst="roundRect">
            <a:avLst>
              <a:gd name="adj" fmla="val 3158"/>
            </a:avLst>
          </a:prstGeom>
          <a:solidFill>
            <a:srgbClr val="FDECE7"/>
          </a:solidFill>
          <a:ln w="12700">
            <a:solidFill>
              <a:srgbClr val="FDECE7"/>
            </a:solidFill>
            <a:prstDash val="solid"/>
          </a:ln>
        </p:spPr>
        <p:txBody>
          <a:bodyPr/>
          <a:lstStyle/>
          <a:p>
            <a:endParaRPr lang="en-TH"/>
          </a:p>
        </p:txBody>
      </p:sp>
      <p:sp>
        <p:nvSpPr>
          <p:cNvPr id="5" name="Shape 3"/>
          <p:cNvSpPr/>
          <p:nvPr/>
        </p:nvSpPr>
        <p:spPr>
          <a:xfrm>
            <a:off x="822960" y="1965960"/>
            <a:ext cx="822960" cy="292608"/>
          </a:xfrm>
          <a:prstGeom prst="roundRect">
            <a:avLst>
              <a:gd name="adj" fmla="val 50000"/>
            </a:avLst>
          </a:prstGeom>
          <a:solidFill>
            <a:srgbClr val="E4572E"/>
          </a:solidFill>
          <a:ln w="19050">
            <a:solidFill>
              <a:srgbClr val="FFFFFF"/>
            </a:solidFill>
            <a:prstDash val="solid"/>
          </a:ln>
        </p:spPr>
        <p:txBody>
          <a:bodyPr/>
          <a:lstStyle/>
          <a:p>
            <a:endParaRPr lang="en-TH"/>
          </a:p>
        </p:txBody>
      </p:sp>
      <p:sp>
        <p:nvSpPr>
          <p:cNvPr id="6" name="Text 4"/>
          <p:cNvSpPr txBox="1"/>
          <p:nvPr/>
        </p:nvSpPr>
        <p:spPr>
          <a:xfrm>
            <a:off x="822960" y="1965960"/>
            <a:ext cx="82296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BP</a:t>
            </a:r>
            <a:endParaRPr lang="en-US" sz="1200" dirty="0"/>
          </a:p>
        </p:txBody>
      </p:sp>
      <p:sp>
        <p:nvSpPr>
          <p:cNvPr id="7" name="Text 5"/>
          <p:cNvSpPr txBox="1"/>
          <p:nvPr/>
        </p:nvSpPr>
        <p:spPr>
          <a:xfrm>
            <a:off x="822960" y="2423160"/>
            <a:ext cx="2926080" cy="457200"/>
          </a:xfrm>
          <a:prstGeom prst="rect">
            <a:avLst/>
          </a:prstGeom>
          <a:noFill/>
          <a:ln/>
        </p:spPr>
        <p:txBody>
          <a:bodyPr wrap="square" lIns="0" tIns="0" rIns="0" bIns="0" rtlCol="0" anchor="t"/>
          <a:lstStyle/>
          <a:p>
            <a:pPr marL="0" indent="0">
              <a:buNone/>
            </a:pPr>
            <a:r>
              <a:rPr lang="en-US" sz="1800" b="1" dirty="0">
                <a:solidFill>
                  <a:srgbClr val="1C5739"/>
                </a:solidFill>
                <a:latin typeface="Sarabun" pitchFamily="34" charset="0"/>
                <a:ea typeface="Sarabun" pitchFamily="34" charset="-122"/>
                <a:cs typeface="Sarabun" pitchFamily="34" charset="-120"/>
              </a:rPr>
              <a:t>Basic Prompting</a:t>
            </a:r>
            <a:endParaRPr lang="en-US" sz="1800" dirty="0"/>
          </a:p>
        </p:txBody>
      </p:sp>
      <p:sp>
        <p:nvSpPr>
          <p:cNvPr id="8" name="Text 6"/>
          <p:cNvSpPr txBox="1"/>
          <p:nvPr/>
        </p:nvSpPr>
        <p:spPr>
          <a:xfrm>
            <a:off x="822960" y="3017520"/>
            <a:ext cx="2926080" cy="2194560"/>
          </a:xfrm>
          <a:prstGeom prst="rect">
            <a:avLst/>
          </a:prstGeom>
          <a:noFill/>
          <a:ln/>
        </p:spPr>
        <p:txBody>
          <a:bodyPr wrap="square" lIns="0" tIns="0" rIns="0" bIns="0" rtlCol="0" anchor="t"/>
          <a:lstStyle/>
          <a:p>
            <a:pPr marL="0" indent="0">
              <a:buNone/>
            </a:pPr>
            <a:r>
              <a:rPr lang="en-US" sz="1500" dirty="0">
                <a:solidFill>
                  <a:srgbClr val="1F2937"/>
                </a:solidFill>
                <a:latin typeface="Sarabun" pitchFamily="34" charset="0"/>
                <a:ea typeface="Sarabun" pitchFamily="34" charset="-122"/>
                <a:cs typeface="Sarabun" pitchFamily="34" charset="-120"/>
              </a:rPr>
              <a:t>สั่งงานด้วยภาษาธรรมชาติแบบไม่มีโครงสร้าง สะท้อนสไตล์การใช้งานของนักพัฒนาที่ยังไม่มีประสบการณ์ด้าน Prompt Engineering</a:t>
            </a:r>
            <a:endParaRPr lang="en-US" sz="1500" dirty="0"/>
          </a:p>
        </p:txBody>
      </p:sp>
      <p:sp>
        <p:nvSpPr>
          <p:cNvPr id="9" name="Text 7"/>
          <p:cNvSpPr txBox="1"/>
          <p:nvPr/>
        </p:nvSpPr>
        <p:spPr>
          <a:xfrm>
            <a:off x="822960" y="5349240"/>
            <a:ext cx="2926080" cy="274320"/>
          </a:xfrm>
          <a:prstGeom prst="rect">
            <a:avLst/>
          </a:prstGeom>
          <a:noFill/>
          <a:ln/>
        </p:spPr>
        <p:txBody>
          <a:bodyPr wrap="square" lIns="0" tIns="0" rIns="0" bIns="0" rtlCol="0" anchor="t"/>
          <a:lstStyle/>
          <a:p>
            <a:pPr marL="0" indent="0">
              <a:buNone/>
            </a:pPr>
            <a:r>
              <a:rPr lang="en-US" sz="1200" dirty="0">
                <a:solidFill>
                  <a:srgbClr val="6B7280"/>
                </a:solidFill>
                <a:latin typeface="Sarabun" pitchFamily="34" charset="0"/>
                <a:ea typeface="Sarabun" pitchFamily="34" charset="-122"/>
                <a:cs typeface="Sarabun" pitchFamily="34" charset="-120"/>
              </a:rPr>
              <a:t>ระดับโครงสร้างของข้อมูลนำเข้า</a:t>
            </a:r>
            <a:endParaRPr lang="en-US" sz="1200" dirty="0"/>
          </a:p>
        </p:txBody>
      </p:sp>
      <p:sp>
        <p:nvSpPr>
          <p:cNvPr id="10" name="Shape 8"/>
          <p:cNvSpPr/>
          <p:nvPr/>
        </p:nvSpPr>
        <p:spPr>
          <a:xfrm>
            <a:off x="822960" y="5669280"/>
            <a:ext cx="274320" cy="274320"/>
          </a:xfrm>
          <a:prstGeom prst="ellipse">
            <a:avLst/>
          </a:prstGeom>
          <a:solidFill>
            <a:srgbClr val="E4572E"/>
          </a:solidFill>
          <a:ln w="19050">
            <a:solidFill>
              <a:srgbClr val="E4572E"/>
            </a:solidFill>
            <a:prstDash val="solid"/>
          </a:ln>
        </p:spPr>
        <p:txBody>
          <a:bodyPr/>
          <a:lstStyle/>
          <a:p>
            <a:endParaRPr lang="en-TH"/>
          </a:p>
        </p:txBody>
      </p:sp>
      <p:sp>
        <p:nvSpPr>
          <p:cNvPr id="11" name="Shape 9"/>
          <p:cNvSpPr/>
          <p:nvPr/>
        </p:nvSpPr>
        <p:spPr>
          <a:xfrm>
            <a:off x="1207008" y="5669280"/>
            <a:ext cx="274320" cy="274320"/>
          </a:xfrm>
          <a:prstGeom prst="ellipse">
            <a:avLst/>
          </a:prstGeom>
          <a:solidFill>
            <a:srgbClr val="FFFFFF"/>
          </a:solidFill>
          <a:ln w="19050">
            <a:solidFill>
              <a:srgbClr val="E4572E"/>
            </a:solidFill>
            <a:prstDash val="solid"/>
          </a:ln>
        </p:spPr>
        <p:txBody>
          <a:bodyPr/>
          <a:lstStyle/>
          <a:p>
            <a:endParaRPr lang="en-TH"/>
          </a:p>
        </p:txBody>
      </p:sp>
      <p:sp>
        <p:nvSpPr>
          <p:cNvPr id="12" name="Shape 10"/>
          <p:cNvSpPr/>
          <p:nvPr/>
        </p:nvSpPr>
        <p:spPr>
          <a:xfrm>
            <a:off x="1591056" y="5669280"/>
            <a:ext cx="274320" cy="274320"/>
          </a:xfrm>
          <a:prstGeom prst="ellipse">
            <a:avLst/>
          </a:prstGeom>
          <a:solidFill>
            <a:srgbClr val="FFFFFF"/>
          </a:solidFill>
          <a:ln w="19050">
            <a:solidFill>
              <a:srgbClr val="E4572E"/>
            </a:solidFill>
            <a:prstDash val="solid"/>
          </a:ln>
        </p:spPr>
        <p:txBody>
          <a:bodyPr/>
          <a:lstStyle/>
          <a:p>
            <a:endParaRPr lang="en-TH"/>
          </a:p>
        </p:txBody>
      </p:sp>
      <p:sp>
        <p:nvSpPr>
          <p:cNvPr id="13" name="card"/>
          <p:cNvSpPr/>
          <p:nvPr/>
        </p:nvSpPr>
        <p:spPr>
          <a:xfrm>
            <a:off x="4361688" y="1691640"/>
            <a:ext cx="3474720" cy="4480560"/>
          </a:xfrm>
          <a:prstGeom prst="roundRect">
            <a:avLst>
              <a:gd name="adj" fmla="val 3158"/>
            </a:avLst>
          </a:prstGeom>
          <a:solidFill>
            <a:srgbClr val="E8F1FD"/>
          </a:solidFill>
          <a:ln w="12700">
            <a:solidFill>
              <a:srgbClr val="E8F1FD"/>
            </a:solidFill>
            <a:prstDash val="solid"/>
          </a:ln>
        </p:spPr>
        <p:txBody>
          <a:bodyPr/>
          <a:lstStyle/>
          <a:p>
            <a:endParaRPr lang="en-TH"/>
          </a:p>
        </p:txBody>
      </p:sp>
      <p:sp>
        <p:nvSpPr>
          <p:cNvPr id="14" name="Shape 12"/>
          <p:cNvSpPr/>
          <p:nvPr/>
        </p:nvSpPr>
        <p:spPr>
          <a:xfrm>
            <a:off x="4636008" y="1965960"/>
            <a:ext cx="822960" cy="292608"/>
          </a:xfrm>
          <a:prstGeom prst="roundRect">
            <a:avLst>
              <a:gd name="adj" fmla="val 50000"/>
            </a:avLst>
          </a:prstGeom>
          <a:solidFill>
            <a:srgbClr val="2F80ED"/>
          </a:solidFill>
          <a:ln w="19050">
            <a:solidFill>
              <a:srgbClr val="FFFFFF"/>
            </a:solidFill>
            <a:prstDash val="solid"/>
          </a:ln>
        </p:spPr>
        <p:txBody>
          <a:bodyPr/>
          <a:lstStyle/>
          <a:p>
            <a:endParaRPr lang="en-TH"/>
          </a:p>
        </p:txBody>
      </p:sp>
      <p:sp>
        <p:nvSpPr>
          <p:cNvPr id="15" name="Text 13"/>
          <p:cNvSpPr txBox="1"/>
          <p:nvPr/>
        </p:nvSpPr>
        <p:spPr>
          <a:xfrm>
            <a:off x="4636008" y="1965960"/>
            <a:ext cx="82296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CE</a:t>
            </a:r>
            <a:endParaRPr lang="en-US" sz="1200" dirty="0"/>
          </a:p>
        </p:txBody>
      </p:sp>
      <p:sp>
        <p:nvSpPr>
          <p:cNvPr id="16" name="Text 14"/>
          <p:cNvSpPr txBox="1"/>
          <p:nvPr/>
        </p:nvSpPr>
        <p:spPr>
          <a:xfrm>
            <a:off x="4636008" y="2423160"/>
            <a:ext cx="2926080" cy="457200"/>
          </a:xfrm>
          <a:prstGeom prst="rect">
            <a:avLst/>
          </a:prstGeom>
          <a:noFill/>
          <a:ln/>
        </p:spPr>
        <p:txBody>
          <a:bodyPr wrap="square" lIns="0" tIns="0" rIns="0" bIns="0" rtlCol="0" anchor="t"/>
          <a:lstStyle/>
          <a:p>
            <a:pPr marL="0" indent="0">
              <a:buNone/>
            </a:pPr>
            <a:r>
              <a:rPr lang="en-US" sz="1800" b="1" dirty="0">
                <a:solidFill>
                  <a:srgbClr val="1C5739"/>
                </a:solidFill>
                <a:latin typeface="Sarabun" pitchFamily="34" charset="0"/>
                <a:ea typeface="Sarabun" pitchFamily="34" charset="-122"/>
                <a:cs typeface="Sarabun" pitchFamily="34" charset="-120"/>
              </a:rPr>
              <a:t>Context Engineering</a:t>
            </a:r>
            <a:endParaRPr lang="en-US" sz="1800" dirty="0"/>
          </a:p>
        </p:txBody>
      </p:sp>
      <p:sp>
        <p:nvSpPr>
          <p:cNvPr id="17" name="Text 15"/>
          <p:cNvSpPr txBox="1"/>
          <p:nvPr/>
        </p:nvSpPr>
        <p:spPr>
          <a:xfrm>
            <a:off x="4636008" y="3017520"/>
            <a:ext cx="2926080" cy="2194560"/>
          </a:xfrm>
          <a:prstGeom prst="rect">
            <a:avLst/>
          </a:prstGeom>
          <a:noFill/>
          <a:ln/>
        </p:spPr>
        <p:txBody>
          <a:bodyPr wrap="square" lIns="0" tIns="0" rIns="0" bIns="0" rtlCol="0" anchor="t"/>
          <a:lstStyle/>
          <a:p>
            <a:pPr marL="0" indent="0">
              <a:buNone/>
            </a:pPr>
            <a:r>
              <a:rPr lang="en-US" sz="1500" dirty="0">
                <a:solidFill>
                  <a:srgbClr val="1F2937"/>
                </a:solidFill>
                <a:latin typeface="Sarabun" pitchFamily="34" charset="0"/>
                <a:ea typeface="Sarabun" pitchFamily="34" charset="-122"/>
                <a:cs typeface="Sarabun" pitchFamily="34" charset="-120"/>
              </a:rPr>
              <a:t>ออกแบบและจัดการบริบทอย่างเป็นระบบ ผ่าน Role Prompting ข้อกำหนดทางเทคนิค และคำสั่งปรับปรุงผลลัพธ์ด้วยตนเอง</a:t>
            </a:r>
            <a:endParaRPr lang="en-US" sz="1500" dirty="0"/>
          </a:p>
        </p:txBody>
      </p:sp>
      <p:sp>
        <p:nvSpPr>
          <p:cNvPr id="18" name="Text 16"/>
          <p:cNvSpPr txBox="1"/>
          <p:nvPr/>
        </p:nvSpPr>
        <p:spPr>
          <a:xfrm>
            <a:off x="4636008" y="5349240"/>
            <a:ext cx="2926080" cy="274320"/>
          </a:xfrm>
          <a:prstGeom prst="rect">
            <a:avLst/>
          </a:prstGeom>
          <a:noFill/>
          <a:ln/>
        </p:spPr>
        <p:txBody>
          <a:bodyPr wrap="square" lIns="0" tIns="0" rIns="0" bIns="0" rtlCol="0" anchor="t"/>
          <a:lstStyle/>
          <a:p>
            <a:pPr marL="0" indent="0">
              <a:buNone/>
            </a:pPr>
            <a:r>
              <a:rPr lang="en-US" sz="1200" dirty="0">
                <a:solidFill>
                  <a:srgbClr val="6B7280"/>
                </a:solidFill>
                <a:latin typeface="Sarabun" pitchFamily="34" charset="0"/>
                <a:ea typeface="Sarabun" pitchFamily="34" charset="-122"/>
                <a:cs typeface="Sarabun" pitchFamily="34" charset="-120"/>
              </a:rPr>
              <a:t>ระดับโครงสร้างของข้อมูลนำเข้า</a:t>
            </a:r>
            <a:endParaRPr lang="en-US" sz="1200" dirty="0"/>
          </a:p>
        </p:txBody>
      </p:sp>
      <p:sp>
        <p:nvSpPr>
          <p:cNvPr id="19" name="Shape 17"/>
          <p:cNvSpPr/>
          <p:nvPr/>
        </p:nvSpPr>
        <p:spPr>
          <a:xfrm>
            <a:off x="4636008" y="5669280"/>
            <a:ext cx="274320" cy="274320"/>
          </a:xfrm>
          <a:prstGeom prst="ellipse">
            <a:avLst/>
          </a:prstGeom>
          <a:solidFill>
            <a:srgbClr val="2F80ED"/>
          </a:solidFill>
          <a:ln w="19050">
            <a:solidFill>
              <a:srgbClr val="2F80ED"/>
            </a:solidFill>
            <a:prstDash val="solid"/>
          </a:ln>
        </p:spPr>
        <p:txBody>
          <a:bodyPr/>
          <a:lstStyle/>
          <a:p>
            <a:endParaRPr lang="en-TH"/>
          </a:p>
        </p:txBody>
      </p:sp>
      <p:sp>
        <p:nvSpPr>
          <p:cNvPr id="20" name="Shape 18"/>
          <p:cNvSpPr/>
          <p:nvPr/>
        </p:nvSpPr>
        <p:spPr>
          <a:xfrm>
            <a:off x="5020056" y="5669280"/>
            <a:ext cx="274320" cy="274320"/>
          </a:xfrm>
          <a:prstGeom prst="ellipse">
            <a:avLst/>
          </a:prstGeom>
          <a:solidFill>
            <a:srgbClr val="2F80ED"/>
          </a:solidFill>
          <a:ln w="19050">
            <a:solidFill>
              <a:srgbClr val="2F80ED"/>
            </a:solidFill>
            <a:prstDash val="solid"/>
          </a:ln>
        </p:spPr>
        <p:txBody>
          <a:bodyPr/>
          <a:lstStyle/>
          <a:p>
            <a:endParaRPr lang="en-TH"/>
          </a:p>
        </p:txBody>
      </p:sp>
      <p:sp>
        <p:nvSpPr>
          <p:cNvPr id="21" name="Shape 19"/>
          <p:cNvSpPr/>
          <p:nvPr/>
        </p:nvSpPr>
        <p:spPr>
          <a:xfrm>
            <a:off x="5404104" y="5669280"/>
            <a:ext cx="274320" cy="274320"/>
          </a:xfrm>
          <a:prstGeom prst="ellipse">
            <a:avLst/>
          </a:prstGeom>
          <a:solidFill>
            <a:srgbClr val="FFFFFF"/>
          </a:solidFill>
          <a:ln w="19050">
            <a:solidFill>
              <a:srgbClr val="2F80ED"/>
            </a:solidFill>
            <a:prstDash val="solid"/>
          </a:ln>
        </p:spPr>
        <p:txBody>
          <a:bodyPr/>
          <a:lstStyle/>
          <a:p>
            <a:endParaRPr lang="en-TH"/>
          </a:p>
        </p:txBody>
      </p:sp>
      <p:sp>
        <p:nvSpPr>
          <p:cNvPr id="22" name="card"/>
          <p:cNvSpPr/>
          <p:nvPr/>
        </p:nvSpPr>
        <p:spPr>
          <a:xfrm>
            <a:off x="8174736" y="1691640"/>
            <a:ext cx="3474720" cy="4480560"/>
          </a:xfrm>
          <a:prstGeom prst="roundRect">
            <a:avLst>
              <a:gd name="adj" fmla="val 3158"/>
            </a:avLst>
          </a:prstGeom>
          <a:solidFill>
            <a:srgbClr val="E3F6EE"/>
          </a:solidFill>
          <a:ln w="12700">
            <a:solidFill>
              <a:srgbClr val="E3F6EE"/>
            </a:solidFill>
            <a:prstDash val="solid"/>
          </a:ln>
        </p:spPr>
        <p:txBody>
          <a:bodyPr/>
          <a:lstStyle/>
          <a:p>
            <a:endParaRPr lang="en-TH"/>
          </a:p>
        </p:txBody>
      </p:sp>
      <p:sp>
        <p:nvSpPr>
          <p:cNvPr id="23" name="Shape 21"/>
          <p:cNvSpPr/>
          <p:nvPr/>
        </p:nvSpPr>
        <p:spPr>
          <a:xfrm>
            <a:off x="8449056" y="1965960"/>
            <a:ext cx="822960" cy="292608"/>
          </a:xfrm>
          <a:prstGeom prst="roundRect">
            <a:avLst>
              <a:gd name="adj" fmla="val 50000"/>
            </a:avLst>
          </a:prstGeom>
          <a:solidFill>
            <a:srgbClr val="1FA971"/>
          </a:solidFill>
          <a:ln w="19050">
            <a:solidFill>
              <a:srgbClr val="FFFFFF"/>
            </a:solidFill>
            <a:prstDash val="solid"/>
          </a:ln>
        </p:spPr>
        <p:txBody>
          <a:bodyPr/>
          <a:lstStyle/>
          <a:p>
            <a:endParaRPr lang="en-TH"/>
          </a:p>
        </p:txBody>
      </p:sp>
      <p:sp>
        <p:nvSpPr>
          <p:cNvPr id="24" name="Text 22"/>
          <p:cNvSpPr txBox="1"/>
          <p:nvPr/>
        </p:nvSpPr>
        <p:spPr>
          <a:xfrm>
            <a:off x="8449056" y="1965960"/>
            <a:ext cx="82296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SDD</a:t>
            </a:r>
            <a:endParaRPr lang="en-US" sz="1200" dirty="0"/>
          </a:p>
        </p:txBody>
      </p:sp>
      <p:sp>
        <p:nvSpPr>
          <p:cNvPr id="25" name="Text 23"/>
          <p:cNvSpPr txBox="1"/>
          <p:nvPr/>
        </p:nvSpPr>
        <p:spPr>
          <a:xfrm>
            <a:off x="8449056" y="2423160"/>
            <a:ext cx="2926080" cy="457200"/>
          </a:xfrm>
          <a:prstGeom prst="rect">
            <a:avLst/>
          </a:prstGeom>
          <a:noFill/>
          <a:ln/>
        </p:spPr>
        <p:txBody>
          <a:bodyPr wrap="square" lIns="0" tIns="0" rIns="0" bIns="0" rtlCol="0" anchor="t"/>
          <a:lstStyle/>
          <a:p>
            <a:pPr marL="0" indent="0">
              <a:buNone/>
            </a:pPr>
            <a:r>
              <a:rPr lang="en-US" sz="1800" b="1" dirty="0">
                <a:solidFill>
                  <a:srgbClr val="1C5739"/>
                </a:solidFill>
                <a:latin typeface="Sarabun" pitchFamily="34" charset="0"/>
                <a:ea typeface="Sarabun" pitchFamily="34" charset="-122"/>
                <a:cs typeface="Sarabun" pitchFamily="34" charset="-120"/>
              </a:rPr>
              <a:t>Spec-Driven Development</a:t>
            </a:r>
            <a:endParaRPr lang="en-US" sz="1800" dirty="0"/>
          </a:p>
        </p:txBody>
      </p:sp>
      <p:sp>
        <p:nvSpPr>
          <p:cNvPr id="26" name="Text 24"/>
          <p:cNvSpPr txBox="1"/>
          <p:nvPr/>
        </p:nvSpPr>
        <p:spPr>
          <a:xfrm>
            <a:off x="8449056" y="3017520"/>
            <a:ext cx="2926080" cy="2194560"/>
          </a:xfrm>
          <a:prstGeom prst="rect">
            <a:avLst/>
          </a:prstGeom>
          <a:noFill/>
          <a:ln/>
        </p:spPr>
        <p:txBody>
          <a:bodyPr wrap="square" lIns="0" tIns="0" rIns="0" bIns="0" rtlCol="0" anchor="t"/>
          <a:lstStyle/>
          <a:p>
            <a:pPr marL="0" indent="0">
              <a:buNone/>
            </a:pPr>
            <a:r>
              <a:rPr lang="en-US" sz="1500" dirty="0">
                <a:solidFill>
                  <a:srgbClr val="1F2937"/>
                </a:solidFill>
                <a:latin typeface="Sarabun" pitchFamily="34" charset="0"/>
                <a:ea typeface="Sarabun" pitchFamily="34" charset="-122"/>
                <a:cs typeface="Sarabun" pitchFamily="34" charset="-120"/>
              </a:rPr>
              <a:t>พัฒนาแบบ spec-first ผ่าน Spec-kit ใน 5 ขั้นตอน: Constitution → Specify → Plan → Task → Implement</a:t>
            </a:r>
            <a:endParaRPr lang="en-US" sz="1500" dirty="0"/>
          </a:p>
        </p:txBody>
      </p:sp>
      <p:sp>
        <p:nvSpPr>
          <p:cNvPr id="27" name="Text 25"/>
          <p:cNvSpPr txBox="1"/>
          <p:nvPr/>
        </p:nvSpPr>
        <p:spPr>
          <a:xfrm>
            <a:off x="8449056" y="5349240"/>
            <a:ext cx="2926080" cy="274320"/>
          </a:xfrm>
          <a:prstGeom prst="rect">
            <a:avLst/>
          </a:prstGeom>
          <a:noFill/>
          <a:ln/>
        </p:spPr>
        <p:txBody>
          <a:bodyPr wrap="square" lIns="0" tIns="0" rIns="0" bIns="0" rtlCol="0" anchor="t"/>
          <a:lstStyle/>
          <a:p>
            <a:pPr marL="0" indent="0">
              <a:buNone/>
            </a:pPr>
            <a:r>
              <a:rPr lang="en-US" sz="1200" dirty="0">
                <a:solidFill>
                  <a:srgbClr val="6B7280"/>
                </a:solidFill>
                <a:latin typeface="Sarabun" pitchFamily="34" charset="0"/>
                <a:ea typeface="Sarabun" pitchFamily="34" charset="-122"/>
                <a:cs typeface="Sarabun" pitchFamily="34" charset="-120"/>
              </a:rPr>
              <a:t>ระดับโครงสร้างของข้อมูลนำเข้า</a:t>
            </a:r>
            <a:endParaRPr lang="en-US" sz="1200" dirty="0"/>
          </a:p>
        </p:txBody>
      </p:sp>
      <p:sp>
        <p:nvSpPr>
          <p:cNvPr id="28" name="Shape 26"/>
          <p:cNvSpPr/>
          <p:nvPr/>
        </p:nvSpPr>
        <p:spPr>
          <a:xfrm>
            <a:off x="8449056" y="5669280"/>
            <a:ext cx="274320" cy="274320"/>
          </a:xfrm>
          <a:prstGeom prst="ellipse">
            <a:avLst/>
          </a:prstGeom>
          <a:solidFill>
            <a:srgbClr val="1FA971"/>
          </a:solidFill>
          <a:ln w="19050">
            <a:solidFill>
              <a:srgbClr val="1FA971"/>
            </a:solidFill>
            <a:prstDash val="solid"/>
          </a:ln>
        </p:spPr>
        <p:txBody>
          <a:bodyPr/>
          <a:lstStyle/>
          <a:p>
            <a:endParaRPr lang="en-TH"/>
          </a:p>
        </p:txBody>
      </p:sp>
      <p:sp>
        <p:nvSpPr>
          <p:cNvPr id="29" name="Shape 27"/>
          <p:cNvSpPr/>
          <p:nvPr/>
        </p:nvSpPr>
        <p:spPr>
          <a:xfrm>
            <a:off x="8833104" y="5669280"/>
            <a:ext cx="274320" cy="274320"/>
          </a:xfrm>
          <a:prstGeom prst="ellipse">
            <a:avLst/>
          </a:prstGeom>
          <a:solidFill>
            <a:srgbClr val="1FA971"/>
          </a:solidFill>
          <a:ln w="19050">
            <a:solidFill>
              <a:srgbClr val="1FA971"/>
            </a:solidFill>
            <a:prstDash val="solid"/>
          </a:ln>
        </p:spPr>
        <p:txBody>
          <a:bodyPr/>
          <a:lstStyle/>
          <a:p>
            <a:endParaRPr lang="en-TH"/>
          </a:p>
        </p:txBody>
      </p:sp>
      <p:sp>
        <p:nvSpPr>
          <p:cNvPr id="30" name="Shape 28"/>
          <p:cNvSpPr/>
          <p:nvPr/>
        </p:nvSpPr>
        <p:spPr>
          <a:xfrm>
            <a:off x="9217152" y="5669280"/>
            <a:ext cx="274320" cy="274320"/>
          </a:xfrm>
          <a:prstGeom prst="ellipse">
            <a:avLst/>
          </a:prstGeom>
          <a:solidFill>
            <a:srgbClr val="1FA971"/>
          </a:solidFill>
          <a:ln w="19050">
            <a:solidFill>
              <a:srgbClr val="1FA971"/>
            </a:solidFill>
            <a:prstDash val="solid"/>
          </a:ln>
        </p:spPr>
        <p:txBody>
          <a:bodyPr/>
          <a:lstStyle/>
          <a:p>
            <a:endParaRPr lang="en-TH"/>
          </a:p>
        </p:txBody>
      </p:sp>
      <p:sp>
        <p:nvSpPr>
          <p:cNvPr id="31"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1  บทนำ</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ขอบเขต: กรอบการประเมิน 4 ด้าน</a:t>
            </a:r>
            <a:endParaRPr lang="en-US" sz="2800" dirty="0"/>
          </a:p>
        </p:txBody>
      </p:sp>
      <p:sp>
        <p:nvSpPr>
          <p:cNvPr id="4" name="card"/>
          <p:cNvSpPr/>
          <p:nvPr/>
        </p:nvSpPr>
        <p:spPr>
          <a:xfrm>
            <a:off x="548640" y="1645920"/>
            <a:ext cx="5422392" cy="2148840"/>
          </a:xfrm>
          <a:prstGeom prst="roundRect">
            <a:avLst>
              <a:gd name="adj" fmla="val 5106"/>
            </a:avLst>
          </a:prstGeom>
          <a:solidFill>
            <a:srgbClr val="EEF3EF"/>
          </a:solidFill>
          <a:ln w="12700">
            <a:solidFill>
              <a:srgbClr val="EEF3EF"/>
            </a:solidFill>
            <a:prstDash val="solid"/>
          </a:ln>
        </p:spPr>
        <p:txBody>
          <a:bodyPr/>
          <a:lstStyle/>
          <a:p>
            <a:endParaRPr lang="en-TH"/>
          </a:p>
        </p:txBody>
      </p:sp>
      <p:sp>
        <p:nvSpPr>
          <p:cNvPr id="5" name="Shape 3"/>
          <p:cNvSpPr/>
          <p:nvPr/>
        </p:nvSpPr>
        <p:spPr>
          <a:xfrm>
            <a:off x="822960" y="1920240"/>
            <a:ext cx="502920" cy="502920"/>
          </a:xfrm>
          <a:prstGeom prst="ellipse">
            <a:avLst/>
          </a:prstGeom>
          <a:solidFill>
            <a:srgbClr val="1C5739"/>
          </a:solidFill>
          <a:ln w="12700">
            <a:solidFill>
              <a:srgbClr val="1C5739"/>
            </a:solidFill>
            <a:prstDash val="solid"/>
          </a:ln>
        </p:spPr>
        <p:txBody>
          <a:bodyPr/>
          <a:lstStyle/>
          <a:p>
            <a:endParaRPr lang="en-TH"/>
          </a:p>
        </p:txBody>
      </p:sp>
      <p:sp>
        <p:nvSpPr>
          <p:cNvPr id="6" name="Text 4"/>
          <p:cNvSpPr txBox="1"/>
          <p:nvPr/>
        </p:nvSpPr>
        <p:spPr>
          <a:xfrm>
            <a:off x="822960" y="19202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1</a:t>
            </a:r>
            <a:endParaRPr lang="en-US" sz="1600" dirty="0"/>
          </a:p>
        </p:txBody>
      </p:sp>
      <p:sp>
        <p:nvSpPr>
          <p:cNvPr id="7" name="Text 5"/>
          <p:cNvSpPr txBox="1"/>
          <p:nvPr/>
        </p:nvSpPr>
        <p:spPr>
          <a:xfrm>
            <a:off x="1508760" y="1847088"/>
            <a:ext cx="4233672" cy="365760"/>
          </a:xfrm>
          <a:prstGeom prst="rect">
            <a:avLst/>
          </a:prstGeom>
          <a:noFill/>
          <a:ln/>
        </p:spPr>
        <p:txBody>
          <a:bodyPr wrap="square" lIns="0" tIns="0" rIns="0" bIns="0" rtlCol="0" anchor="t"/>
          <a:lstStyle/>
          <a:p>
            <a:pPr marL="0" indent="0">
              <a:buNone/>
            </a:pPr>
            <a:r>
              <a:rPr lang="en-US" sz="1900" b="1" dirty="0">
                <a:solidFill>
                  <a:srgbClr val="1C5739"/>
                </a:solidFill>
                <a:latin typeface="Sarabun" pitchFamily="34" charset="0"/>
                <a:ea typeface="Sarabun" pitchFamily="34" charset="-122"/>
                <a:cs typeface="Sarabun" pitchFamily="34" charset="-120"/>
              </a:rPr>
              <a:t>ความถูกต้องเชิงฟังก์ชัน</a:t>
            </a:r>
            <a:endParaRPr lang="en-US" sz="1900" dirty="0"/>
          </a:p>
        </p:txBody>
      </p:sp>
      <p:sp>
        <p:nvSpPr>
          <p:cNvPr id="8" name="Text 6"/>
          <p:cNvSpPr txBox="1"/>
          <p:nvPr/>
        </p:nvSpPr>
        <p:spPr>
          <a:xfrm>
            <a:off x="1508760" y="2212848"/>
            <a:ext cx="4233672" cy="274320"/>
          </a:xfrm>
          <a:prstGeom prst="rect">
            <a:avLst/>
          </a:prstGeom>
          <a:noFill/>
          <a:ln/>
        </p:spPr>
        <p:txBody>
          <a:bodyPr wrap="square" lIns="0" tIns="0" rIns="0" bIns="0" rtlCol="0" anchor="t"/>
          <a:lstStyle/>
          <a:p>
            <a:pPr marL="0" indent="0">
              <a:buNone/>
            </a:pPr>
            <a:r>
              <a:rPr lang="en-US" sz="1200" dirty="0">
                <a:solidFill>
                  <a:srgbClr val="6B7280"/>
                </a:solidFill>
                <a:latin typeface="Sarabun" pitchFamily="34" charset="0"/>
                <a:ea typeface="Sarabun" pitchFamily="34" charset="-122"/>
                <a:cs typeface="Sarabun" pitchFamily="34" charset="-120"/>
              </a:rPr>
              <a:t>Functional Correctness</a:t>
            </a:r>
            <a:endParaRPr lang="en-US" sz="1200" dirty="0"/>
          </a:p>
        </p:txBody>
      </p:sp>
      <p:sp>
        <p:nvSpPr>
          <p:cNvPr id="9" name="Text 7"/>
          <p:cNvSpPr txBox="1"/>
          <p:nvPr/>
        </p:nvSpPr>
        <p:spPr>
          <a:xfrm>
            <a:off x="822960" y="2606040"/>
            <a:ext cx="4873752" cy="731520"/>
          </a:xfrm>
          <a:prstGeom prst="rect">
            <a:avLst/>
          </a:prstGeom>
          <a:noFill/>
          <a:ln/>
        </p:spPr>
        <p:txBody>
          <a:bodyPr wrap="square" lIns="0" tIns="0" rIns="0" bIns="0" rtlCol="0" anchor="t"/>
          <a:lstStyle/>
          <a:p>
            <a:pPr marL="0" indent="0">
              <a:buNone/>
            </a:pPr>
            <a:r>
              <a:rPr lang="en-US" sz="1400" dirty="0">
                <a:solidFill>
                  <a:srgbClr val="1F2937"/>
                </a:solidFill>
                <a:latin typeface="Sarabun" pitchFamily="34" charset="0"/>
                <a:ea typeface="Sarabun" pitchFamily="34" charset="-122"/>
                <a:cs typeface="Sarabun" pitchFamily="34" charset="-120"/>
              </a:rPr>
              <a:t>ทดสอบว่าโค้ดทำงานตรงตามข้อกำหนดเชิงฟังก์ชัน เช่น การตัด/คืนสต็อก การคำนวณส่วนลด และยอดรวมตะกร้า</a:t>
            </a:r>
            <a:endParaRPr lang="en-US" sz="1400" dirty="0"/>
          </a:p>
        </p:txBody>
      </p:sp>
      <p:sp>
        <p:nvSpPr>
          <p:cNvPr id="10" name="Text 8"/>
          <p:cNvSpPr txBox="1"/>
          <p:nvPr/>
        </p:nvSpPr>
        <p:spPr>
          <a:xfrm>
            <a:off x="822960" y="3364992"/>
            <a:ext cx="4873752" cy="274320"/>
          </a:xfrm>
          <a:prstGeom prst="rect">
            <a:avLst/>
          </a:prstGeom>
          <a:noFill/>
          <a:ln/>
        </p:spPr>
        <p:txBody>
          <a:bodyPr wrap="square" lIns="0" tIns="0" rIns="0" bIns="0" rtlCol="0" anchor="t"/>
          <a:lstStyle/>
          <a:p>
            <a:pPr marL="0" indent="0">
              <a:buNone/>
            </a:pPr>
            <a:r>
              <a:rPr lang="en-US" sz="1300" b="1" dirty="0">
                <a:solidFill>
                  <a:srgbClr val="1C5739"/>
                </a:solidFill>
                <a:latin typeface="Sarabun" pitchFamily="34" charset="0"/>
                <a:ea typeface="Sarabun" pitchFamily="34" charset="-122"/>
                <a:cs typeface="Sarabun" pitchFamily="34" charset="-120"/>
              </a:rPr>
              <a:t>Jest · Vitest · node:test</a:t>
            </a:r>
            <a:endParaRPr lang="en-US" sz="1300" dirty="0"/>
          </a:p>
        </p:txBody>
      </p:sp>
      <p:sp>
        <p:nvSpPr>
          <p:cNvPr id="11" name="card"/>
          <p:cNvSpPr/>
          <p:nvPr/>
        </p:nvSpPr>
        <p:spPr>
          <a:xfrm>
            <a:off x="6217920" y="1645920"/>
            <a:ext cx="5422392" cy="2148840"/>
          </a:xfrm>
          <a:prstGeom prst="roundRect">
            <a:avLst>
              <a:gd name="adj" fmla="val 5106"/>
            </a:avLst>
          </a:prstGeom>
          <a:solidFill>
            <a:srgbClr val="EEF3EF"/>
          </a:solidFill>
          <a:ln w="12700">
            <a:solidFill>
              <a:srgbClr val="EEF3EF"/>
            </a:solidFill>
            <a:prstDash val="solid"/>
          </a:ln>
        </p:spPr>
        <p:txBody>
          <a:bodyPr/>
          <a:lstStyle/>
          <a:p>
            <a:endParaRPr lang="en-TH"/>
          </a:p>
        </p:txBody>
      </p:sp>
      <p:sp>
        <p:nvSpPr>
          <p:cNvPr id="12" name="Shape 10"/>
          <p:cNvSpPr/>
          <p:nvPr/>
        </p:nvSpPr>
        <p:spPr>
          <a:xfrm>
            <a:off x="6492240" y="1920240"/>
            <a:ext cx="502920" cy="502920"/>
          </a:xfrm>
          <a:prstGeom prst="ellipse">
            <a:avLst/>
          </a:prstGeom>
          <a:solidFill>
            <a:srgbClr val="1C5739"/>
          </a:solidFill>
          <a:ln w="12700">
            <a:solidFill>
              <a:srgbClr val="1C5739"/>
            </a:solidFill>
            <a:prstDash val="solid"/>
          </a:ln>
        </p:spPr>
        <p:txBody>
          <a:bodyPr/>
          <a:lstStyle/>
          <a:p>
            <a:endParaRPr lang="en-TH"/>
          </a:p>
        </p:txBody>
      </p:sp>
      <p:sp>
        <p:nvSpPr>
          <p:cNvPr id="13" name="Text 11"/>
          <p:cNvSpPr txBox="1"/>
          <p:nvPr/>
        </p:nvSpPr>
        <p:spPr>
          <a:xfrm>
            <a:off x="6492240" y="19202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2</a:t>
            </a:r>
            <a:endParaRPr lang="en-US" sz="1600" dirty="0"/>
          </a:p>
        </p:txBody>
      </p:sp>
      <p:sp>
        <p:nvSpPr>
          <p:cNvPr id="14" name="Text 12"/>
          <p:cNvSpPr txBox="1"/>
          <p:nvPr/>
        </p:nvSpPr>
        <p:spPr>
          <a:xfrm>
            <a:off x="7178040" y="1847088"/>
            <a:ext cx="4233672" cy="365760"/>
          </a:xfrm>
          <a:prstGeom prst="rect">
            <a:avLst/>
          </a:prstGeom>
          <a:noFill/>
          <a:ln/>
        </p:spPr>
        <p:txBody>
          <a:bodyPr wrap="square" lIns="0" tIns="0" rIns="0" bIns="0" rtlCol="0" anchor="t"/>
          <a:lstStyle/>
          <a:p>
            <a:pPr marL="0" indent="0">
              <a:buNone/>
            </a:pPr>
            <a:r>
              <a:rPr lang="en-US" sz="1900" b="1" dirty="0">
                <a:solidFill>
                  <a:srgbClr val="1C5739"/>
                </a:solidFill>
                <a:latin typeface="Sarabun" pitchFamily="34" charset="0"/>
                <a:ea typeface="Sarabun" pitchFamily="34" charset="-122"/>
                <a:cs typeface="Sarabun" pitchFamily="34" charset="-120"/>
              </a:rPr>
              <a:t>คุณภาพเชิงโครงสร้าง</a:t>
            </a:r>
            <a:endParaRPr lang="en-US" sz="1900" dirty="0"/>
          </a:p>
        </p:txBody>
      </p:sp>
      <p:sp>
        <p:nvSpPr>
          <p:cNvPr id="15" name="Text 13"/>
          <p:cNvSpPr txBox="1"/>
          <p:nvPr/>
        </p:nvSpPr>
        <p:spPr>
          <a:xfrm>
            <a:off x="7178040" y="2212848"/>
            <a:ext cx="4233672" cy="274320"/>
          </a:xfrm>
          <a:prstGeom prst="rect">
            <a:avLst/>
          </a:prstGeom>
          <a:noFill/>
          <a:ln/>
        </p:spPr>
        <p:txBody>
          <a:bodyPr wrap="square" lIns="0" tIns="0" rIns="0" bIns="0" rtlCol="0" anchor="t"/>
          <a:lstStyle/>
          <a:p>
            <a:pPr marL="0" indent="0">
              <a:buNone/>
            </a:pPr>
            <a:r>
              <a:rPr lang="en-US" sz="1200" dirty="0">
                <a:solidFill>
                  <a:srgbClr val="6B7280"/>
                </a:solidFill>
                <a:latin typeface="Sarabun" pitchFamily="34" charset="0"/>
                <a:ea typeface="Sarabun" pitchFamily="34" charset="-122"/>
                <a:cs typeface="Sarabun" pitchFamily="34" charset="-120"/>
              </a:rPr>
              <a:t>Structural Quality</a:t>
            </a:r>
            <a:endParaRPr lang="en-US" sz="1200" dirty="0"/>
          </a:p>
        </p:txBody>
      </p:sp>
      <p:sp>
        <p:nvSpPr>
          <p:cNvPr id="16" name="Text 14"/>
          <p:cNvSpPr txBox="1"/>
          <p:nvPr/>
        </p:nvSpPr>
        <p:spPr>
          <a:xfrm>
            <a:off x="6492240" y="2606040"/>
            <a:ext cx="4873752" cy="731520"/>
          </a:xfrm>
          <a:prstGeom prst="rect">
            <a:avLst/>
          </a:prstGeom>
          <a:noFill/>
          <a:ln/>
        </p:spPr>
        <p:txBody>
          <a:bodyPr wrap="square" lIns="0" tIns="0" rIns="0" bIns="0" rtlCol="0" anchor="t"/>
          <a:lstStyle/>
          <a:p>
            <a:pPr marL="0" indent="0">
              <a:buNone/>
            </a:pPr>
            <a:r>
              <a:rPr lang="en-US" sz="1400" dirty="0">
                <a:solidFill>
                  <a:srgbClr val="1F2937"/>
                </a:solidFill>
                <a:latin typeface="Sarabun" pitchFamily="34" charset="0"/>
                <a:ea typeface="Sarabun" pitchFamily="34" charset="-122"/>
                <a:cs typeface="Sarabun" pitchFamily="34" charset="-120"/>
              </a:rPr>
              <a:t>5 มิติ: Security, Security Hotspots, Reliability, Maintainability และ Duplications</a:t>
            </a:r>
            <a:endParaRPr lang="en-US" sz="1400" dirty="0"/>
          </a:p>
        </p:txBody>
      </p:sp>
      <p:sp>
        <p:nvSpPr>
          <p:cNvPr id="17" name="Text 15"/>
          <p:cNvSpPr txBox="1"/>
          <p:nvPr/>
        </p:nvSpPr>
        <p:spPr>
          <a:xfrm>
            <a:off x="6492240" y="3364992"/>
            <a:ext cx="4873752" cy="274320"/>
          </a:xfrm>
          <a:prstGeom prst="rect">
            <a:avLst/>
          </a:prstGeom>
          <a:noFill/>
          <a:ln/>
        </p:spPr>
        <p:txBody>
          <a:bodyPr wrap="square" lIns="0" tIns="0" rIns="0" bIns="0" rtlCol="0" anchor="t"/>
          <a:lstStyle/>
          <a:p>
            <a:pPr marL="0" indent="0">
              <a:buNone/>
            </a:pPr>
            <a:r>
              <a:rPr lang="en-US" sz="1300" b="1" dirty="0">
                <a:solidFill>
                  <a:srgbClr val="1C5739"/>
                </a:solidFill>
                <a:latin typeface="Sarabun" pitchFamily="34" charset="0"/>
                <a:ea typeface="Sarabun" pitchFamily="34" charset="-122"/>
                <a:cs typeface="Sarabun" pitchFamily="34" charset="-120"/>
              </a:rPr>
              <a:t>SonarQube ผ่าน CI/CD</a:t>
            </a:r>
            <a:endParaRPr lang="en-US" sz="1300" dirty="0"/>
          </a:p>
        </p:txBody>
      </p:sp>
      <p:sp>
        <p:nvSpPr>
          <p:cNvPr id="18" name="card"/>
          <p:cNvSpPr/>
          <p:nvPr/>
        </p:nvSpPr>
        <p:spPr>
          <a:xfrm>
            <a:off x="548640" y="3977640"/>
            <a:ext cx="5422392" cy="2148840"/>
          </a:xfrm>
          <a:prstGeom prst="roundRect">
            <a:avLst>
              <a:gd name="adj" fmla="val 5106"/>
            </a:avLst>
          </a:prstGeom>
          <a:solidFill>
            <a:srgbClr val="EEF3EF"/>
          </a:solidFill>
          <a:ln w="12700">
            <a:solidFill>
              <a:srgbClr val="EEF3EF"/>
            </a:solidFill>
            <a:prstDash val="solid"/>
          </a:ln>
        </p:spPr>
        <p:txBody>
          <a:bodyPr/>
          <a:lstStyle/>
          <a:p>
            <a:endParaRPr lang="en-TH"/>
          </a:p>
        </p:txBody>
      </p:sp>
      <p:sp>
        <p:nvSpPr>
          <p:cNvPr id="19" name="Shape 17"/>
          <p:cNvSpPr/>
          <p:nvPr/>
        </p:nvSpPr>
        <p:spPr>
          <a:xfrm>
            <a:off x="822960" y="4251960"/>
            <a:ext cx="502920" cy="502920"/>
          </a:xfrm>
          <a:prstGeom prst="ellipse">
            <a:avLst/>
          </a:prstGeom>
          <a:solidFill>
            <a:srgbClr val="1C5739"/>
          </a:solidFill>
          <a:ln w="12700">
            <a:solidFill>
              <a:srgbClr val="1C5739"/>
            </a:solidFill>
            <a:prstDash val="solid"/>
          </a:ln>
        </p:spPr>
        <p:txBody>
          <a:bodyPr/>
          <a:lstStyle/>
          <a:p>
            <a:endParaRPr lang="en-TH"/>
          </a:p>
        </p:txBody>
      </p:sp>
      <p:sp>
        <p:nvSpPr>
          <p:cNvPr id="20" name="Text 18"/>
          <p:cNvSpPr txBox="1"/>
          <p:nvPr/>
        </p:nvSpPr>
        <p:spPr>
          <a:xfrm>
            <a:off x="822960" y="42519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3</a:t>
            </a:r>
            <a:endParaRPr lang="en-US" sz="1600" dirty="0"/>
          </a:p>
        </p:txBody>
      </p:sp>
      <p:sp>
        <p:nvSpPr>
          <p:cNvPr id="21" name="Text 19"/>
          <p:cNvSpPr txBox="1"/>
          <p:nvPr/>
        </p:nvSpPr>
        <p:spPr>
          <a:xfrm>
            <a:off x="1508760" y="4178808"/>
            <a:ext cx="4233672" cy="365760"/>
          </a:xfrm>
          <a:prstGeom prst="rect">
            <a:avLst/>
          </a:prstGeom>
          <a:noFill/>
          <a:ln/>
        </p:spPr>
        <p:txBody>
          <a:bodyPr wrap="square" lIns="0" tIns="0" rIns="0" bIns="0" rtlCol="0" anchor="t"/>
          <a:lstStyle/>
          <a:p>
            <a:pPr marL="0" indent="0">
              <a:buNone/>
            </a:pPr>
            <a:r>
              <a:rPr lang="en-US" sz="1900" b="1" dirty="0">
                <a:solidFill>
                  <a:srgbClr val="1C5739"/>
                </a:solidFill>
                <a:latin typeface="Sarabun" pitchFamily="34" charset="0"/>
                <a:ea typeface="Sarabun" pitchFamily="34" charset="-122"/>
                <a:cs typeface="Sarabun" pitchFamily="34" charset="-120"/>
              </a:rPr>
              <a:t>ความปลอดภัยเชิงสถิต</a:t>
            </a:r>
            <a:endParaRPr lang="en-US" sz="1900" dirty="0"/>
          </a:p>
        </p:txBody>
      </p:sp>
      <p:sp>
        <p:nvSpPr>
          <p:cNvPr id="22" name="Text 20"/>
          <p:cNvSpPr txBox="1"/>
          <p:nvPr/>
        </p:nvSpPr>
        <p:spPr>
          <a:xfrm>
            <a:off x="1508760" y="4544568"/>
            <a:ext cx="4233672" cy="274320"/>
          </a:xfrm>
          <a:prstGeom prst="rect">
            <a:avLst/>
          </a:prstGeom>
          <a:noFill/>
          <a:ln/>
        </p:spPr>
        <p:txBody>
          <a:bodyPr wrap="square" lIns="0" tIns="0" rIns="0" bIns="0" rtlCol="0" anchor="t"/>
          <a:lstStyle/>
          <a:p>
            <a:pPr marL="0" indent="0">
              <a:buNone/>
            </a:pPr>
            <a:r>
              <a:rPr lang="en-US" sz="1200" dirty="0">
                <a:solidFill>
                  <a:srgbClr val="6B7280"/>
                </a:solidFill>
                <a:latin typeface="Sarabun" pitchFamily="34" charset="0"/>
                <a:ea typeface="Sarabun" pitchFamily="34" charset="-122"/>
                <a:cs typeface="Sarabun" pitchFamily="34" charset="-120"/>
              </a:rPr>
              <a:t>Static Application Security Testing (SAST)</a:t>
            </a:r>
            <a:endParaRPr lang="en-US" sz="1200" dirty="0"/>
          </a:p>
        </p:txBody>
      </p:sp>
      <p:sp>
        <p:nvSpPr>
          <p:cNvPr id="23" name="Text 21"/>
          <p:cNvSpPr txBox="1"/>
          <p:nvPr/>
        </p:nvSpPr>
        <p:spPr>
          <a:xfrm>
            <a:off x="822960" y="4937760"/>
            <a:ext cx="4873752" cy="731520"/>
          </a:xfrm>
          <a:prstGeom prst="rect">
            <a:avLst/>
          </a:prstGeom>
          <a:noFill/>
          <a:ln/>
        </p:spPr>
        <p:txBody>
          <a:bodyPr wrap="square" lIns="0" tIns="0" rIns="0" bIns="0" rtlCol="0" anchor="t"/>
          <a:lstStyle/>
          <a:p>
            <a:pPr marL="0" indent="0">
              <a:buNone/>
            </a:pPr>
            <a:r>
              <a:rPr lang="en-US" sz="1400" dirty="0">
                <a:solidFill>
                  <a:srgbClr val="1F2937"/>
                </a:solidFill>
                <a:latin typeface="Sarabun" pitchFamily="34" charset="0"/>
                <a:ea typeface="Sarabun" pitchFamily="34" charset="-122"/>
                <a:cs typeface="Sarabun" pitchFamily="34" charset="-120"/>
              </a:rPr>
              <a:t>ตรวจช่องโหว่ระดับซอร์สโค้ดตามมาตรฐาน CWE ครอบคลุม JavaScript และ TypeScript</a:t>
            </a:r>
            <a:endParaRPr lang="en-US" sz="1400" dirty="0"/>
          </a:p>
        </p:txBody>
      </p:sp>
      <p:sp>
        <p:nvSpPr>
          <p:cNvPr id="24" name="Text 22"/>
          <p:cNvSpPr txBox="1"/>
          <p:nvPr/>
        </p:nvSpPr>
        <p:spPr>
          <a:xfrm>
            <a:off x="822960" y="5696712"/>
            <a:ext cx="4873752" cy="274320"/>
          </a:xfrm>
          <a:prstGeom prst="rect">
            <a:avLst/>
          </a:prstGeom>
          <a:noFill/>
          <a:ln/>
        </p:spPr>
        <p:txBody>
          <a:bodyPr wrap="square" lIns="0" tIns="0" rIns="0" bIns="0" rtlCol="0" anchor="t"/>
          <a:lstStyle/>
          <a:p>
            <a:pPr marL="0" indent="0">
              <a:buNone/>
            </a:pPr>
            <a:r>
              <a:rPr lang="en-US" sz="1300" b="1" dirty="0">
                <a:solidFill>
                  <a:srgbClr val="1C5739"/>
                </a:solidFill>
                <a:latin typeface="Sarabun" pitchFamily="34" charset="0"/>
                <a:ea typeface="Sarabun" pitchFamily="34" charset="-122"/>
                <a:cs typeface="Sarabun" pitchFamily="34" charset="-120"/>
              </a:rPr>
              <a:t>CodeQL ผ่าน GitHub Actions</a:t>
            </a:r>
            <a:endParaRPr lang="en-US" sz="1300" dirty="0"/>
          </a:p>
        </p:txBody>
      </p:sp>
      <p:sp>
        <p:nvSpPr>
          <p:cNvPr id="25" name="card"/>
          <p:cNvSpPr/>
          <p:nvPr/>
        </p:nvSpPr>
        <p:spPr>
          <a:xfrm>
            <a:off x="6217920" y="3977640"/>
            <a:ext cx="5422392" cy="2148840"/>
          </a:xfrm>
          <a:prstGeom prst="roundRect">
            <a:avLst>
              <a:gd name="adj" fmla="val 5106"/>
            </a:avLst>
          </a:prstGeom>
          <a:solidFill>
            <a:srgbClr val="EEF3EF"/>
          </a:solidFill>
          <a:ln w="12700">
            <a:solidFill>
              <a:srgbClr val="EEF3EF"/>
            </a:solidFill>
            <a:prstDash val="solid"/>
          </a:ln>
        </p:spPr>
        <p:txBody>
          <a:bodyPr/>
          <a:lstStyle/>
          <a:p>
            <a:endParaRPr lang="en-TH"/>
          </a:p>
        </p:txBody>
      </p:sp>
      <p:sp>
        <p:nvSpPr>
          <p:cNvPr id="26" name="Shape 24"/>
          <p:cNvSpPr/>
          <p:nvPr/>
        </p:nvSpPr>
        <p:spPr>
          <a:xfrm>
            <a:off x="6492240" y="4251960"/>
            <a:ext cx="502920" cy="502920"/>
          </a:xfrm>
          <a:prstGeom prst="ellipse">
            <a:avLst/>
          </a:prstGeom>
          <a:solidFill>
            <a:srgbClr val="1C5739"/>
          </a:solidFill>
          <a:ln w="12700">
            <a:solidFill>
              <a:srgbClr val="1C5739"/>
            </a:solidFill>
            <a:prstDash val="solid"/>
          </a:ln>
        </p:spPr>
        <p:txBody>
          <a:bodyPr/>
          <a:lstStyle/>
          <a:p>
            <a:endParaRPr lang="en-TH"/>
          </a:p>
        </p:txBody>
      </p:sp>
      <p:sp>
        <p:nvSpPr>
          <p:cNvPr id="27" name="Text 25"/>
          <p:cNvSpPr txBox="1"/>
          <p:nvPr/>
        </p:nvSpPr>
        <p:spPr>
          <a:xfrm>
            <a:off x="6492240" y="42519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4</a:t>
            </a:r>
            <a:endParaRPr lang="en-US" sz="1600" dirty="0"/>
          </a:p>
        </p:txBody>
      </p:sp>
      <p:sp>
        <p:nvSpPr>
          <p:cNvPr id="28" name="Text 26"/>
          <p:cNvSpPr txBox="1"/>
          <p:nvPr/>
        </p:nvSpPr>
        <p:spPr>
          <a:xfrm>
            <a:off x="7178040" y="4178808"/>
            <a:ext cx="4233672" cy="365760"/>
          </a:xfrm>
          <a:prstGeom prst="rect">
            <a:avLst/>
          </a:prstGeom>
          <a:noFill/>
          <a:ln/>
        </p:spPr>
        <p:txBody>
          <a:bodyPr wrap="square" lIns="0" tIns="0" rIns="0" bIns="0" rtlCol="0" anchor="t"/>
          <a:lstStyle/>
          <a:p>
            <a:pPr marL="0" indent="0">
              <a:buNone/>
            </a:pPr>
            <a:r>
              <a:rPr lang="en-US" sz="1900" b="1" dirty="0">
                <a:solidFill>
                  <a:srgbClr val="1C5739"/>
                </a:solidFill>
                <a:latin typeface="Sarabun" pitchFamily="34" charset="0"/>
                <a:ea typeface="Sarabun" pitchFamily="34" charset="-122"/>
                <a:cs typeface="Sarabun" pitchFamily="34" charset="-120"/>
              </a:rPr>
              <a:t>ความปลอดภัยเชิงพลวัต</a:t>
            </a:r>
            <a:endParaRPr lang="en-US" sz="1900" dirty="0"/>
          </a:p>
        </p:txBody>
      </p:sp>
      <p:sp>
        <p:nvSpPr>
          <p:cNvPr id="29" name="Text 27"/>
          <p:cNvSpPr txBox="1"/>
          <p:nvPr/>
        </p:nvSpPr>
        <p:spPr>
          <a:xfrm>
            <a:off x="7178040" y="4544568"/>
            <a:ext cx="4233672" cy="274320"/>
          </a:xfrm>
          <a:prstGeom prst="rect">
            <a:avLst/>
          </a:prstGeom>
          <a:noFill/>
          <a:ln/>
        </p:spPr>
        <p:txBody>
          <a:bodyPr wrap="square" lIns="0" tIns="0" rIns="0" bIns="0" rtlCol="0" anchor="t"/>
          <a:lstStyle/>
          <a:p>
            <a:pPr marL="0" indent="0">
              <a:buNone/>
            </a:pPr>
            <a:r>
              <a:rPr lang="en-US" sz="1200" dirty="0">
                <a:solidFill>
                  <a:srgbClr val="6B7280"/>
                </a:solidFill>
                <a:latin typeface="Sarabun" pitchFamily="34" charset="0"/>
                <a:ea typeface="Sarabun" pitchFamily="34" charset="-122"/>
                <a:cs typeface="Sarabun" pitchFamily="34" charset="-120"/>
              </a:rPr>
              <a:t>Dynamic Application Security Testing (DAST)</a:t>
            </a:r>
            <a:endParaRPr lang="en-US" sz="1200" dirty="0"/>
          </a:p>
        </p:txBody>
      </p:sp>
      <p:sp>
        <p:nvSpPr>
          <p:cNvPr id="30" name="Text 28"/>
          <p:cNvSpPr txBox="1"/>
          <p:nvPr/>
        </p:nvSpPr>
        <p:spPr>
          <a:xfrm>
            <a:off x="6492240" y="4937760"/>
            <a:ext cx="4873752" cy="731520"/>
          </a:xfrm>
          <a:prstGeom prst="rect">
            <a:avLst/>
          </a:prstGeom>
          <a:noFill/>
          <a:ln/>
        </p:spPr>
        <p:txBody>
          <a:bodyPr wrap="square" lIns="0" tIns="0" rIns="0" bIns="0" rtlCol="0" anchor="t"/>
          <a:lstStyle/>
          <a:p>
            <a:pPr marL="0" indent="0">
              <a:buNone/>
            </a:pPr>
            <a:r>
              <a:rPr lang="en-US" sz="1400" dirty="0">
                <a:solidFill>
                  <a:srgbClr val="1F2937"/>
                </a:solidFill>
                <a:latin typeface="Sarabun" pitchFamily="34" charset="0"/>
                <a:ea typeface="Sarabun" pitchFamily="34" charset="-122"/>
                <a:cs typeface="Sarabun" pitchFamily="34" charset="-120"/>
              </a:rPr>
              <a:t>ทดสอบแอปที่ทำงานจริงผ่าน endpoint หลังติดตั้งแต่ละเวอร์ชันด้วย Docker Compose</a:t>
            </a:r>
            <a:endParaRPr lang="en-US" sz="1400" dirty="0"/>
          </a:p>
        </p:txBody>
      </p:sp>
      <p:sp>
        <p:nvSpPr>
          <p:cNvPr id="31" name="Text 29"/>
          <p:cNvSpPr txBox="1"/>
          <p:nvPr/>
        </p:nvSpPr>
        <p:spPr>
          <a:xfrm>
            <a:off x="6492240" y="5696712"/>
            <a:ext cx="4873752" cy="274320"/>
          </a:xfrm>
          <a:prstGeom prst="rect">
            <a:avLst/>
          </a:prstGeom>
          <a:noFill/>
          <a:ln/>
        </p:spPr>
        <p:txBody>
          <a:bodyPr wrap="square" lIns="0" tIns="0" rIns="0" bIns="0" rtlCol="0" anchor="t"/>
          <a:lstStyle/>
          <a:p>
            <a:pPr marL="0" indent="0">
              <a:buNone/>
            </a:pPr>
            <a:r>
              <a:rPr lang="en-US" sz="1300" b="1" dirty="0">
                <a:solidFill>
                  <a:srgbClr val="1C5739"/>
                </a:solidFill>
                <a:latin typeface="Sarabun" pitchFamily="34" charset="0"/>
                <a:ea typeface="Sarabun" pitchFamily="34" charset="-122"/>
                <a:cs typeface="Sarabun" pitchFamily="34" charset="-120"/>
              </a:rPr>
              <a:t>ZAP (zaproxy/action-baseline)</a:t>
            </a:r>
            <a:endParaRPr lang="en-US" sz="1300" dirty="0"/>
          </a:p>
        </p:txBody>
      </p:sp>
      <p:sp>
        <p:nvSpPr>
          <p:cNvPr id="32"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1  บทนำ</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ระบบทดลอง: E-commerce 3 โมดูล</a:t>
            </a:r>
            <a:endParaRPr lang="en-US" sz="2800" dirty="0"/>
          </a:p>
        </p:txBody>
      </p:sp>
      <p:sp>
        <p:nvSpPr>
          <p:cNvPr id="4" name="card"/>
          <p:cNvSpPr/>
          <p:nvPr/>
        </p:nvSpPr>
        <p:spPr>
          <a:xfrm>
            <a:off x="548640" y="1645920"/>
            <a:ext cx="3474720" cy="4572000"/>
          </a:xfrm>
          <a:prstGeom prst="roundRect">
            <a:avLst>
              <a:gd name="adj" fmla="val 3158"/>
            </a:avLst>
          </a:prstGeom>
          <a:solidFill>
            <a:srgbClr val="EEF3EF"/>
          </a:solidFill>
          <a:ln w="12700">
            <a:solidFill>
              <a:srgbClr val="EEF3EF"/>
            </a:solidFill>
            <a:prstDash val="solid"/>
          </a:ln>
        </p:spPr>
        <p:txBody>
          <a:bodyPr/>
          <a:lstStyle/>
          <a:p>
            <a:endParaRPr lang="en-TH"/>
          </a:p>
        </p:txBody>
      </p:sp>
      <p:sp>
        <p:nvSpPr>
          <p:cNvPr id="5" name="Shape 3"/>
          <p:cNvSpPr/>
          <p:nvPr/>
        </p:nvSpPr>
        <p:spPr>
          <a:xfrm>
            <a:off x="822960" y="1920240"/>
            <a:ext cx="731520" cy="292608"/>
          </a:xfrm>
          <a:prstGeom prst="roundRect">
            <a:avLst>
              <a:gd name="adj" fmla="val 50000"/>
            </a:avLst>
          </a:prstGeom>
          <a:solidFill>
            <a:srgbClr val="1C5739"/>
          </a:solidFill>
          <a:ln w="19050">
            <a:solidFill>
              <a:srgbClr val="FFFFFF"/>
            </a:solidFill>
            <a:prstDash val="solid"/>
          </a:ln>
        </p:spPr>
        <p:txBody>
          <a:bodyPr/>
          <a:lstStyle/>
          <a:p>
            <a:endParaRPr lang="en-TH"/>
          </a:p>
        </p:txBody>
      </p:sp>
      <p:sp>
        <p:nvSpPr>
          <p:cNvPr id="6" name="Text 4"/>
          <p:cNvSpPr txBox="1"/>
          <p:nvPr/>
        </p:nvSpPr>
        <p:spPr>
          <a:xfrm>
            <a:off x="822960" y="1920240"/>
            <a:ext cx="73152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IM</a:t>
            </a:r>
            <a:endParaRPr lang="en-US" sz="1200" dirty="0"/>
          </a:p>
        </p:txBody>
      </p:sp>
      <p:sp>
        <p:nvSpPr>
          <p:cNvPr id="7" name="Text 5"/>
          <p:cNvSpPr txBox="1"/>
          <p:nvPr/>
        </p:nvSpPr>
        <p:spPr>
          <a:xfrm>
            <a:off x="822960" y="2377440"/>
            <a:ext cx="2926080" cy="365760"/>
          </a:xfrm>
          <a:prstGeom prst="rect">
            <a:avLst/>
          </a:prstGeom>
          <a:noFill/>
          <a:ln/>
        </p:spPr>
        <p:txBody>
          <a:bodyPr wrap="square" lIns="0" tIns="0" rIns="0" bIns="0" rtlCol="0" anchor="t"/>
          <a:lstStyle/>
          <a:p>
            <a:pPr marL="0" indent="0">
              <a:buNone/>
            </a:pPr>
            <a:r>
              <a:rPr lang="en-US" sz="1900" b="1" dirty="0">
                <a:solidFill>
                  <a:srgbClr val="1C5739"/>
                </a:solidFill>
                <a:latin typeface="Sarabun" pitchFamily="34" charset="0"/>
                <a:ea typeface="Sarabun" pitchFamily="34" charset="-122"/>
                <a:cs typeface="Sarabun" pitchFamily="34" charset="-120"/>
              </a:rPr>
              <a:t>Inventory Management</a:t>
            </a:r>
            <a:endParaRPr lang="en-US" sz="1900" dirty="0"/>
          </a:p>
        </p:txBody>
      </p:sp>
      <p:sp>
        <p:nvSpPr>
          <p:cNvPr id="8" name="Text 6"/>
          <p:cNvSpPr txBox="1"/>
          <p:nvPr/>
        </p:nvSpPr>
        <p:spPr>
          <a:xfrm>
            <a:off x="822960" y="2743200"/>
            <a:ext cx="2926080" cy="274320"/>
          </a:xfrm>
          <a:prstGeom prst="rect">
            <a:avLst/>
          </a:prstGeom>
          <a:noFill/>
          <a:ln/>
        </p:spPr>
        <p:txBody>
          <a:bodyPr wrap="square" lIns="0" tIns="0" rIns="0" bIns="0" rtlCol="0" anchor="t"/>
          <a:lstStyle/>
          <a:p>
            <a:pPr marL="0" indent="0">
              <a:buNone/>
            </a:pPr>
            <a:r>
              <a:rPr lang="en-US" sz="1300" dirty="0">
                <a:solidFill>
                  <a:srgbClr val="6B7280"/>
                </a:solidFill>
                <a:latin typeface="Sarabun" pitchFamily="34" charset="0"/>
                <a:ea typeface="Sarabun" pitchFamily="34" charset="-122"/>
                <a:cs typeface="Sarabun" pitchFamily="34" charset="-120"/>
              </a:rPr>
              <a:t>การจัดการสินค้าคงคลัง</a:t>
            </a:r>
            <a:endParaRPr lang="en-US" sz="1300" dirty="0"/>
          </a:p>
        </p:txBody>
      </p:sp>
      <p:sp>
        <p:nvSpPr>
          <p:cNvPr id="11" name="Text 9"/>
          <p:cNvSpPr txBox="1"/>
          <p:nvPr/>
        </p:nvSpPr>
        <p:spPr>
          <a:xfrm>
            <a:off x="822960" y="5577840"/>
            <a:ext cx="2926080" cy="365760"/>
          </a:xfrm>
          <a:prstGeom prst="rect">
            <a:avLst/>
          </a:prstGeom>
          <a:noFill/>
          <a:ln/>
        </p:spPr>
        <p:txBody>
          <a:bodyPr wrap="square" lIns="0" tIns="0" rIns="0" bIns="0" rtlCol="0" anchor="t"/>
          <a:lstStyle/>
          <a:p>
            <a:pPr marL="0" indent="0">
              <a:buNone/>
            </a:pPr>
            <a:r>
              <a:rPr lang="en-US" sz="1600" b="1" dirty="0">
                <a:solidFill>
                  <a:srgbClr val="1C5739"/>
                </a:solidFill>
                <a:latin typeface="Sarabun" pitchFamily="34" charset="0"/>
                <a:ea typeface="Sarabun" pitchFamily="34" charset="-122"/>
                <a:cs typeface="Sarabun" pitchFamily="34" charset="-120"/>
              </a:rPr>
              <a:t>7 กรณีทดสอบ ต่อเวอร์ชัน</a:t>
            </a:r>
            <a:endParaRPr lang="en-US" sz="1600" dirty="0"/>
          </a:p>
        </p:txBody>
      </p:sp>
      <p:sp>
        <p:nvSpPr>
          <p:cNvPr id="12" name="card"/>
          <p:cNvSpPr/>
          <p:nvPr/>
        </p:nvSpPr>
        <p:spPr>
          <a:xfrm>
            <a:off x="4361688" y="1645920"/>
            <a:ext cx="3474720" cy="4572000"/>
          </a:xfrm>
          <a:prstGeom prst="roundRect">
            <a:avLst>
              <a:gd name="adj" fmla="val 3158"/>
            </a:avLst>
          </a:prstGeom>
          <a:solidFill>
            <a:srgbClr val="EEF3EF"/>
          </a:solidFill>
          <a:ln w="12700">
            <a:solidFill>
              <a:srgbClr val="EEF3EF"/>
            </a:solidFill>
            <a:prstDash val="solid"/>
          </a:ln>
        </p:spPr>
        <p:txBody>
          <a:bodyPr/>
          <a:lstStyle/>
          <a:p>
            <a:endParaRPr lang="en-TH"/>
          </a:p>
        </p:txBody>
      </p:sp>
      <p:sp>
        <p:nvSpPr>
          <p:cNvPr id="13" name="Shape 11"/>
          <p:cNvSpPr/>
          <p:nvPr/>
        </p:nvSpPr>
        <p:spPr>
          <a:xfrm>
            <a:off x="4636008" y="1920240"/>
            <a:ext cx="731520" cy="292608"/>
          </a:xfrm>
          <a:prstGeom prst="roundRect">
            <a:avLst>
              <a:gd name="adj" fmla="val 50000"/>
            </a:avLst>
          </a:prstGeom>
          <a:solidFill>
            <a:srgbClr val="1C5739"/>
          </a:solidFill>
          <a:ln w="19050">
            <a:solidFill>
              <a:srgbClr val="FFFFFF"/>
            </a:solidFill>
            <a:prstDash val="solid"/>
          </a:ln>
        </p:spPr>
        <p:txBody>
          <a:bodyPr/>
          <a:lstStyle/>
          <a:p>
            <a:endParaRPr lang="en-TH"/>
          </a:p>
        </p:txBody>
      </p:sp>
      <p:sp>
        <p:nvSpPr>
          <p:cNvPr id="14" name="Text 12"/>
          <p:cNvSpPr txBox="1"/>
          <p:nvPr/>
        </p:nvSpPr>
        <p:spPr>
          <a:xfrm>
            <a:off x="4636008" y="1920240"/>
            <a:ext cx="73152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SC</a:t>
            </a:r>
            <a:endParaRPr lang="en-US" sz="1200" dirty="0"/>
          </a:p>
        </p:txBody>
      </p:sp>
      <p:sp>
        <p:nvSpPr>
          <p:cNvPr id="15" name="Text 13"/>
          <p:cNvSpPr txBox="1"/>
          <p:nvPr/>
        </p:nvSpPr>
        <p:spPr>
          <a:xfrm>
            <a:off x="4636008" y="2377440"/>
            <a:ext cx="2926080" cy="365760"/>
          </a:xfrm>
          <a:prstGeom prst="rect">
            <a:avLst/>
          </a:prstGeom>
          <a:noFill/>
          <a:ln/>
        </p:spPr>
        <p:txBody>
          <a:bodyPr wrap="square" lIns="0" tIns="0" rIns="0" bIns="0" rtlCol="0" anchor="t"/>
          <a:lstStyle/>
          <a:p>
            <a:pPr marL="0" indent="0">
              <a:buNone/>
            </a:pPr>
            <a:r>
              <a:rPr lang="en-US" sz="1900" b="1" dirty="0">
                <a:solidFill>
                  <a:srgbClr val="1C5739"/>
                </a:solidFill>
                <a:latin typeface="Sarabun" pitchFamily="34" charset="0"/>
                <a:ea typeface="Sarabun" pitchFamily="34" charset="-122"/>
                <a:cs typeface="Sarabun" pitchFamily="34" charset="-120"/>
              </a:rPr>
              <a:t>Shopping Cart</a:t>
            </a:r>
            <a:endParaRPr lang="en-US" sz="1900" dirty="0"/>
          </a:p>
        </p:txBody>
      </p:sp>
      <p:sp>
        <p:nvSpPr>
          <p:cNvPr id="16" name="Text 14"/>
          <p:cNvSpPr txBox="1"/>
          <p:nvPr/>
        </p:nvSpPr>
        <p:spPr>
          <a:xfrm>
            <a:off x="4636008" y="2743200"/>
            <a:ext cx="2926080" cy="274320"/>
          </a:xfrm>
          <a:prstGeom prst="rect">
            <a:avLst/>
          </a:prstGeom>
          <a:noFill/>
          <a:ln/>
        </p:spPr>
        <p:txBody>
          <a:bodyPr wrap="square" lIns="0" tIns="0" rIns="0" bIns="0" rtlCol="0" anchor="t"/>
          <a:lstStyle/>
          <a:p>
            <a:pPr marL="0" indent="0">
              <a:buNone/>
            </a:pPr>
            <a:r>
              <a:rPr lang="en-US" sz="1300" dirty="0">
                <a:solidFill>
                  <a:srgbClr val="6B7280"/>
                </a:solidFill>
                <a:latin typeface="Sarabun" pitchFamily="34" charset="0"/>
                <a:ea typeface="Sarabun" pitchFamily="34" charset="-122"/>
                <a:cs typeface="Sarabun" pitchFamily="34" charset="-120"/>
              </a:rPr>
              <a:t>ตะกร้าสินค้า</a:t>
            </a:r>
            <a:endParaRPr lang="en-US" sz="1300" dirty="0"/>
          </a:p>
        </p:txBody>
      </p:sp>
      <p:sp>
        <p:nvSpPr>
          <p:cNvPr id="19" name="Text 17"/>
          <p:cNvSpPr txBox="1"/>
          <p:nvPr/>
        </p:nvSpPr>
        <p:spPr>
          <a:xfrm>
            <a:off x="4636008" y="5577840"/>
            <a:ext cx="2926080" cy="365760"/>
          </a:xfrm>
          <a:prstGeom prst="rect">
            <a:avLst/>
          </a:prstGeom>
          <a:noFill/>
          <a:ln/>
        </p:spPr>
        <p:txBody>
          <a:bodyPr wrap="square" lIns="0" tIns="0" rIns="0" bIns="0" rtlCol="0" anchor="t"/>
          <a:lstStyle/>
          <a:p>
            <a:pPr marL="0" indent="0">
              <a:buNone/>
            </a:pPr>
            <a:r>
              <a:rPr lang="en-US" sz="1600" b="1" dirty="0">
                <a:solidFill>
                  <a:srgbClr val="1C5739"/>
                </a:solidFill>
                <a:latin typeface="Sarabun" pitchFamily="34" charset="0"/>
                <a:ea typeface="Sarabun" pitchFamily="34" charset="-122"/>
                <a:cs typeface="Sarabun" pitchFamily="34" charset="-120"/>
              </a:rPr>
              <a:t>5 กรณีทดสอบ ต่อเวอร์ชัน</a:t>
            </a:r>
            <a:endParaRPr lang="en-US" sz="1600" dirty="0"/>
          </a:p>
        </p:txBody>
      </p:sp>
      <p:sp>
        <p:nvSpPr>
          <p:cNvPr id="20" name="card"/>
          <p:cNvSpPr/>
          <p:nvPr/>
        </p:nvSpPr>
        <p:spPr>
          <a:xfrm>
            <a:off x="8174736" y="1645920"/>
            <a:ext cx="3474720" cy="4572000"/>
          </a:xfrm>
          <a:prstGeom prst="roundRect">
            <a:avLst>
              <a:gd name="adj" fmla="val 3158"/>
            </a:avLst>
          </a:prstGeom>
          <a:solidFill>
            <a:srgbClr val="EEF3EF"/>
          </a:solidFill>
          <a:ln w="12700">
            <a:solidFill>
              <a:srgbClr val="EEF3EF"/>
            </a:solidFill>
            <a:prstDash val="solid"/>
          </a:ln>
        </p:spPr>
        <p:txBody>
          <a:bodyPr/>
          <a:lstStyle/>
          <a:p>
            <a:endParaRPr lang="en-TH"/>
          </a:p>
        </p:txBody>
      </p:sp>
      <p:sp>
        <p:nvSpPr>
          <p:cNvPr id="21" name="Shape 19"/>
          <p:cNvSpPr/>
          <p:nvPr/>
        </p:nvSpPr>
        <p:spPr>
          <a:xfrm>
            <a:off x="8449056" y="1920240"/>
            <a:ext cx="731520" cy="292608"/>
          </a:xfrm>
          <a:prstGeom prst="roundRect">
            <a:avLst>
              <a:gd name="adj" fmla="val 50000"/>
            </a:avLst>
          </a:prstGeom>
          <a:solidFill>
            <a:srgbClr val="1C5739"/>
          </a:solidFill>
          <a:ln w="19050">
            <a:solidFill>
              <a:srgbClr val="FFFFFF"/>
            </a:solidFill>
            <a:prstDash val="solid"/>
          </a:ln>
        </p:spPr>
        <p:txBody>
          <a:bodyPr/>
          <a:lstStyle/>
          <a:p>
            <a:endParaRPr lang="en-TH"/>
          </a:p>
        </p:txBody>
      </p:sp>
      <p:sp>
        <p:nvSpPr>
          <p:cNvPr id="22" name="Text 20"/>
          <p:cNvSpPr txBox="1"/>
          <p:nvPr/>
        </p:nvSpPr>
        <p:spPr>
          <a:xfrm>
            <a:off x="8449056" y="1920240"/>
            <a:ext cx="73152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PD</a:t>
            </a:r>
            <a:endParaRPr lang="en-US" sz="1200" dirty="0"/>
          </a:p>
        </p:txBody>
      </p:sp>
      <p:sp>
        <p:nvSpPr>
          <p:cNvPr id="23" name="Text 21"/>
          <p:cNvSpPr txBox="1"/>
          <p:nvPr/>
        </p:nvSpPr>
        <p:spPr>
          <a:xfrm>
            <a:off x="8449056" y="2377440"/>
            <a:ext cx="2926080" cy="365760"/>
          </a:xfrm>
          <a:prstGeom prst="rect">
            <a:avLst/>
          </a:prstGeom>
          <a:noFill/>
          <a:ln/>
        </p:spPr>
        <p:txBody>
          <a:bodyPr wrap="square" lIns="0" tIns="0" rIns="0" bIns="0" rtlCol="0" anchor="t"/>
          <a:lstStyle/>
          <a:p>
            <a:pPr marL="0" indent="0">
              <a:buNone/>
            </a:pPr>
            <a:r>
              <a:rPr lang="en-US" sz="1900" b="1" dirty="0">
                <a:solidFill>
                  <a:srgbClr val="1C5739"/>
                </a:solidFill>
                <a:latin typeface="Sarabun" pitchFamily="34" charset="0"/>
                <a:ea typeface="Sarabun" pitchFamily="34" charset="-122"/>
                <a:cs typeface="Sarabun" pitchFamily="34" charset="-120"/>
              </a:rPr>
              <a:t>Promotions &amp; Discounts</a:t>
            </a:r>
            <a:endParaRPr lang="en-US" sz="1900" dirty="0"/>
          </a:p>
        </p:txBody>
      </p:sp>
      <p:sp>
        <p:nvSpPr>
          <p:cNvPr id="24" name="Text 22"/>
          <p:cNvSpPr txBox="1"/>
          <p:nvPr/>
        </p:nvSpPr>
        <p:spPr>
          <a:xfrm>
            <a:off x="8449056" y="2743200"/>
            <a:ext cx="2926080" cy="274320"/>
          </a:xfrm>
          <a:prstGeom prst="rect">
            <a:avLst/>
          </a:prstGeom>
          <a:noFill/>
          <a:ln/>
        </p:spPr>
        <p:txBody>
          <a:bodyPr wrap="square" lIns="0" tIns="0" rIns="0" bIns="0" rtlCol="0" anchor="t"/>
          <a:lstStyle/>
          <a:p>
            <a:pPr marL="0" indent="0">
              <a:buNone/>
            </a:pPr>
            <a:r>
              <a:rPr lang="en-US" sz="1300" dirty="0">
                <a:solidFill>
                  <a:srgbClr val="6B7280"/>
                </a:solidFill>
                <a:latin typeface="Sarabun" pitchFamily="34" charset="0"/>
                <a:ea typeface="Sarabun" pitchFamily="34" charset="-122"/>
                <a:cs typeface="Sarabun" pitchFamily="34" charset="-120"/>
              </a:rPr>
              <a:t>โปรโมชันและส่วนลด</a:t>
            </a:r>
            <a:endParaRPr lang="en-US" sz="1300" dirty="0"/>
          </a:p>
        </p:txBody>
      </p:sp>
      <p:sp>
        <p:nvSpPr>
          <p:cNvPr id="27" name="Text 25"/>
          <p:cNvSpPr txBox="1"/>
          <p:nvPr/>
        </p:nvSpPr>
        <p:spPr>
          <a:xfrm>
            <a:off x="8449056" y="5577840"/>
            <a:ext cx="2926080" cy="365760"/>
          </a:xfrm>
          <a:prstGeom prst="rect">
            <a:avLst/>
          </a:prstGeom>
          <a:noFill/>
          <a:ln/>
        </p:spPr>
        <p:txBody>
          <a:bodyPr wrap="square" lIns="0" tIns="0" rIns="0" bIns="0" rtlCol="0" anchor="t"/>
          <a:lstStyle/>
          <a:p>
            <a:pPr marL="0" indent="0">
              <a:buNone/>
            </a:pPr>
            <a:r>
              <a:rPr lang="en-US" sz="1600" b="1" dirty="0">
                <a:solidFill>
                  <a:srgbClr val="1C5739"/>
                </a:solidFill>
                <a:latin typeface="Sarabun" pitchFamily="34" charset="0"/>
                <a:ea typeface="Sarabun" pitchFamily="34" charset="-122"/>
                <a:cs typeface="Sarabun" pitchFamily="34" charset="-120"/>
              </a:rPr>
              <a:t>6 กรณีทดสอบ ต่อเวอร์ชัน</a:t>
            </a:r>
            <a:endParaRPr lang="en-US" sz="1600" dirty="0"/>
          </a:p>
        </p:txBody>
      </p:sp>
      <p:sp>
        <p:nvSpPr>
          <p:cNvPr id="28"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7</a:t>
            </a:fld>
            <a:endParaRPr lang="en-US"/>
          </a:p>
        </p:txBody>
      </p:sp>
      <p:sp>
        <p:nvSpPr>
          <p:cNvPr id="29" name="detail IM"/>
          <p:cNvSpPr txBox="1"/>
          <p:nvPr/>
        </p:nvSpPr>
        <p:spPr>
          <a:xfrm>
            <a:off x="822960" y="3108960"/>
            <a:ext cx="2926080" cy="2420000"/>
          </a:xfrm>
          <a:prstGeom prst="rect">
            <a:avLst/>
          </a:prstGeom>
          <a:noFill/>
        </p:spPr>
        <p:txBody>
          <a:bodyPr wrap="square" lIns="0" tIns="0" rIns="0" bIns="0">
            <a:spAutoFit/>
          </a:bodyPr>
          <a:lstStyle/>
          <a:p>
            <a:pPr>
              <a:spcAft>
                <a:spcPts val="200"/>
              </a:spcAft>
            </a:pPr>
            <a:r>
              <a:rPr sz="1100" b="1">
                <a:solidFill>
                  <a:srgbClr val="1C5739"/>
                </a:solidFill>
                <a:latin typeface="Sarabun"/>
                <a:ea typeface="Sarabun"/>
                <a:cs typeface="Sarabun"/>
              </a:rPr>
              <a:t>ฟีเจอร์</a:t>
            </a:r>
          </a:p>
          <a:p>
            <a:pPr marL="128016" indent="-128016">
              <a:spcAft>
                <a:spcPts val="100"/>
              </a:spcAft>
              <a:buChar char="•"/>
            </a:pPr>
            <a:r>
              <a:rPr sz="1050" b="0">
                <a:solidFill>
                  <a:srgbClr val="1F2937"/>
                </a:solidFill>
                <a:latin typeface="Sarabun"/>
                <a:ea typeface="Sarabun"/>
                <a:cs typeface="Sarabun"/>
              </a:rPr>
              <a:t>ตัดและคืนสต็อกแบบเรียลไทม์</a:t>
            </a:r>
          </a:p>
          <a:p>
            <a:pPr marL="128016" indent="-128016">
              <a:spcAft>
                <a:spcPts val="100"/>
              </a:spcAft>
              <a:buChar char="•"/>
            </a:pPr>
            <a:r>
              <a:rPr sz="1050" b="0">
                <a:solidFill>
                  <a:srgbClr val="1F2937"/>
                </a:solidFill>
                <a:latin typeface="Sarabun"/>
                <a:ea typeface="Sarabun"/>
                <a:cs typeface="Sarabun"/>
              </a:rPr>
              <a:t>แจ้งเตือนสินค้าใกล้หมด (Low Stock Alert)</a:t>
            </a:r>
          </a:p>
          <a:p>
            <a:pPr marL="128016" indent="-128016">
              <a:spcAft>
                <a:spcPts val="100"/>
              </a:spcAft>
              <a:buChar char="•"/>
            </a:pPr>
            <a:r>
              <a:rPr sz="1050" b="0">
                <a:solidFill>
                  <a:srgbClr val="1F2937"/>
                </a:solidFill>
                <a:latin typeface="Sarabun"/>
                <a:ea typeface="Sarabun"/>
                <a:cs typeface="Sarabun"/>
              </a:rPr>
              <a:t>ประวัติการเคลื่อนไหวสินค้า (Audit Log)</a:t>
            </a:r>
          </a:p>
          <a:p>
            <a:pPr>
              <a:spcBef>
                <a:spcPts val="700"/>
              </a:spcBef>
              <a:spcAft>
                <a:spcPts val="200"/>
              </a:spcAft>
            </a:pPr>
            <a:r>
              <a:rPr sz="1100" b="1">
                <a:solidFill>
                  <a:srgbClr val="1C5739"/>
                </a:solidFill>
                <a:latin typeface="Sarabun"/>
                <a:ea typeface="Sarabun"/>
                <a:cs typeface="Sarabun"/>
              </a:rPr>
              <a:t>จุดที่ใช้วัดผล AI</a:t>
            </a:r>
          </a:p>
          <a:p>
            <a:pPr marL="128016" indent="-128016">
              <a:spcAft>
                <a:spcPts val="100"/>
              </a:spcAft>
              <a:buChar char="•"/>
            </a:pPr>
            <a:r>
              <a:rPr sz="1050" b="0">
                <a:solidFill>
                  <a:srgbClr val="1F2937"/>
                </a:solidFill>
                <a:latin typeface="Sarabun"/>
                <a:ea typeface="Sarabun"/>
                <a:cs typeface="Sarabun"/>
              </a:rPr>
              <a:t>ตัดสต็อกแม่นยำ (Stock Deduction)</a:t>
            </a:r>
          </a:p>
          <a:p>
            <a:pPr marL="128016" indent="-128016">
              <a:spcAft>
                <a:spcPts val="100"/>
              </a:spcAft>
              <a:buChar char="•"/>
            </a:pPr>
            <a:r>
              <a:rPr sz="1050" b="0">
                <a:solidFill>
                  <a:srgbClr val="1F2937"/>
                </a:solidFill>
                <a:latin typeface="Sarabun"/>
                <a:ea typeface="Sarabun"/>
                <a:cs typeface="Sarabun"/>
              </a:rPr>
              <a:t>Race Condition: ซื้อพร้อมกัน 2 คน ของมีชิ้นเดียว</a:t>
            </a:r>
          </a:p>
          <a:p>
            <a:pPr marL="128016" indent="-128016">
              <a:spcAft>
                <a:spcPts val="100"/>
              </a:spcAft>
              <a:buChar char="•"/>
            </a:pPr>
            <a:r>
              <a:rPr sz="1050" b="0">
                <a:solidFill>
                  <a:srgbClr val="1F2937"/>
                </a:solidFill>
                <a:latin typeface="Sarabun"/>
                <a:ea typeface="Sarabun"/>
                <a:cs typeface="Sarabun"/>
              </a:rPr>
              <a:t>แจ้งเตือนเมื่อสินค้าใกล้หมด</a:t>
            </a:r>
          </a:p>
          <a:p>
            <a:pPr>
              <a:spcBef>
                <a:spcPts val="700"/>
              </a:spcBef>
              <a:spcAft>
                <a:spcPts val="200"/>
              </a:spcAft>
            </a:pPr>
            <a:r>
              <a:rPr sz="1100" b="1">
                <a:solidFill>
                  <a:srgbClr val="D93025"/>
                </a:solidFill>
                <a:latin typeface="Sarabun"/>
                <a:ea typeface="Sarabun"/>
                <a:cs typeface="Sarabun"/>
              </a:rPr>
              <a:t>ความท้าทาย</a:t>
            </a:r>
          </a:p>
          <a:p>
            <a:pPr>
              <a:spcAft>
                <a:spcPts val="0"/>
              </a:spcAft>
            </a:pPr>
            <a:r>
              <a:rPr sz="1050" b="0">
                <a:solidFill>
                  <a:srgbClr val="1F2937"/>
                </a:solidFill>
                <a:latin typeface="Sarabun"/>
                <a:ea typeface="Sarabun"/>
                <a:cs typeface="Sarabun"/>
              </a:rPr>
              <a:t>ต้องเขียน Lock database / Transaction ให้ถูกต้อง</a:t>
            </a:r>
          </a:p>
        </p:txBody>
      </p:sp>
      <p:sp>
        <p:nvSpPr>
          <p:cNvPr id="30" name="detail SC"/>
          <p:cNvSpPr txBox="1"/>
          <p:nvPr/>
        </p:nvSpPr>
        <p:spPr>
          <a:xfrm>
            <a:off x="4636008" y="3108960"/>
            <a:ext cx="2926080" cy="2420000"/>
          </a:xfrm>
          <a:prstGeom prst="rect">
            <a:avLst/>
          </a:prstGeom>
          <a:noFill/>
        </p:spPr>
        <p:txBody>
          <a:bodyPr wrap="square" lIns="0" tIns="0" rIns="0" bIns="0">
            <a:spAutoFit/>
          </a:bodyPr>
          <a:lstStyle/>
          <a:p>
            <a:pPr>
              <a:spcAft>
                <a:spcPts val="200"/>
              </a:spcAft>
            </a:pPr>
            <a:r>
              <a:rPr sz="1100" b="1">
                <a:solidFill>
                  <a:srgbClr val="1C5739"/>
                </a:solidFill>
                <a:latin typeface="Sarabun"/>
                <a:ea typeface="Sarabun"/>
                <a:cs typeface="Sarabun"/>
              </a:rPr>
              <a:t>ฟีเจอร์</a:t>
            </a:r>
          </a:p>
          <a:p>
            <a:pPr marL="128016" indent="-128016">
              <a:spcAft>
                <a:spcPts val="100"/>
              </a:spcAft>
              <a:buChar char="•"/>
            </a:pPr>
            <a:r>
              <a:rPr sz="1050" b="0">
                <a:solidFill>
                  <a:srgbClr val="1F2937"/>
                </a:solidFill>
                <a:latin typeface="Sarabun"/>
                <a:ea typeface="Sarabun"/>
                <a:cs typeface="Sarabun"/>
              </a:rPr>
              <a:t>เพิ่มและรวมรายการสินค้า (Merge Logic)</a:t>
            </a:r>
          </a:p>
          <a:p>
            <a:pPr marL="128016" indent="-128016">
              <a:spcAft>
                <a:spcPts val="100"/>
              </a:spcAft>
              <a:buChar char="•"/>
            </a:pPr>
            <a:r>
              <a:rPr sz="1050" b="0">
                <a:solidFill>
                  <a:srgbClr val="1F2937"/>
                </a:solidFill>
                <a:latin typeface="Sarabun"/>
                <a:ea typeface="Sarabun"/>
                <a:cs typeface="Sarabun"/>
              </a:rPr>
              <a:t>คำนวณยอดรวมแบบไดนามิก (Dynamic Totals)</a:t>
            </a:r>
          </a:p>
          <a:p>
            <a:pPr marL="128016" indent="-128016">
              <a:spcAft>
                <a:spcPts val="100"/>
              </a:spcAft>
              <a:buChar char="•"/>
            </a:pPr>
            <a:r>
              <a:rPr sz="1050" b="0">
                <a:solidFill>
                  <a:srgbClr val="1F2937"/>
                </a:solidFill>
                <a:latin typeface="Sarabun"/>
                <a:ea typeface="Sarabun"/>
                <a:cs typeface="Sarabun"/>
              </a:rPr>
              <a:t>จัดเก็บไว้ซื้อภายหลัง (Save for Later)</a:t>
            </a:r>
          </a:p>
          <a:p>
            <a:pPr>
              <a:spcBef>
                <a:spcPts val="700"/>
              </a:spcBef>
              <a:spcAft>
                <a:spcPts val="200"/>
              </a:spcAft>
            </a:pPr>
            <a:r>
              <a:rPr sz="1100" b="1">
                <a:solidFill>
                  <a:srgbClr val="1C5739"/>
                </a:solidFill>
                <a:latin typeface="Sarabun"/>
                <a:ea typeface="Sarabun"/>
                <a:cs typeface="Sarabun"/>
              </a:rPr>
              <a:t>จุดที่ใช้วัดผล AI</a:t>
            </a:r>
          </a:p>
          <a:p>
            <a:pPr marL="128016" indent="-128016">
              <a:spcAft>
                <a:spcPts val="100"/>
              </a:spcAft>
              <a:buChar char="•"/>
            </a:pPr>
            <a:r>
              <a:rPr sz="1050" b="0">
                <a:solidFill>
                  <a:srgbClr val="1F2937"/>
                </a:solidFill>
                <a:latin typeface="Sarabun"/>
                <a:ea typeface="Sarabun"/>
                <a:cs typeface="Sarabun"/>
              </a:rPr>
              <a:t>คำนวณราคารวมเมื่อเพิ่ม/ลดจำนวน</a:t>
            </a:r>
          </a:p>
          <a:p>
            <a:pPr marL="128016" indent="-128016">
              <a:spcAft>
                <a:spcPts val="100"/>
              </a:spcAft>
              <a:buChar char="•"/>
            </a:pPr>
            <a:r>
              <a:rPr sz="1050" b="0">
                <a:solidFill>
                  <a:srgbClr val="1F2937"/>
                </a:solidFill>
                <a:latin typeface="Sarabun"/>
                <a:ea typeface="Sarabun"/>
                <a:cs typeface="Sarabun"/>
              </a:rPr>
              <a:t>ตรวจสต็อกก่อนเพิ่มลงตะกร้า</a:t>
            </a:r>
          </a:p>
          <a:p>
            <a:pPr marL="128016" indent="-128016">
              <a:spcAft>
                <a:spcPts val="100"/>
              </a:spcAft>
              <a:buChar char="•"/>
            </a:pPr>
            <a:r>
              <a:rPr sz="1050" b="0">
                <a:solidFill>
                  <a:srgbClr val="1F2937"/>
                </a:solidFill>
                <a:latin typeface="Sarabun"/>
                <a:ea typeface="Sarabun"/>
                <a:cs typeface="Sarabun"/>
              </a:rPr>
              <a:t>รวมรายการเดียวกันเมื่อกดเพิ่มซ้ำ</a:t>
            </a:r>
          </a:p>
          <a:p>
            <a:pPr>
              <a:spcBef>
                <a:spcPts val="700"/>
              </a:spcBef>
              <a:spcAft>
                <a:spcPts val="200"/>
              </a:spcAft>
            </a:pPr>
            <a:r>
              <a:rPr sz="1100" b="1">
                <a:solidFill>
                  <a:srgbClr val="D93025"/>
                </a:solidFill>
                <a:latin typeface="Sarabun"/>
                <a:ea typeface="Sarabun"/>
                <a:cs typeface="Sarabun"/>
              </a:rPr>
              <a:t>ความท้าทาย</a:t>
            </a:r>
          </a:p>
          <a:p>
            <a:pPr>
              <a:spcAft>
                <a:spcPts val="0"/>
              </a:spcAft>
            </a:pPr>
            <a:r>
              <a:rPr sz="1050" b="0">
                <a:solidFill>
                  <a:srgbClr val="1F2937"/>
                </a:solidFill>
                <a:latin typeface="Sarabun"/>
                <a:ea typeface="Sarabun"/>
                <a:cs typeface="Sarabun"/>
              </a:rPr>
              <a:t>จัดการ Data Structure ของ Cart และคำนวณทศนิยมให้แม่นยำ</a:t>
            </a:r>
          </a:p>
        </p:txBody>
      </p:sp>
      <p:sp>
        <p:nvSpPr>
          <p:cNvPr id="31" name="detail PD"/>
          <p:cNvSpPr txBox="1"/>
          <p:nvPr/>
        </p:nvSpPr>
        <p:spPr>
          <a:xfrm>
            <a:off x="8449056" y="3108960"/>
            <a:ext cx="2926080" cy="2420000"/>
          </a:xfrm>
          <a:prstGeom prst="rect">
            <a:avLst/>
          </a:prstGeom>
          <a:noFill/>
        </p:spPr>
        <p:txBody>
          <a:bodyPr wrap="square" lIns="0" tIns="0" rIns="0" bIns="0">
            <a:spAutoFit/>
          </a:bodyPr>
          <a:lstStyle/>
          <a:p>
            <a:pPr>
              <a:spcAft>
                <a:spcPts val="200"/>
              </a:spcAft>
            </a:pPr>
            <a:r>
              <a:rPr sz="1100" b="1">
                <a:solidFill>
                  <a:srgbClr val="1C5739"/>
                </a:solidFill>
                <a:latin typeface="Sarabun"/>
                <a:ea typeface="Sarabun"/>
                <a:cs typeface="Sarabun"/>
              </a:rPr>
              <a:t>ฟีเจอร์</a:t>
            </a:r>
          </a:p>
          <a:p>
            <a:pPr marL="128016" indent="-128016">
              <a:spcAft>
                <a:spcPts val="100"/>
              </a:spcAft>
              <a:buChar char="•"/>
            </a:pPr>
            <a:r>
              <a:rPr sz="1050" b="0">
                <a:solidFill>
                  <a:srgbClr val="1F2937"/>
                </a:solidFill>
                <a:latin typeface="Sarabun"/>
                <a:ea typeface="Sarabun"/>
                <a:cs typeface="Sarabun"/>
              </a:rPr>
              <a:t>ตรวจสอบคูปอง (Coupon Validation)</a:t>
            </a:r>
          </a:p>
          <a:p>
            <a:pPr marL="128016" indent="-128016">
              <a:spcAft>
                <a:spcPts val="100"/>
              </a:spcAft>
              <a:buChar char="•"/>
            </a:pPr>
            <a:r>
              <a:rPr sz="1050" b="0">
                <a:solidFill>
                  <a:srgbClr val="1F2937"/>
                </a:solidFill>
                <a:latin typeface="Sarabun"/>
                <a:ea typeface="Sarabun"/>
                <a:cs typeface="Sarabun"/>
              </a:rPr>
              <a:t>ตรรกะคำนวณส่วนลด (Discount Logic)</a:t>
            </a:r>
          </a:p>
          <a:p>
            <a:pPr marL="128016" indent="-128016">
              <a:spcAft>
                <a:spcPts val="100"/>
              </a:spcAft>
              <a:buChar char="•"/>
            </a:pPr>
            <a:r>
              <a:rPr sz="1050" b="0">
                <a:solidFill>
                  <a:srgbClr val="1F2937"/>
                </a:solidFill>
                <a:latin typeface="Sarabun"/>
                <a:ea typeface="Sarabun"/>
                <a:cs typeface="Sarabun"/>
              </a:rPr>
              <a:t>ขอบเขตการใช้ส่วนลด (Discount Scope)</a:t>
            </a:r>
          </a:p>
          <a:p>
            <a:pPr>
              <a:spcBef>
                <a:spcPts val="700"/>
              </a:spcBef>
              <a:spcAft>
                <a:spcPts val="200"/>
              </a:spcAft>
            </a:pPr>
            <a:r>
              <a:rPr sz="1100" b="1">
                <a:solidFill>
                  <a:srgbClr val="1C5739"/>
                </a:solidFill>
                <a:latin typeface="Sarabun"/>
                <a:ea typeface="Sarabun"/>
                <a:cs typeface="Sarabun"/>
              </a:rPr>
              <a:t>จุดที่ใช้วัดผล AI</a:t>
            </a:r>
          </a:p>
          <a:p>
            <a:pPr marL="128016" indent="-128016">
              <a:spcAft>
                <a:spcPts val="100"/>
              </a:spcAft>
              <a:buChar char="•"/>
            </a:pPr>
            <a:r>
              <a:rPr sz="1050" b="0">
                <a:solidFill>
                  <a:srgbClr val="1F2937"/>
                </a:solidFill>
                <a:latin typeface="Sarabun"/>
                <a:ea typeface="Sarabun"/>
                <a:cs typeface="Sarabun"/>
              </a:rPr>
              <a:t>ส่วนลดเป็น % หรือเป็นจำนวนเงิน</a:t>
            </a:r>
          </a:p>
          <a:p>
            <a:pPr marL="128016" indent="-128016">
              <a:spcAft>
                <a:spcPts val="100"/>
              </a:spcAft>
              <a:buChar char="•"/>
            </a:pPr>
            <a:r>
              <a:rPr sz="1050" b="0">
                <a:solidFill>
                  <a:srgbClr val="1F2937"/>
                </a:solidFill>
                <a:latin typeface="Sarabun"/>
                <a:ea typeface="Sarabun"/>
                <a:cs typeface="Sarabun"/>
              </a:rPr>
              <a:t>เงื่อนไขคูปอง: หมวดหมู่, ยอดซื้อขั้นต่ำ</a:t>
            </a:r>
          </a:p>
          <a:p>
            <a:pPr marL="128016" indent="-128016">
              <a:spcAft>
                <a:spcPts val="100"/>
              </a:spcAft>
              <a:buChar char="•"/>
            </a:pPr>
            <a:r>
              <a:rPr sz="1050" b="0">
                <a:solidFill>
                  <a:srgbClr val="1F2937"/>
                </a:solidFill>
                <a:latin typeface="Sarabun"/>
                <a:ea typeface="Sarabun"/>
                <a:cs typeface="Sarabun"/>
              </a:rPr>
              <a:t>ลำดับคำนวณ: ลดสินค้าก่อน แล้วลดท้ายบิล</a:t>
            </a:r>
          </a:p>
          <a:p>
            <a:pPr>
              <a:spcBef>
                <a:spcPts val="700"/>
              </a:spcBef>
              <a:spcAft>
                <a:spcPts val="200"/>
              </a:spcAft>
            </a:pPr>
            <a:r>
              <a:rPr sz="1100" b="1">
                <a:solidFill>
                  <a:srgbClr val="D93025"/>
                </a:solidFill>
                <a:latin typeface="Sarabun"/>
                <a:ea typeface="Sarabun"/>
                <a:cs typeface="Sarabun"/>
              </a:rPr>
              <a:t>ความท้าทาย</a:t>
            </a:r>
          </a:p>
          <a:p>
            <a:pPr>
              <a:spcAft>
                <a:spcPts val="0"/>
              </a:spcAft>
            </a:pPr>
            <a:r>
              <a:rPr sz="1050" b="0">
                <a:solidFill>
                  <a:srgbClr val="1F2937"/>
                </a:solidFill>
                <a:latin typeface="Sarabun"/>
                <a:ea typeface="Sarabun"/>
                <a:cs typeface="Sarabun"/>
              </a:rPr>
              <a:t>AI มักพลาดเรื่องลำดับการคำนวณ (Order of Operations)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2  แนวคิด ทฤษฎี</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วิศวกรรมบริบท (Context Engineering)</a:t>
            </a:r>
            <a:endParaRPr lang="en-US" sz="2800" dirty="0"/>
          </a:p>
        </p:txBody>
      </p:sp>
      <p:sp>
        <p:nvSpPr>
          <p:cNvPr id="4" name="Text 2"/>
          <p:cNvSpPr txBox="1"/>
          <p:nvPr/>
        </p:nvSpPr>
        <p:spPr>
          <a:xfrm>
            <a:off x="548640" y="1371600"/>
            <a:ext cx="11094415" cy="640080"/>
          </a:xfrm>
          <a:prstGeom prst="rect">
            <a:avLst/>
          </a:prstGeom>
          <a:noFill/>
          <a:ln/>
        </p:spPr>
        <p:txBody>
          <a:bodyPr wrap="square" lIns="0" tIns="0" rIns="0" bIns="0" rtlCol="0" anchor="t"/>
          <a:lstStyle/>
          <a:p>
            <a:pPr marL="0" indent="0">
              <a:buNone/>
            </a:pPr>
            <a:r>
              <a:rPr lang="en-US" sz="1700" dirty="0">
                <a:solidFill>
                  <a:srgbClr val="1F2937"/>
                </a:solidFill>
                <a:latin typeface="Sarabun" pitchFamily="34" charset="0"/>
                <a:ea typeface="Sarabun" pitchFamily="34" charset="-122"/>
                <a:cs typeface="Sarabun" pitchFamily="34" charset="-120"/>
              </a:rPr>
              <a:t>ออกแบบและจัดการบริบทสำหรับ LLM อย่างเป็นระบบ รวมข้อมูลหลายประเภทเป็นบริบทที่มีโครงสร้าง เพื่อเพิ่มความแม่นยำและความสอดคล้องของผลลัพธ์</a:t>
            </a:r>
            <a:endParaRPr lang="en-US" sz="1700" dirty="0"/>
          </a:p>
        </p:txBody>
      </p:sp>
      <p:sp>
        <p:nvSpPr>
          <p:cNvPr id="5" name="card"/>
          <p:cNvSpPr/>
          <p:nvPr/>
        </p:nvSpPr>
        <p:spPr>
          <a:xfrm>
            <a:off x="548640" y="3709978"/>
            <a:ext cx="1691640" cy="1645920"/>
          </a:xfrm>
          <a:prstGeom prst="roundRect">
            <a:avLst>
              <a:gd name="adj" fmla="val 6486"/>
            </a:avLst>
          </a:prstGeom>
          <a:solidFill>
            <a:srgbClr val="E8F1FD"/>
          </a:solidFill>
          <a:ln w="12700">
            <a:solidFill>
              <a:srgbClr val="E8F1FD"/>
            </a:solidFill>
            <a:prstDash val="solid"/>
          </a:ln>
        </p:spPr>
        <p:txBody>
          <a:bodyPr/>
          <a:lstStyle/>
          <a:p>
            <a:endParaRPr lang="en-TH"/>
          </a:p>
        </p:txBody>
      </p:sp>
      <p:sp>
        <p:nvSpPr>
          <p:cNvPr id="6" name="Shape 4"/>
          <p:cNvSpPr/>
          <p:nvPr/>
        </p:nvSpPr>
        <p:spPr>
          <a:xfrm>
            <a:off x="749808" y="3847138"/>
            <a:ext cx="457200" cy="457200"/>
          </a:xfrm>
          <a:prstGeom prst="ellipse">
            <a:avLst/>
          </a:prstGeom>
          <a:solidFill>
            <a:srgbClr val="2F80ED"/>
          </a:solidFill>
          <a:ln w="12700">
            <a:solidFill>
              <a:srgbClr val="2F80ED"/>
            </a:solidFill>
            <a:prstDash val="solid"/>
          </a:ln>
        </p:spPr>
        <p:txBody>
          <a:bodyPr/>
          <a:lstStyle/>
          <a:p>
            <a:endParaRPr lang="en-TH"/>
          </a:p>
        </p:txBody>
      </p:sp>
      <p:sp>
        <p:nvSpPr>
          <p:cNvPr id="7" name="Text 5"/>
          <p:cNvSpPr txBox="1"/>
          <p:nvPr/>
        </p:nvSpPr>
        <p:spPr>
          <a:xfrm>
            <a:off x="749808" y="384713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1</a:t>
            </a:r>
            <a:endParaRPr lang="en-US" sz="1600" dirty="0"/>
          </a:p>
        </p:txBody>
      </p:sp>
      <p:sp>
        <p:nvSpPr>
          <p:cNvPr id="8" name="Text 6"/>
          <p:cNvSpPr txBox="1"/>
          <p:nvPr/>
        </p:nvSpPr>
        <p:spPr>
          <a:xfrm>
            <a:off x="749808" y="4350058"/>
            <a:ext cx="1371600" cy="457200"/>
          </a:xfrm>
          <a:prstGeom prst="rect">
            <a:avLst/>
          </a:prstGeom>
          <a:noFill/>
          <a:ln/>
        </p:spPr>
        <p:txBody>
          <a:bodyPr wrap="square" lIns="0" tIns="0" rIns="0" bIns="0" rtlCol="0" anchor="t"/>
          <a:lstStyle/>
          <a:p>
            <a:pPr marL="0" indent="0">
              <a:buNone/>
            </a:pPr>
            <a:r>
              <a:rPr lang="en-US" sz="1500" b="1" dirty="0">
                <a:solidFill>
                  <a:srgbClr val="1C5739"/>
                </a:solidFill>
                <a:latin typeface="Sarabun" pitchFamily="34" charset="0"/>
                <a:ea typeface="Sarabun" pitchFamily="34" charset="-122"/>
                <a:cs typeface="Sarabun" pitchFamily="34" charset="-120"/>
              </a:rPr>
              <a:t>Instructions</a:t>
            </a:r>
            <a:endParaRPr lang="en-US" sz="1500" dirty="0"/>
          </a:p>
        </p:txBody>
      </p:sp>
      <p:sp>
        <p:nvSpPr>
          <p:cNvPr id="9" name="Text 7"/>
          <p:cNvSpPr txBox="1"/>
          <p:nvPr/>
        </p:nvSpPr>
        <p:spPr>
          <a:xfrm>
            <a:off x="749808" y="4852978"/>
            <a:ext cx="1371600" cy="411480"/>
          </a:xfrm>
          <a:prstGeom prst="rect">
            <a:avLst/>
          </a:prstGeom>
          <a:noFill/>
          <a:ln/>
        </p:spPr>
        <p:txBody>
          <a:bodyPr wrap="square" lIns="0" tIns="0" rIns="0" bIns="0" rtlCol="0" anchor="t"/>
          <a:lstStyle/>
          <a:p>
            <a:pPr marL="0" indent="0">
              <a:buNone/>
            </a:pPr>
            <a:r>
              <a:rPr lang="en-US" sz="1400" dirty="0">
                <a:solidFill>
                  <a:srgbClr val="1F2937"/>
                </a:solidFill>
                <a:latin typeface="Sarabun" pitchFamily="34" charset="0"/>
                <a:ea typeface="Sarabun" pitchFamily="34" charset="-122"/>
                <a:cs typeface="Sarabun" pitchFamily="34" charset="-120"/>
              </a:rPr>
              <a:t>คำสั่ง</a:t>
            </a:r>
            <a:endParaRPr lang="en-US" sz="1400" dirty="0"/>
          </a:p>
        </p:txBody>
      </p:sp>
      <p:sp>
        <p:nvSpPr>
          <p:cNvPr id="10" name="card"/>
          <p:cNvSpPr/>
          <p:nvPr/>
        </p:nvSpPr>
        <p:spPr>
          <a:xfrm>
            <a:off x="2428646" y="3709978"/>
            <a:ext cx="1691640" cy="1645920"/>
          </a:xfrm>
          <a:prstGeom prst="roundRect">
            <a:avLst>
              <a:gd name="adj" fmla="val 6486"/>
            </a:avLst>
          </a:prstGeom>
          <a:solidFill>
            <a:srgbClr val="E8F1FD"/>
          </a:solidFill>
          <a:ln w="12700">
            <a:solidFill>
              <a:srgbClr val="E8F1FD"/>
            </a:solidFill>
            <a:prstDash val="solid"/>
          </a:ln>
        </p:spPr>
        <p:txBody>
          <a:bodyPr/>
          <a:lstStyle/>
          <a:p>
            <a:endParaRPr lang="en-TH"/>
          </a:p>
        </p:txBody>
      </p:sp>
      <p:sp>
        <p:nvSpPr>
          <p:cNvPr id="11" name="Shape 9"/>
          <p:cNvSpPr/>
          <p:nvPr/>
        </p:nvSpPr>
        <p:spPr>
          <a:xfrm>
            <a:off x="2629814" y="3847138"/>
            <a:ext cx="457200" cy="457200"/>
          </a:xfrm>
          <a:prstGeom prst="ellipse">
            <a:avLst/>
          </a:prstGeom>
          <a:solidFill>
            <a:srgbClr val="2F80ED"/>
          </a:solidFill>
          <a:ln w="12700">
            <a:solidFill>
              <a:srgbClr val="2F80ED"/>
            </a:solidFill>
            <a:prstDash val="solid"/>
          </a:ln>
        </p:spPr>
        <p:txBody>
          <a:bodyPr/>
          <a:lstStyle/>
          <a:p>
            <a:endParaRPr lang="en-TH"/>
          </a:p>
        </p:txBody>
      </p:sp>
      <p:sp>
        <p:nvSpPr>
          <p:cNvPr id="12" name="Text 10"/>
          <p:cNvSpPr txBox="1"/>
          <p:nvPr/>
        </p:nvSpPr>
        <p:spPr>
          <a:xfrm>
            <a:off x="2629814" y="384713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2</a:t>
            </a:r>
            <a:endParaRPr lang="en-US" sz="1600" dirty="0"/>
          </a:p>
        </p:txBody>
      </p:sp>
      <p:sp>
        <p:nvSpPr>
          <p:cNvPr id="13" name="Text 11"/>
          <p:cNvSpPr txBox="1"/>
          <p:nvPr/>
        </p:nvSpPr>
        <p:spPr>
          <a:xfrm>
            <a:off x="2629814" y="4350058"/>
            <a:ext cx="1371600" cy="457200"/>
          </a:xfrm>
          <a:prstGeom prst="rect">
            <a:avLst/>
          </a:prstGeom>
          <a:noFill/>
          <a:ln/>
        </p:spPr>
        <p:txBody>
          <a:bodyPr wrap="square" lIns="0" tIns="0" rIns="0" bIns="0" rtlCol="0" anchor="t"/>
          <a:lstStyle/>
          <a:p>
            <a:pPr marL="0" indent="0">
              <a:buNone/>
            </a:pPr>
            <a:r>
              <a:rPr lang="en-US" sz="1500" b="1" dirty="0">
                <a:solidFill>
                  <a:srgbClr val="1C5739"/>
                </a:solidFill>
                <a:latin typeface="Sarabun" pitchFamily="34" charset="0"/>
                <a:ea typeface="Sarabun" pitchFamily="34" charset="-122"/>
                <a:cs typeface="Sarabun" pitchFamily="34" charset="-120"/>
              </a:rPr>
              <a:t>External Knowledge</a:t>
            </a:r>
            <a:endParaRPr lang="en-US" sz="1500" dirty="0"/>
          </a:p>
        </p:txBody>
      </p:sp>
      <p:sp>
        <p:nvSpPr>
          <p:cNvPr id="14" name="Text 12"/>
          <p:cNvSpPr txBox="1"/>
          <p:nvPr/>
        </p:nvSpPr>
        <p:spPr>
          <a:xfrm>
            <a:off x="2629814" y="4852978"/>
            <a:ext cx="1371600" cy="411480"/>
          </a:xfrm>
          <a:prstGeom prst="rect">
            <a:avLst/>
          </a:prstGeom>
          <a:noFill/>
          <a:ln/>
        </p:spPr>
        <p:txBody>
          <a:bodyPr wrap="square" lIns="0" tIns="0" rIns="0" bIns="0" rtlCol="0" anchor="t"/>
          <a:lstStyle/>
          <a:p>
            <a:pPr marL="0" indent="0">
              <a:buNone/>
            </a:pPr>
            <a:r>
              <a:rPr lang="en-US" sz="1400" dirty="0">
                <a:solidFill>
                  <a:srgbClr val="1F2937"/>
                </a:solidFill>
                <a:latin typeface="Sarabun" pitchFamily="34" charset="0"/>
                <a:ea typeface="Sarabun" pitchFamily="34" charset="-122"/>
                <a:cs typeface="Sarabun" pitchFamily="34" charset="-120"/>
              </a:rPr>
              <a:t>ความรู้ภายนอก</a:t>
            </a:r>
            <a:endParaRPr lang="en-US" sz="1400" dirty="0"/>
          </a:p>
        </p:txBody>
      </p:sp>
      <p:sp>
        <p:nvSpPr>
          <p:cNvPr id="15" name="card"/>
          <p:cNvSpPr/>
          <p:nvPr/>
        </p:nvSpPr>
        <p:spPr>
          <a:xfrm>
            <a:off x="4308653" y="3709978"/>
            <a:ext cx="1691640" cy="1645920"/>
          </a:xfrm>
          <a:prstGeom prst="roundRect">
            <a:avLst>
              <a:gd name="adj" fmla="val 6486"/>
            </a:avLst>
          </a:prstGeom>
          <a:solidFill>
            <a:srgbClr val="E8F1FD"/>
          </a:solidFill>
          <a:ln w="12700">
            <a:solidFill>
              <a:srgbClr val="E8F1FD"/>
            </a:solidFill>
            <a:prstDash val="solid"/>
          </a:ln>
        </p:spPr>
        <p:txBody>
          <a:bodyPr/>
          <a:lstStyle/>
          <a:p>
            <a:endParaRPr lang="en-TH"/>
          </a:p>
        </p:txBody>
      </p:sp>
      <p:sp>
        <p:nvSpPr>
          <p:cNvPr id="16" name="Shape 14"/>
          <p:cNvSpPr/>
          <p:nvPr/>
        </p:nvSpPr>
        <p:spPr>
          <a:xfrm>
            <a:off x="4509821" y="3847138"/>
            <a:ext cx="457200" cy="457200"/>
          </a:xfrm>
          <a:prstGeom prst="ellipse">
            <a:avLst/>
          </a:prstGeom>
          <a:solidFill>
            <a:srgbClr val="2F80ED"/>
          </a:solidFill>
          <a:ln w="12700">
            <a:solidFill>
              <a:srgbClr val="2F80ED"/>
            </a:solidFill>
            <a:prstDash val="solid"/>
          </a:ln>
        </p:spPr>
        <p:txBody>
          <a:bodyPr/>
          <a:lstStyle/>
          <a:p>
            <a:endParaRPr lang="en-TH"/>
          </a:p>
        </p:txBody>
      </p:sp>
      <p:sp>
        <p:nvSpPr>
          <p:cNvPr id="17" name="Text 15"/>
          <p:cNvSpPr txBox="1"/>
          <p:nvPr/>
        </p:nvSpPr>
        <p:spPr>
          <a:xfrm>
            <a:off x="4509821" y="384713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3</a:t>
            </a:r>
            <a:endParaRPr lang="en-US" sz="1600" dirty="0"/>
          </a:p>
        </p:txBody>
      </p:sp>
      <p:sp>
        <p:nvSpPr>
          <p:cNvPr id="18" name="Text 16"/>
          <p:cNvSpPr txBox="1"/>
          <p:nvPr/>
        </p:nvSpPr>
        <p:spPr>
          <a:xfrm>
            <a:off x="4509821" y="4350058"/>
            <a:ext cx="1371600" cy="457200"/>
          </a:xfrm>
          <a:prstGeom prst="rect">
            <a:avLst/>
          </a:prstGeom>
          <a:noFill/>
          <a:ln/>
        </p:spPr>
        <p:txBody>
          <a:bodyPr wrap="square" lIns="0" tIns="0" rIns="0" bIns="0" rtlCol="0" anchor="t"/>
          <a:lstStyle/>
          <a:p>
            <a:pPr marL="0" indent="0">
              <a:buNone/>
            </a:pPr>
            <a:r>
              <a:rPr lang="en-US" sz="1500" b="1" dirty="0">
                <a:solidFill>
                  <a:srgbClr val="1C5739"/>
                </a:solidFill>
                <a:latin typeface="Sarabun" pitchFamily="34" charset="0"/>
                <a:ea typeface="Sarabun" pitchFamily="34" charset="-122"/>
                <a:cs typeface="Sarabun" pitchFamily="34" charset="-120"/>
              </a:rPr>
              <a:t>Tools</a:t>
            </a:r>
            <a:endParaRPr lang="en-US" sz="1500" dirty="0"/>
          </a:p>
        </p:txBody>
      </p:sp>
      <p:sp>
        <p:nvSpPr>
          <p:cNvPr id="19" name="Text 17"/>
          <p:cNvSpPr txBox="1"/>
          <p:nvPr/>
        </p:nvSpPr>
        <p:spPr>
          <a:xfrm>
            <a:off x="4509821" y="4852978"/>
            <a:ext cx="1371600" cy="411480"/>
          </a:xfrm>
          <a:prstGeom prst="rect">
            <a:avLst/>
          </a:prstGeom>
          <a:noFill/>
          <a:ln/>
        </p:spPr>
        <p:txBody>
          <a:bodyPr wrap="square" lIns="0" tIns="0" rIns="0" bIns="0" rtlCol="0" anchor="t"/>
          <a:lstStyle/>
          <a:p>
            <a:pPr marL="0" indent="0">
              <a:buNone/>
            </a:pPr>
            <a:r>
              <a:rPr lang="en-US" sz="1400" dirty="0">
                <a:solidFill>
                  <a:srgbClr val="1F2937"/>
                </a:solidFill>
                <a:latin typeface="Sarabun" pitchFamily="34" charset="0"/>
                <a:ea typeface="Sarabun" pitchFamily="34" charset="-122"/>
                <a:cs typeface="Sarabun" pitchFamily="34" charset="-120"/>
              </a:rPr>
              <a:t>เครื่องมือ</a:t>
            </a:r>
            <a:endParaRPr lang="en-US" sz="1400" dirty="0"/>
          </a:p>
        </p:txBody>
      </p:sp>
      <p:sp>
        <p:nvSpPr>
          <p:cNvPr id="20" name="card"/>
          <p:cNvSpPr/>
          <p:nvPr/>
        </p:nvSpPr>
        <p:spPr>
          <a:xfrm>
            <a:off x="6188659" y="3709978"/>
            <a:ext cx="1691640" cy="1645920"/>
          </a:xfrm>
          <a:prstGeom prst="roundRect">
            <a:avLst>
              <a:gd name="adj" fmla="val 6486"/>
            </a:avLst>
          </a:prstGeom>
          <a:solidFill>
            <a:srgbClr val="E8F1FD"/>
          </a:solidFill>
          <a:ln w="12700">
            <a:solidFill>
              <a:srgbClr val="E8F1FD"/>
            </a:solidFill>
            <a:prstDash val="solid"/>
          </a:ln>
        </p:spPr>
        <p:txBody>
          <a:bodyPr/>
          <a:lstStyle/>
          <a:p>
            <a:endParaRPr lang="en-TH"/>
          </a:p>
        </p:txBody>
      </p:sp>
      <p:sp>
        <p:nvSpPr>
          <p:cNvPr id="21" name="Shape 19"/>
          <p:cNvSpPr/>
          <p:nvPr/>
        </p:nvSpPr>
        <p:spPr>
          <a:xfrm>
            <a:off x="6389827" y="3847138"/>
            <a:ext cx="457200" cy="457200"/>
          </a:xfrm>
          <a:prstGeom prst="ellipse">
            <a:avLst/>
          </a:prstGeom>
          <a:solidFill>
            <a:srgbClr val="2F80ED"/>
          </a:solidFill>
          <a:ln w="12700">
            <a:solidFill>
              <a:srgbClr val="2F80ED"/>
            </a:solidFill>
            <a:prstDash val="solid"/>
          </a:ln>
        </p:spPr>
        <p:txBody>
          <a:bodyPr/>
          <a:lstStyle/>
          <a:p>
            <a:endParaRPr lang="en-TH"/>
          </a:p>
        </p:txBody>
      </p:sp>
      <p:sp>
        <p:nvSpPr>
          <p:cNvPr id="22" name="Text 20"/>
          <p:cNvSpPr txBox="1"/>
          <p:nvPr/>
        </p:nvSpPr>
        <p:spPr>
          <a:xfrm>
            <a:off x="6389827" y="384713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4</a:t>
            </a:r>
            <a:endParaRPr lang="en-US" sz="1600" dirty="0"/>
          </a:p>
        </p:txBody>
      </p:sp>
      <p:sp>
        <p:nvSpPr>
          <p:cNvPr id="23" name="Text 21"/>
          <p:cNvSpPr txBox="1"/>
          <p:nvPr/>
        </p:nvSpPr>
        <p:spPr>
          <a:xfrm>
            <a:off x="6389827" y="4350058"/>
            <a:ext cx="1371600" cy="457200"/>
          </a:xfrm>
          <a:prstGeom prst="rect">
            <a:avLst/>
          </a:prstGeom>
          <a:noFill/>
          <a:ln/>
        </p:spPr>
        <p:txBody>
          <a:bodyPr wrap="square" lIns="0" tIns="0" rIns="0" bIns="0" rtlCol="0" anchor="t"/>
          <a:lstStyle/>
          <a:p>
            <a:pPr marL="0" indent="0">
              <a:buNone/>
            </a:pPr>
            <a:r>
              <a:rPr lang="en-US" sz="1500" b="1" dirty="0">
                <a:solidFill>
                  <a:srgbClr val="1C5739"/>
                </a:solidFill>
                <a:latin typeface="Sarabun" pitchFamily="34" charset="0"/>
                <a:ea typeface="Sarabun" pitchFamily="34" charset="-122"/>
                <a:cs typeface="Sarabun" pitchFamily="34" charset="-120"/>
              </a:rPr>
              <a:t>Memory</a:t>
            </a:r>
            <a:endParaRPr lang="en-US" sz="1500" dirty="0"/>
          </a:p>
        </p:txBody>
      </p:sp>
      <p:sp>
        <p:nvSpPr>
          <p:cNvPr id="24" name="Text 22"/>
          <p:cNvSpPr txBox="1"/>
          <p:nvPr/>
        </p:nvSpPr>
        <p:spPr>
          <a:xfrm>
            <a:off x="6389827" y="4852978"/>
            <a:ext cx="1371600" cy="411480"/>
          </a:xfrm>
          <a:prstGeom prst="rect">
            <a:avLst/>
          </a:prstGeom>
          <a:noFill/>
          <a:ln/>
        </p:spPr>
        <p:txBody>
          <a:bodyPr wrap="square" lIns="0" tIns="0" rIns="0" bIns="0" rtlCol="0" anchor="t"/>
          <a:lstStyle/>
          <a:p>
            <a:pPr marL="0" indent="0">
              <a:buNone/>
            </a:pPr>
            <a:r>
              <a:rPr lang="en-US" sz="1400" dirty="0">
                <a:solidFill>
                  <a:srgbClr val="1F2937"/>
                </a:solidFill>
                <a:latin typeface="Sarabun" pitchFamily="34" charset="0"/>
                <a:ea typeface="Sarabun" pitchFamily="34" charset="-122"/>
                <a:cs typeface="Sarabun" pitchFamily="34" charset="-120"/>
              </a:rPr>
              <a:t>หน่วยความจำ</a:t>
            </a:r>
            <a:endParaRPr lang="en-US" sz="1400" dirty="0"/>
          </a:p>
        </p:txBody>
      </p:sp>
      <p:sp>
        <p:nvSpPr>
          <p:cNvPr id="25" name="card"/>
          <p:cNvSpPr/>
          <p:nvPr/>
        </p:nvSpPr>
        <p:spPr>
          <a:xfrm>
            <a:off x="8068666" y="3709978"/>
            <a:ext cx="1691640" cy="1645920"/>
          </a:xfrm>
          <a:prstGeom prst="roundRect">
            <a:avLst>
              <a:gd name="adj" fmla="val 6486"/>
            </a:avLst>
          </a:prstGeom>
          <a:solidFill>
            <a:srgbClr val="E8F1FD"/>
          </a:solidFill>
          <a:ln w="12700">
            <a:solidFill>
              <a:srgbClr val="E8F1FD"/>
            </a:solidFill>
            <a:prstDash val="solid"/>
          </a:ln>
        </p:spPr>
        <p:txBody>
          <a:bodyPr/>
          <a:lstStyle/>
          <a:p>
            <a:endParaRPr lang="en-TH"/>
          </a:p>
        </p:txBody>
      </p:sp>
      <p:sp>
        <p:nvSpPr>
          <p:cNvPr id="26" name="Shape 24"/>
          <p:cNvSpPr/>
          <p:nvPr/>
        </p:nvSpPr>
        <p:spPr>
          <a:xfrm>
            <a:off x="8269834" y="3847138"/>
            <a:ext cx="457200" cy="457200"/>
          </a:xfrm>
          <a:prstGeom prst="ellipse">
            <a:avLst/>
          </a:prstGeom>
          <a:solidFill>
            <a:srgbClr val="2F80ED"/>
          </a:solidFill>
          <a:ln w="12700">
            <a:solidFill>
              <a:srgbClr val="2F80ED"/>
            </a:solidFill>
            <a:prstDash val="solid"/>
          </a:ln>
        </p:spPr>
        <p:txBody>
          <a:bodyPr/>
          <a:lstStyle/>
          <a:p>
            <a:endParaRPr lang="en-TH"/>
          </a:p>
        </p:txBody>
      </p:sp>
      <p:sp>
        <p:nvSpPr>
          <p:cNvPr id="27" name="Text 25"/>
          <p:cNvSpPr txBox="1"/>
          <p:nvPr/>
        </p:nvSpPr>
        <p:spPr>
          <a:xfrm>
            <a:off x="8269834" y="384713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5</a:t>
            </a:r>
            <a:endParaRPr lang="en-US" sz="1600" dirty="0"/>
          </a:p>
        </p:txBody>
      </p:sp>
      <p:sp>
        <p:nvSpPr>
          <p:cNvPr id="28" name="Text 26"/>
          <p:cNvSpPr txBox="1"/>
          <p:nvPr/>
        </p:nvSpPr>
        <p:spPr>
          <a:xfrm>
            <a:off x="8269834" y="4350058"/>
            <a:ext cx="1371600" cy="457200"/>
          </a:xfrm>
          <a:prstGeom prst="rect">
            <a:avLst/>
          </a:prstGeom>
          <a:noFill/>
          <a:ln/>
        </p:spPr>
        <p:txBody>
          <a:bodyPr wrap="square" lIns="0" tIns="0" rIns="0" bIns="0" rtlCol="0" anchor="t"/>
          <a:lstStyle/>
          <a:p>
            <a:pPr marL="0" indent="0">
              <a:buNone/>
            </a:pPr>
            <a:r>
              <a:rPr lang="en-US" sz="1500" b="1" dirty="0">
                <a:solidFill>
                  <a:srgbClr val="1C5739"/>
                </a:solidFill>
                <a:latin typeface="Sarabun" pitchFamily="34" charset="0"/>
                <a:ea typeface="Sarabun" pitchFamily="34" charset="-122"/>
                <a:cs typeface="Sarabun" pitchFamily="34" charset="-120"/>
              </a:rPr>
              <a:t>System State</a:t>
            </a:r>
            <a:endParaRPr lang="en-US" sz="1500" dirty="0"/>
          </a:p>
        </p:txBody>
      </p:sp>
      <p:sp>
        <p:nvSpPr>
          <p:cNvPr id="29" name="Text 27"/>
          <p:cNvSpPr txBox="1"/>
          <p:nvPr/>
        </p:nvSpPr>
        <p:spPr>
          <a:xfrm>
            <a:off x="8269834" y="4852978"/>
            <a:ext cx="1371600" cy="411480"/>
          </a:xfrm>
          <a:prstGeom prst="rect">
            <a:avLst/>
          </a:prstGeom>
          <a:noFill/>
          <a:ln/>
        </p:spPr>
        <p:txBody>
          <a:bodyPr wrap="square" lIns="0" tIns="0" rIns="0" bIns="0" rtlCol="0" anchor="t"/>
          <a:lstStyle/>
          <a:p>
            <a:pPr marL="0" indent="0">
              <a:buNone/>
            </a:pPr>
            <a:r>
              <a:rPr lang="en-US" sz="1400" dirty="0">
                <a:solidFill>
                  <a:srgbClr val="1F2937"/>
                </a:solidFill>
                <a:latin typeface="Sarabun" pitchFamily="34" charset="0"/>
                <a:ea typeface="Sarabun" pitchFamily="34" charset="-122"/>
                <a:cs typeface="Sarabun" pitchFamily="34" charset="-120"/>
              </a:rPr>
              <a:t>สถานะของระบบ</a:t>
            </a:r>
            <a:endParaRPr lang="en-US" sz="1400" dirty="0"/>
          </a:p>
        </p:txBody>
      </p:sp>
      <p:sp>
        <p:nvSpPr>
          <p:cNvPr id="30" name="card"/>
          <p:cNvSpPr/>
          <p:nvPr/>
        </p:nvSpPr>
        <p:spPr>
          <a:xfrm>
            <a:off x="9948672" y="3709978"/>
            <a:ext cx="1691640" cy="1645920"/>
          </a:xfrm>
          <a:prstGeom prst="roundRect">
            <a:avLst>
              <a:gd name="adj" fmla="val 6486"/>
            </a:avLst>
          </a:prstGeom>
          <a:solidFill>
            <a:srgbClr val="E8F1FD"/>
          </a:solidFill>
          <a:ln w="12700">
            <a:solidFill>
              <a:srgbClr val="E8F1FD"/>
            </a:solidFill>
            <a:prstDash val="solid"/>
          </a:ln>
        </p:spPr>
        <p:txBody>
          <a:bodyPr/>
          <a:lstStyle/>
          <a:p>
            <a:endParaRPr lang="en-TH"/>
          </a:p>
        </p:txBody>
      </p:sp>
      <p:sp>
        <p:nvSpPr>
          <p:cNvPr id="31" name="Shape 29"/>
          <p:cNvSpPr/>
          <p:nvPr/>
        </p:nvSpPr>
        <p:spPr>
          <a:xfrm>
            <a:off x="10149840" y="3847138"/>
            <a:ext cx="457200" cy="457200"/>
          </a:xfrm>
          <a:prstGeom prst="ellipse">
            <a:avLst/>
          </a:prstGeom>
          <a:solidFill>
            <a:srgbClr val="2F80ED"/>
          </a:solidFill>
          <a:ln w="12700">
            <a:solidFill>
              <a:srgbClr val="2F80ED"/>
            </a:solidFill>
            <a:prstDash val="solid"/>
          </a:ln>
        </p:spPr>
        <p:txBody>
          <a:bodyPr/>
          <a:lstStyle/>
          <a:p>
            <a:endParaRPr lang="en-TH"/>
          </a:p>
        </p:txBody>
      </p:sp>
      <p:sp>
        <p:nvSpPr>
          <p:cNvPr id="32" name="Text 30"/>
          <p:cNvSpPr txBox="1"/>
          <p:nvPr/>
        </p:nvSpPr>
        <p:spPr>
          <a:xfrm>
            <a:off x="10149840" y="384713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6</a:t>
            </a:r>
            <a:endParaRPr lang="en-US" sz="1600" dirty="0"/>
          </a:p>
        </p:txBody>
      </p:sp>
      <p:sp>
        <p:nvSpPr>
          <p:cNvPr id="33" name="Text 31"/>
          <p:cNvSpPr txBox="1"/>
          <p:nvPr/>
        </p:nvSpPr>
        <p:spPr>
          <a:xfrm>
            <a:off x="10149840" y="4350058"/>
            <a:ext cx="1371600" cy="457200"/>
          </a:xfrm>
          <a:prstGeom prst="rect">
            <a:avLst/>
          </a:prstGeom>
          <a:noFill/>
          <a:ln/>
        </p:spPr>
        <p:txBody>
          <a:bodyPr wrap="square" lIns="0" tIns="0" rIns="0" bIns="0" rtlCol="0" anchor="t"/>
          <a:lstStyle/>
          <a:p>
            <a:pPr marL="0" indent="0">
              <a:buNone/>
            </a:pPr>
            <a:r>
              <a:rPr lang="en-US" sz="1500" b="1" dirty="0">
                <a:solidFill>
                  <a:srgbClr val="1C5739"/>
                </a:solidFill>
                <a:latin typeface="Sarabun" pitchFamily="34" charset="0"/>
                <a:ea typeface="Sarabun" pitchFamily="34" charset="-122"/>
                <a:cs typeface="Sarabun" pitchFamily="34" charset="-120"/>
              </a:rPr>
              <a:t>User Queries</a:t>
            </a:r>
            <a:endParaRPr lang="en-US" sz="1500" dirty="0"/>
          </a:p>
        </p:txBody>
      </p:sp>
      <p:sp>
        <p:nvSpPr>
          <p:cNvPr id="34" name="Text 32"/>
          <p:cNvSpPr txBox="1"/>
          <p:nvPr/>
        </p:nvSpPr>
        <p:spPr>
          <a:xfrm>
            <a:off x="10149840" y="4852978"/>
            <a:ext cx="1371600" cy="411480"/>
          </a:xfrm>
          <a:prstGeom prst="rect">
            <a:avLst/>
          </a:prstGeom>
          <a:noFill/>
          <a:ln/>
        </p:spPr>
        <p:txBody>
          <a:bodyPr wrap="square" lIns="0" tIns="0" rIns="0" bIns="0" rtlCol="0" anchor="t"/>
          <a:lstStyle/>
          <a:p>
            <a:pPr marL="0" indent="0">
              <a:buNone/>
            </a:pPr>
            <a:r>
              <a:rPr lang="en-US" sz="1400" dirty="0">
                <a:solidFill>
                  <a:srgbClr val="1F2937"/>
                </a:solidFill>
                <a:latin typeface="Sarabun" pitchFamily="34" charset="0"/>
                <a:ea typeface="Sarabun" pitchFamily="34" charset="-122"/>
                <a:cs typeface="Sarabun" pitchFamily="34" charset="-120"/>
              </a:rPr>
              <a:t>คำถามจากผู้ใช้</a:t>
            </a:r>
            <a:endParaRPr lang="en-US" sz="1400" dirty="0"/>
          </a:p>
        </p:txBody>
      </p:sp>
      <p:sp>
        <p:nvSpPr>
          <p:cNvPr id="42"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8</a:t>
            </a:fld>
            <a:endParaRPr lang="en-US"/>
          </a:p>
        </p:txBody>
      </p:sp>
      <p:pic>
        <p:nvPicPr>
          <p:cNvPr id="43" name="context equation" descr="4.png"/>
          <p:cNvPicPr>
            <a:picLocks noChangeAspect="1"/>
          </p:cNvPicPr>
          <p:nvPr/>
        </p:nvPicPr>
        <p:blipFill>
          <a:blip r:embed="rId3"/>
          <a:stretch>
            <a:fillRect/>
          </a:stretch>
        </p:blipFill>
        <p:spPr>
          <a:xfrm>
            <a:off x="2000293" y="2366970"/>
            <a:ext cx="8000000" cy="8800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2  แนวคิด ทฤษฎี</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การพัฒนาที่ขับเคลื่อนด้วยข้อกำหนด (SDD)</a:t>
            </a:r>
            <a:endParaRPr lang="en-US" sz="2800" dirty="0"/>
          </a:p>
        </p:txBody>
      </p:sp>
      <p:sp>
        <p:nvSpPr>
          <p:cNvPr id="4" name="card"/>
          <p:cNvSpPr/>
          <p:nvPr/>
        </p:nvSpPr>
        <p:spPr>
          <a:xfrm>
            <a:off x="548640" y="1508760"/>
            <a:ext cx="3566160" cy="2331720"/>
          </a:xfrm>
          <a:prstGeom prst="roundRect">
            <a:avLst>
              <a:gd name="adj" fmla="val 4706"/>
            </a:avLst>
          </a:prstGeom>
          <a:solidFill>
            <a:srgbClr val="EEF3EF"/>
          </a:solidFill>
          <a:ln w="12700">
            <a:solidFill>
              <a:srgbClr val="EEF3EF"/>
            </a:solidFill>
            <a:prstDash val="solid"/>
          </a:ln>
        </p:spPr>
        <p:txBody>
          <a:bodyPr/>
          <a:lstStyle/>
          <a:p>
            <a:endParaRPr lang="en-TH"/>
          </a:p>
        </p:txBody>
      </p:sp>
      <p:sp>
        <p:nvSpPr>
          <p:cNvPr id="5" name="Text 3"/>
          <p:cNvSpPr txBox="1"/>
          <p:nvPr/>
        </p:nvSpPr>
        <p:spPr>
          <a:xfrm>
            <a:off x="822960" y="1664208"/>
            <a:ext cx="3017520" cy="365760"/>
          </a:xfrm>
          <a:prstGeom prst="rect">
            <a:avLst/>
          </a:prstGeom>
          <a:noFill/>
          <a:ln/>
        </p:spPr>
        <p:txBody>
          <a:bodyPr wrap="square" lIns="0" tIns="0" rIns="0" bIns="0" rtlCol="0" anchor="t"/>
          <a:lstStyle/>
          <a:p>
            <a:pPr marL="0" indent="0">
              <a:buNone/>
            </a:pPr>
            <a:r>
              <a:rPr lang="en-US" sz="1700" b="1" dirty="0">
                <a:solidFill>
                  <a:srgbClr val="1C5739"/>
                </a:solidFill>
                <a:latin typeface="Sarabun" pitchFamily="34" charset="0"/>
                <a:ea typeface="Sarabun" pitchFamily="34" charset="-122"/>
                <a:cs typeface="Sarabun" pitchFamily="34" charset="-120"/>
              </a:rPr>
              <a:t>แนวคิดหลัก</a:t>
            </a:r>
            <a:endParaRPr lang="en-US" sz="1700" dirty="0"/>
          </a:p>
        </p:txBody>
      </p:sp>
      <p:sp>
        <p:nvSpPr>
          <p:cNvPr id="6" name="Text 4"/>
          <p:cNvSpPr txBox="1"/>
          <p:nvPr/>
        </p:nvSpPr>
        <p:spPr>
          <a:xfrm>
            <a:off x="822960" y="2103120"/>
            <a:ext cx="3017520" cy="1691640"/>
          </a:xfrm>
          <a:prstGeom prst="rect">
            <a:avLst/>
          </a:prstGeom>
          <a:noFill/>
          <a:ln/>
        </p:spPr>
        <p:txBody>
          <a:bodyPr wrap="square" lIns="0" tIns="0" rIns="0" bIns="0" rtlCol="0" anchor="t"/>
          <a:lstStyle/>
          <a:p>
            <a:pPr marL="0" indent="0">
              <a:buNone/>
            </a:pPr>
            <a:r>
              <a:rPr lang="en-US" sz="1400" dirty="0">
                <a:solidFill>
                  <a:srgbClr val="1F2937"/>
                </a:solidFill>
                <a:latin typeface="Sarabun" pitchFamily="34" charset="0"/>
                <a:ea typeface="Sarabun" pitchFamily="34" charset="-122"/>
                <a:cs typeface="Sarabun" pitchFamily="34" charset="-120"/>
              </a:rPr>
              <a:t>ใช้เอกสารข้อกำหนด (Specifications) เป็นตัวนำทางหลักทั้งในการพัฒนาและการตรวจสอบความถูกต้อง ต่างจากแนวทางที่ยึดซอร์สโค้ดเป็นหลัก (source-code-first)</a:t>
            </a:r>
            <a:endParaRPr lang="en-US" sz="1400" dirty="0"/>
          </a:p>
        </p:txBody>
      </p:sp>
      <p:sp>
        <p:nvSpPr>
          <p:cNvPr id="7" name="card"/>
          <p:cNvSpPr/>
          <p:nvPr/>
        </p:nvSpPr>
        <p:spPr>
          <a:xfrm>
            <a:off x="4315968" y="1508760"/>
            <a:ext cx="3566160" cy="2331720"/>
          </a:xfrm>
          <a:prstGeom prst="roundRect">
            <a:avLst>
              <a:gd name="adj" fmla="val 4706"/>
            </a:avLst>
          </a:prstGeom>
          <a:solidFill>
            <a:srgbClr val="EEF3EF"/>
          </a:solidFill>
          <a:ln w="12700">
            <a:solidFill>
              <a:srgbClr val="EEF3EF"/>
            </a:solidFill>
            <a:prstDash val="solid"/>
          </a:ln>
        </p:spPr>
        <p:txBody>
          <a:bodyPr/>
          <a:lstStyle/>
          <a:p>
            <a:endParaRPr lang="en-TH"/>
          </a:p>
        </p:txBody>
      </p:sp>
      <p:sp>
        <p:nvSpPr>
          <p:cNvPr id="8" name="Text 6"/>
          <p:cNvSpPr txBox="1"/>
          <p:nvPr/>
        </p:nvSpPr>
        <p:spPr>
          <a:xfrm>
            <a:off x="4590288" y="1664208"/>
            <a:ext cx="3017520" cy="365760"/>
          </a:xfrm>
          <a:prstGeom prst="rect">
            <a:avLst/>
          </a:prstGeom>
          <a:noFill/>
          <a:ln/>
        </p:spPr>
        <p:txBody>
          <a:bodyPr wrap="square" lIns="0" tIns="0" rIns="0" bIns="0" rtlCol="0" anchor="t"/>
          <a:lstStyle/>
          <a:p>
            <a:pPr marL="0" indent="0">
              <a:buNone/>
            </a:pPr>
            <a:r>
              <a:rPr lang="en-US" sz="1700" b="1" dirty="0">
                <a:solidFill>
                  <a:srgbClr val="1C5739"/>
                </a:solidFill>
                <a:latin typeface="Sarabun" pitchFamily="34" charset="0"/>
                <a:ea typeface="Sarabun" pitchFamily="34" charset="-122"/>
                <a:cs typeface="Sarabun" pitchFamily="34" charset="-120"/>
              </a:rPr>
              <a:t>จุดเด่น</a:t>
            </a:r>
            <a:endParaRPr lang="en-US" sz="1700" dirty="0"/>
          </a:p>
        </p:txBody>
      </p:sp>
      <p:sp>
        <p:nvSpPr>
          <p:cNvPr id="9" name="Text 7"/>
          <p:cNvSpPr txBox="1"/>
          <p:nvPr/>
        </p:nvSpPr>
        <p:spPr>
          <a:xfrm>
            <a:off x="4590288" y="2103120"/>
            <a:ext cx="3017520" cy="1691640"/>
          </a:xfrm>
          <a:prstGeom prst="rect">
            <a:avLst/>
          </a:prstGeom>
          <a:noFill/>
          <a:ln/>
        </p:spPr>
        <p:txBody>
          <a:bodyPr wrap="square" lIns="0" tIns="0" rIns="0" bIns="0" rtlCol="0" anchor="t"/>
          <a:lstStyle/>
          <a:p>
            <a:pPr marL="0" indent="0">
              <a:buNone/>
            </a:pPr>
            <a:r>
              <a:rPr lang="en-US" sz="1400" dirty="0">
                <a:solidFill>
                  <a:srgbClr val="1F2937"/>
                </a:solidFill>
                <a:latin typeface="Sarabun" pitchFamily="34" charset="0"/>
                <a:ea typeface="Sarabun" pitchFamily="34" charset="-122"/>
                <a:cs typeface="Sarabun" pitchFamily="34" charset="-120"/>
              </a:rPr>
              <a:t>เขียนพฤติกรรม ข้อจำกัด และความต้องการเชิงฟังก์ชันเป็นเอกสารก่อนพัฒนา จึงตรวจสอบย้อนกลับได้ว่าโค้ดแต่ละส่วนตอบข้อกำหนดข้อใด</a:t>
            </a:r>
            <a:endParaRPr lang="en-US" sz="1400" dirty="0"/>
          </a:p>
        </p:txBody>
      </p:sp>
      <p:sp>
        <p:nvSpPr>
          <p:cNvPr id="10" name="card"/>
          <p:cNvSpPr/>
          <p:nvPr/>
        </p:nvSpPr>
        <p:spPr>
          <a:xfrm>
            <a:off x="8083296" y="1508760"/>
            <a:ext cx="3566160" cy="2331720"/>
          </a:xfrm>
          <a:prstGeom prst="roundRect">
            <a:avLst>
              <a:gd name="adj" fmla="val 4706"/>
            </a:avLst>
          </a:prstGeom>
          <a:solidFill>
            <a:srgbClr val="EEF3EF"/>
          </a:solidFill>
          <a:ln w="12700">
            <a:solidFill>
              <a:srgbClr val="EEF3EF"/>
            </a:solidFill>
            <a:prstDash val="solid"/>
          </a:ln>
        </p:spPr>
        <p:txBody>
          <a:bodyPr/>
          <a:lstStyle/>
          <a:p>
            <a:endParaRPr lang="en-TH"/>
          </a:p>
        </p:txBody>
      </p:sp>
      <p:sp>
        <p:nvSpPr>
          <p:cNvPr id="11" name="Text 9"/>
          <p:cNvSpPr txBox="1"/>
          <p:nvPr/>
        </p:nvSpPr>
        <p:spPr>
          <a:xfrm>
            <a:off x="8357616" y="1664208"/>
            <a:ext cx="3017520" cy="365760"/>
          </a:xfrm>
          <a:prstGeom prst="rect">
            <a:avLst/>
          </a:prstGeom>
          <a:noFill/>
          <a:ln/>
        </p:spPr>
        <p:txBody>
          <a:bodyPr wrap="square" lIns="0" tIns="0" rIns="0" bIns="0" rtlCol="0" anchor="t"/>
          <a:lstStyle/>
          <a:p>
            <a:pPr marL="0" indent="0">
              <a:buNone/>
            </a:pPr>
            <a:r>
              <a:rPr lang="en-US" sz="1700" b="1" dirty="0">
                <a:solidFill>
                  <a:srgbClr val="1C5739"/>
                </a:solidFill>
                <a:latin typeface="Sarabun" pitchFamily="34" charset="0"/>
                <a:ea typeface="Sarabun" pitchFamily="34" charset="-122"/>
                <a:cs typeface="Sarabun" pitchFamily="34" charset="-120"/>
              </a:rPr>
              <a:t>บทบาทเมื่อใช้กับ AI</a:t>
            </a:r>
            <a:endParaRPr lang="en-US" sz="1700" dirty="0"/>
          </a:p>
        </p:txBody>
      </p:sp>
      <p:sp>
        <p:nvSpPr>
          <p:cNvPr id="12" name="Text 10"/>
          <p:cNvSpPr txBox="1"/>
          <p:nvPr/>
        </p:nvSpPr>
        <p:spPr>
          <a:xfrm>
            <a:off x="8357616" y="2103120"/>
            <a:ext cx="3017520" cy="1691640"/>
          </a:xfrm>
          <a:prstGeom prst="rect">
            <a:avLst/>
          </a:prstGeom>
          <a:noFill/>
          <a:ln/>
        </p:spPr>
        <p:txBody>
          <a:bodyPr wrap="square" lIns="0" tIns="0" rIns="0" bIns="0" rtlCol="0" anchor="t"/>
          <a:lstStyle/>
          <a:p>
            <a:pPr marL="0" indent="0">
              <a:buNone/>
            </a:pPr>
            <a:r>
              <a:rPr lang="en-US" sz="1400" dirty="0">
                <a:solidFill>
                  <a:srgbClr val="1F2937"/>
                </a:solidFill>
                <a:latin typeface="Sarabun" pitchFamily="34" charset="0"/>
                <a:ea typeface="Sarabun" pitchFamily="34" charset="-122"/>
                <a:cs typeface="Sarabun" pitchFamily="34" charset="-120"/>
              </a:rPr>
              <a:t>เป็นทั้งข้อมูลนำเข้าที่บอกโมเดลว่าต้องสร้างอะไร และเกณฑ์อ้างอิงตรวจสอบภายหลัง โดยแยกเป็นเอกสารภายนอกที่คงที่ ไม่ปนในบทสนทนา</a:t>
            </a:r>
            <a:endParaRPr lang="en-US" sz="1400" dirty="0"/>
          </a:p>
        </p:txBody>
      </p:sp>
      <p:sp>
        <p:nvSpPr>
          <p:cNvPr id="13" name="Text 11"/>
          <p:cNvSpPr txBox="1"/>
          <p:nvPr/>
        </p:nvSpPr>
        <p:spPr>
          <a:xfrm>
            <a:off x="548640" y="4023360"/>
            <a:ext cx="11094415" cy="365760"/>
          </a:xfrm>
          <a:prstGeom prst="rect">
            <a:avLst/>
          </a:prstGeom>
          <a:noFill/>
          <a:ln/>
        </p:spPr>
        <p:txBody>
          <a:bodyPr wrap="square" lIns="0" tIns="0" rIns="0" bIns="0" rtlCol="0" anchor="t"/>
          <a:lstStyle/>
          <a:p>
            <a:pPr marL="0" indent="0">
              <a:buNone/>
            </a:pPr>
            <a:r>
              <a:rPr lang="en-US" sz="1700" b="1" dirty="0">
                <a:solidFill>
                  <a:srgbClr val="1C5739"/>
                </a:solidFill>
                <a:latin typeface="Sarabun" pitchFamily="34" charset="0"/>
                <a:ea typeface="Sarabun" pitchFamily="34" charset="-122"/>
                <a:cs typeface="Sarabun" pitchFamily="34" charset="-120"/>
              </a:rPr>
              <a:t>Spec Kit: กระบวนการ 5 ระยะ</a:t>
            </a:r>
            <a:endParaRPr lang="en-US" sz="1700" dirty="0"/>
          </a:p>
        </p:txBody>
      </p:sp>
      <p:sp>
        <p:nvSpPr>
          <p:cNvPr id="29"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9</a:t>
            </a:fld>
            <a:endParaRPr lang="en-US"/>
          </a:p>
        </p:txBody>
      </p:sp>
      <p:pic>
        <p:nvPicPr>
          <p:cNvPr id="30" name="spec-kit pipeline" descr="3.png"/>
          <p:cNvPicPr>
            <a:picLocks noChangeAspect="1"/>
          </p:cNvPicPr>
          <p:nvPr/>
        </p:nvPicPr>
        <p:blipFill>
          <a:blip r:embed="rId3"/>
          <a:stretch>
            <a:fillRect/>
          </a:stretch>
        </p:blipFill>
        <p:spPr>
          <a:xfrm>
            <a:off x="996000" y="4560000"/>
            <a:ext cx="10200000" cy="116305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3  ทบทวนวรรณกรรม</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งานวิจัยที่เกี่ยวข้อง</a:t>
            </a:r>
            <a:endParaRPr lang="en-US" sz="2800" dirty="0"/>
          </a:p>
        </p:txBody>
      </p:sp>
      <p:sp>
        <p:nvSpPr>
          <p:cNvPr id="22" name="card"/>
          <p:cNvSpPr/>
          <p:nvPr/>
        </p:nvSpPr>
        <p:spPr>
          <a:xfrm>
            <a:off x="548640" y="5470000"/>
            <a:ext cx="11094415" cy="860000"/>
          </a:xfrm>
          <a:prstGeom prst="roundRect">
            <a:avLst>
              <a:gd name="adj" fmla="val 11429"/>
            </a:avLst>
          </a:prstGeom>
          <a:solidFill>
            <a:srgbClr val="1C5739"/>
          </a:solidFill>
          <a:ln w="12700">
            <a:solidFill>
              <a:srgbClr val="1C5739"/>
            </a:solidFill>
            <a:prstDash val="solid"/>
          </a:ln>
        </p:spPr>
        <p:txBody>
          <a:bodyPr/>
          <a:lstStyle/>
          <a:p>
            <a:endParaRPr lang="en-TH"/>
          </a:p>
        </p:txBody>
      </p:sp>
      <p:sp>
        <p:nvSpPr>
          <p:cNvPr id="23" name="Text 21"/>
          <p:cNvSpPr txBox="1"/>
          <p:nvPr/>
        </p:nvSpPr>
        <p:spPr>
          <a:xfrm>
            <a:off x="868680" y="5470000"/>
            <a:ext cx="2194560" cy="860000"/>
          </a:xfrm>
          <a:prstGeom prst="rect">
            <a:avLst/>
          </a:prstGeom>
          <a:noFill/>
          <a:ln/>
        </p:spPr>
        <p:txBody>
          <a:bodyPr wrap="square" lIns="0" tIns="0" rIns="0" bIns="0" rtlCol="0" anchor="ctr"/>
          <a:lstStyle/>
          <a:p>
            <a:pPr marL="0" indent="0">
              <a:buNone/>
            </a:pPr>
            <a:r>
              <a:rPr lang="en-US" sz="1600" b="1" dirty="0">
                <a:solidFill>
                  <a:srgbClr val="C5CF2E"/>
                </a:solidFill>
                <a:latin typeface="Sarabun" pitchFamily="34" charset="0"/>
                <a:ea typeface="Sarabun" pitchFamily="34" charset="-122"/>
                <a:cs typeface="Sarabun" pitchFamily="34" charset="-120"/>
              </a:rPr>
              <a:t>ช่องว่างงานวิจัย</a:t>
            </a:r>
            <a:endParaRPr lang="en-US" sz="1600" dirty="0"/>
          </a:p>
        </p:txBody>
      </p:sp>
      <p:sp>
        <p:nvSpPr>
          <p:cNvPr id="24" name="Text 22"/>
          <p:cNvSpPr txBox="1"/>
          <p:nvPr/>
        </p:nvSpPr>
        <p:spPr>
          <a:xfrm>
            <a:off x="3063240" y="5470000"/>
            <a:ext cx="8259775" cy="860000"/>
          </a:xfrm>
          <a:prstGeom prst="rect">
            <a:avLst/>
          </a:prstGeom>
          <a:noFill/>
          <a:ln/>
        </p:spPr>
        <p:txBody>
          <a:bodyPr wrap="square" lIns="0" tIns="0" rIns="0" bIns="0" rtlCol="0" anchor="ctr"/>
          <a:lstStyle/>
          <a:p>
            <a:pPr marL="0" indent="0">
              <a:buNone/>
            </a:pPr>
            <a:r>
              <a:rPr lang="en-US" sz="1500" dirty="0">
                <a:solidFill>
                  <a:srgbClr val="FFFFFF"/>
                </a:solidFill>
                <a:latin typeface="Sarabun" pitchFamily="34" charset="0"/>
                <a:ea typeface="Sarabun" pitchFamily="34" charset="-122"/>
                <a:cs typeface="Sarabun" pitchFamily="34" charset="-120"/>
              </a:rPr>
              <a:t>ยังไม่มีการศึกษาใดเปรียบเทียบ BP, CE และ SDD ภายในกรอบการประเมินที่ควบคุมตัวแปรเดียวกัน และมุ่งเป้าไปยังแอปพลิเคชันเฉพาะโดเมนที่มีความซับซ้อน</a:t>
            </a:r>
            <a:endParaRPr lang="en-US" sz="15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10</a:t>
            </a:fld>
            <a:endParaRPr lang="en-US"/>
          </a:p>
        </p:txBody>
      </p:sp>
      <p:sp>
        <p:nvSpPr>
          <p:cNvPr id="4" name="work card 1"/>
          <p:cNvSpPr/>
          <p:nvPr/>
        </p:nvSpPr>
        <p:spPr>
          <a:xfrm>
            <a:off x="548640" y="1649495"/>
            <a:ext cx="3566160" cy="3300000"/>
          </a:xfrm>
          <a:prstGeom prst="roundRect">
            <a:avLst>
              <a:gd name="adj" fmla="val 6857"/>
            </a:avLst>
          </a:prstGeom>
          <a:solidFill>
            <a:srgbClr val="EEF3EF"/>
          </a:solidFill>
          <a:ln w="12700">
            <a:solidFill>
              <a:srgbClr val="EEF3EF"/>
            </a:solidFill>
            <a:prstDash val="solid"/>
          </a:ln>
        </p:spPr>
        <p:txBody>
          <a:bodyPr/>
          <a:lstStyle/>
          <a:p>
            <a:endParaRPr lang="en-TH"/>
          </a:p>
        </p:txBody>
      </p:sp>
      <p:sp>
        <p:nvSpPr>
          <p:cNvPr id="26" name="work text 1"/>
          <p:cNvSpPr txBox="1"/>
          <p:nvPr/>
        </p:nvSpPr>
        <p:spPr>
          <a:xfrm>
            <a:off x="738640" y="1982908"/>
            <a:ext cx="3186160" cy="2993127"/>
          </a:xfrm>
          <a:prstGeom prst="rect">
            <a:avLst/>
          </a:prstGeom>
          <a:noFill/>
        </p:spPr>
        <p:txBody>
          <a:bodyPr wrap="square" lIns="0" tIns="0" rIns="0" bIns="0">
            <a:spAutoFit/>
          </a:bodyPr>
          <a:lstStyle/>
          <a:p>
            <a:pPr>
              <a:spcBef>
                <a:spcPts val="0"/>
              </a:spcBef>
              <a:spcAft>
                <a:spcPts val="100"/>
              </a:spcAft>
            </a:pPr>
            <a:r>
              <a:rPr sz="1200" b="1" dirty="0" err="1">
                <a:solidFill>
                  <a:srgbClr val="1C5739"/>
                </a:solidFill>
                <a:latin typeface="Sarabun"/>
                <a:ea typeface="Sarabun"/>
                <a:cs typeface="Sarabun"/>
              </a:rPr>
              <a:t>งานที่</a:t>
            </a:r>
            <a:r>
              <a:rPr sz="1200" b="1" dirty="0">
                <a:solidFill>
                  <a:srgbClr val="1C5739"/>
                </a:solidFill>
                <a:latin typeface="Sarabun"/>
                <a:ea typeface="Sarabun"/>
                <a:cs typeface="Sarabun"/>
              </a:rPr>
              <a:t> 1 · </a:t>
            </a:r>
            <a:r>
              <a:rPr sz="1200" b="1" dirty="0" err="1">
                <a:solidFill>
                  <a:srgbClr val="1C5739"/>
                </a:solidFill>
                <a:latin typeface="Sarabun"/>
                <a:ea typeface="Sarabun"/>
                <a:cs typeface="Sarabun"/>
              </a:rPr>
              <a:t>การสร้างโค้ดด้วย</a:t>
            </a:r>
            <a:r>
              <a:rPr sz="1200" b="1" dirty="0">
                <a:solidFill>
                  <a:srgbClr val="1C5739"/>
                </a:solidFill>
                <a:latin typeface="Sarabun"/>
                <a:ea typeface="Sarabun"/>
                <a:cs typeface="Sarabun"/>
              </a:rPr>
              <a:t> LLM</a:t>
            </a:r>
          </a:p>
          <a:p>
            <a:pPr>
              <a:spcBef>
                <a:spcPts val="0"/>
              </a:spcBef>
              <a:spcAft>
                <a:spcPts val="500"/>
              </a:spcAft>
            </a:pPr>
            <a:r>
              <a:rPr sz="1100" b="0" dirty="0">
                <a:solidFill>
                  <a:srgbClr val="6B7280"/>
                </a:solidFill>
                <a:latin typeface="Sarabun"/>
                <a:ea typeface="Sarabun"/>
                <a:cs typeface="Sarabun"/>
              </a:rPr>
              <a:t>Jiang </a:t>
            </a:r>
            <a:r>
              <a:rPr sz="1100" b="0" dirty="0" err="1">
                <a:solidFill>
                  <a:srgbClr val="6B7280"/>
                </a:solidFill>
                <a:latin typeface="Sarabun"/>
                <a:ea typeface="Sarabun"/>
                <a:cs typeface="Sarabun"/>
              </a:rPr>
              <a:t>และคณะ</a:t>
            </a:r>
            <a:r>
              <a:rPr sz="1100" b="0" dirty="0">
                <a:solidFill>
                  <a:srgbClr val="6B7280"/>
                </a:solidFill>
                <a:latin typeface="Sarabun"/>
                <a:ea typeface="Sarabun"/>
                <a:cs typeface="Sarabun"/>
              </a:rPr>
              <a:t>: A Survey on LLMs for Code Generation</a:t>
            </a:r>
          </a:p>
          <a:p>
            <a:pPr>
              <a:spcBef>
                <a:spcPts val="0"/>
              </a:spcBef>
              <a:spcAft>
                <a:spcPts val="100"/>
              </a:spcAft>
            </a:pPr>
            <a:endParaRPr lang="th-TH" sz="1250" b="1" dirty="0">
              <a:solidFill>
                <a:srgbClr val="1C5739"/>
              </a:solidFill>
              <a:latin typeface="Sarabun"/>
              <a:ea typeface="Sarabun"/>
              <a:cs typeface="Sarabun"/>
            </a:endParaRPr>
          </a:p>
          <a:p>
            <a:pPr>
              <a:spcBef>
                <a:spcPts val="0"/>
              </a:spcBef>
              <a:spcAft>
                <a:spcPts val="100"/>
              </a:spcAft>
            </a:pPr>
            <a:r>
              <a:rPr sz="1250" b="1" dirty="0" err="1">
                <a:solidFill>
                  <a:srgbClr val="1C5739"/>
                </a:solidFill>
                <a:latin typeface="Sarabun"/>
                <a:ea typeface="Sarabun"/>
                <a:cs typeface="Sarabun"/>
              </a:rPr>
              <a:t>ทำอะไร</a:t>
            </a:r>
            <a:endParaRPr sz="1250" b="1" dirty="0">
              <a:solidFill>
                <a:srgbClr val="1C5739"/>
              </a:solidFill>
              <a:latin typeface="Sarabun"/>
              <a:ea typeface="Sarabun"/>
              <a:cs typeface="Sarabun"/>
            </a:endParaRPr>
          </a:p>
          <a:p>
            <a:pPr marL="128016" indent="-128016">
              <a:spcBef>
                <a:spcPts val="0"/>
              </a:spcBef>
              <a:spcAft>
                <a:spcPts val="100"/>
              </a:spcAft>
              <a:buChar char="•"/>
            </a:pPr>
            <a:r>
              <a:rPr sz="1200" b="0" dirty="0" err="1">
                <a:solidFill>
                  <a:srgbClr val="1F2937"/>
                </a:solidFill>
                <a:latin typeface="Sarabun"/>
                <a:ea typeface="Sarabun"/>
                <a:cs typeface="Sarabun"/>
              </a:rPr>
              <a:t>ทบทวนงานวิจัยการสร้างโค้ดด้วย</a:t>
            </a:r>
            <a:r>
              <a:rPr sz="1200" b="0" dirty="0">
                <a:solidFill>
                  <a:srgbClr val="1F2937"/>
                </a:solidFill>
                <a:latin typeface="Sarabun"/>
                <a:ea typeface="Sarabun"/>
                <a:cs typeface="Sarabun"/>
              </a:rPr>
              <a:t> LLM </a:t>
            </a:r>
            <a:r>
              <a:rPr sz="1200" b="0" dirty="0" err="1">
                <a:solidFill>
                  <a:srgbClr val="1F2937"/>
                </a:solidFill>
                <a:latin typeface="Sarabun"/>
                <a:ea typeface="Sarabun"/>
                <a:cs typeface="Sarabun"/>
              </a:rPr>
              <a:t>อย่างเป็นระบบ</a:t>
            </a:r>
            <a:r>
              <a:rPr sz="1200" b="0" dirty="0">
                <a:solidFill>
                  <a:srgbClr val="1F2937"/>
                </a:solidFill>
                <a:latin typeface="Sarabun"/>
                <a:ea typeface="Sarabun"/>
                <a:cs typeface="Sarabun"/>
              </a:rPr>
              <a:t> </a:t>
            </a:r>
            <a:r>
              <a:rPr sz="1200" b="0" dirty="0" err="1">
                <a:solidFill>
                  <a:srgbClr val="1F2937"/>
                </a:solidFill>
                <a:latin typeface="Sarabun"/>
                <a:ea typeface="Sarabun"/>
                <a:cs typeface="Sarabun"/>
              </a:rPr>
              <a:t>จาก</a:t>
            </a:r>
            <a:r>
              <a:rPr sz="1200" b="0" dirty="0">
                <a:solidFill>
                  <a:srgbClr val="1F2937"/>
                </a:solidFill>
                <a:latin typeface="Sarabun"/>
                <a:ea typeface="Sarabun"/>
                <a:cs typeface="Sarabun"/>
              </a:rPr>
              <a:t> ACM, IEEE Xplore, </a:t>
            </a:r>
            <a:r>
              <a:rPr sz="1200" b="0" dirty="0" err="1">
                <a:solidFill>
                  <a:srgbClr val="1F2937"/>
                </a:solidFill>
                <a:latin typeface="Sarabun"/>
                <a:ea typeface="Sarabun"/>
                <a:cs typeface="Sarabun"/>
              </a:rPr>
              <a:t>arXiv</a:t>
            </a:r>
            <a:r>
              <a:rPr sz="1200" b="0" dirty="0">
                <a:solidFill>
                  <a:srgbClr val="1F2937"/>
                </a:solidFill>
                <a:latin typeface="Sarabun"/>
                <a:ea typeface="Sarabun"/>
                <a:cs typeface="Sarabun"/>
              </a:rPr>
              <a:t> </a:t>
            </a:r>
            <a:r>
              <a:rPr sz="1200" b="0" dirty="0" err="1">
                <a:solidFill>
                  <a:srgbClr val="1F2937"/>
                </a:solidFill>
                <a:latin typeface="Sarabun"/>
                <a:ea typeface="Sarabun"/>
                <a:cs typeface="Sarabun"/>
              </a:rPr>
              <a:t>และ</a:t>
            </a:r>
            <a:r>
              <a:rPr sz="1200" b="0" dirty="0">
                <a:solidFill>
                  <a:srgbClr val="1F2937"/>
                </a:solidFill>
                <a:latin typeface="Sarabun"/>
                <a:ea typeface="Sarabun"/>
                <a:cs typeface="Sarabun"/>
              </a:rPr>
              <a:t> DBLP</a:t>
            </a:r>
          </a:p>
          <a:p>
            <a:pPr marL="128016" indent="-128016">
              <a:spcBef>
                <a:spcPts val="0"/>
              </a:spcBef>
              <a:spcAft>
                <a:spcPts val="100"/>
              </a:spcAft>
              <a:buChar char="•"/>
            </a:pPr>
            <a:r>
              <a:rPr sz="1200" b="0" dirty="0" err="1">
                <a:solidFill>
                  <a:srgbClr val="1F2937"/>
                </a:solidFill>
                <a:latin typeface="Sarabun"/>
                <a:ea typeface="Sarabun"/>
                <a:cs typeface="Sarabun"/>
              </a:rPr>
              <a:t>จัดกลุ่มงานตามชุดคำสั่ง</a:t>
            </a:r>
            <a:r>
              <a:rPr sz="1200" b="0" dirty="0">
                <a:solidFill>
                  <a:srgbClr val="1F2937"/>
                </a:solidFill>
                <a:latin typeface="Sarabun"/>
                <a:ea typeface="Sarabun"/>
                <a:cs typeface="Sarabun"/>
              </a:rPr>
              <a:t> </a:t>
            </a:r>
            <a:r>
              <a:rPr sz="1200" b="0" dirty="0" err="1">
                <a:solidFill>
                  <a:srgbClr val="1F2937"/>
                </a:solidFill>
                <a:latin typeface="Sarabun"/>
                <a:ea typeface="Sarabun"/>
                <a:cs typeface="Sarabun"/>
              </a:rPr>
              <a:t>เช่น</a:t>
            </a:r>
            <a:r>
              <a:rPr sz="1200" b="0" dirty="0">
                <a:solidFill>
                  <a:srgbClr val="1F2937"/>
                </a:solidFill>
                <a:latin typeface="Sarabun"/>
                <a:ea typeface="Sarabun"/>
                <a:cs typeface="Sarabun"/>
              </a:rPr>
              <a:t> Zero-Shot </a:t>
            </a:r>
            <a:r>
              <a:rPr sz="1200" b="0" dirty="0" err="1">
                <a:solidFill>
                  <a:srgbClr val="1F2937"/>
                </a:solidFill>
                <a:latin typeface="Sarabun"/>
                <a:ea typeface="Sarabun"/>
                <a:cs typeface="Sarabun"/>
              </a:rPr>
              <a:t>และ</a:t>
            </a:r>
            <a:r>
              <a:rPr sz="1200" b="0" dirty="0">
                <a:solidFill>
                  <a:srgbClr val="1F2937"/>
                </a:solidFill>
                <a:latin typeface="Sarabun"/>
                <a:ea typeface="Sarabun"/>
                <a:cs typeface="Sarabun"/>
              </a:rPr>
              <a:t> Few-Shot</a:t>
            </a:r>
            <a:endParaRPr lang="th-TH" sz="1200" b="0" dirty="0">
              <a:solidFill>
                <a:srgbClr val="1F2937"/>
              </a:solidFill>
              <a:latin typeface="Sarabun"/>
              <a:ea typeface="Sarabun"/>
              <a:cs typeface="Sarabun"/>
            </a:endParaRPr>
          </a:p>
          <a:p>
            <a:pPr>
              <a:spcBef>
                <a:spcPts val="0"/>
              </a:spcBef>
              <a:spcAft>
                <a:spcPts val="100"/>
              </a:spcAft>
            </a:pPr>
            <a:endParaRPr sz="1200" b="0" dirty="0">
              <a:solidFill>
                <a:srgbClr val="1F2937"/>
              </a:solidFill>
              <a:latin typeface="Sarabun"/>
              <a:ea typeface="Sarabun"/>
              <a:cs typeface="Sarabun"/>
            </a:endParaRPr>
          </a:p>
          <a:p>
            <a:pPr>
              <a:spcBef>
                <a:spcPts val="500"/>
              </a:spcBef>
              <a:spcAft>
                <a:spcPts val="100"/>
              </a:spcAft>
            </a:pPr>
            <a:r>
              <a:rPr sz="1250" b="1" dirty="0" err="1">
                <a:solidFill>
                  <a:srgbClr val="1C5739"/>
                </a:solidFill>
                <a:latin typeface="Sarabun"/>
                <a:ea typeface="Sarabun"/>
                <a:cs typeface="Sarabun"/>
              </a:rPr>
              <a:t>ผลที่พบ</a:t>
            </a:r>
            <a:endParaRPr sz="1250" b="1" dirty="0">
              <a:solidFill>
                <a:srgbClr val="1C5739"/>
              </a:solidFill>
              <a:latin typeface="Sarabun"/>
              <a:ea typeface="Sarabun"/>
              <a:cs typeface="Sarabun"/>
            </a:endParaRPr>
          </a:p>
          <a:p>
            <a:pPr marL="128016" indent="-128016">
              <a:spcBef>
                <a:spcPts val="0"/>
              </a:spcBef>
              <a:spcAft>
                <a:spcPts val="100"/>
              </a:spcAft>
              <a:buChar char="•"/>
            </a:pPr>
            <a:r>
              <a:rPr sz="1200" b="0" dirty="0" err="1">
                <a:solidFill>
                  <a:srgbClr val="1F2937"/>
                </a:solidFill>
                <a:latin typeface="Sarabun"/>
                <a:ea typeface="Sarabun"/>
                <a:cs typeface="Sarabun"/>
              </a:rPr>
              <a:t>เก่งระดับฟังก์ชันเดี่ยว</a:t>
            </a:r>
            <a:r>
              <a:rPr sz="1200" b="0" dirty="0">
                <a:solidFill>
                  <a:srgbClr val="1F2937"/>
                </a:solidFill>
                <a:latin typeface="Sarabun"/>
                <a:ea typeface="Sarabun"/>
                <a:cs typeface="Sarabun"/>
              </a:rPr>
              <a:t> </a:t>
            </a:r>
            <a:r>
              <a:rPr sz="1200" b="0" dirty="0" err="1">
                <a:solidFill>
                  <a:srgbClr val="1F2937"/>
                </a:solidFill>
                <a:latin typeface="Sarabun"/>
                <a:ea typeface="Sarabun"/>
                <a:cs typeface="Sarabun"/>
              </a:rPr>
              <a:t>แต่ตกเมื่อสร้างทั้งระบบ</a:t>
            </a:r>
            <a:r>
              <a:rPr sz="1200" b="0" dirty="0">
                <a:solidFill>
                  <a:srgbClr val="1F2937"/>
                </a:solidFill>
                <a:latin typeface="Sarabun"/>
                <a:ea typeface="Sarabun"/>
                <a:cs typeface="Sarabun"/>
              </a:rPr>
              <a:t>: </a:t>
            </a:r>
            <a:r>
              <a:rPr sz="1200" b="0" dirty="0" err="1">
                <a:solidFill>
                  <a:srgbClr val="1F2937"/>
                </a:solidFill>
                <a:latin typeface="Sarabun"/>
                <a:ea typeface="Sarabun"/>
                <a:cs typeface="Sarabun"/>
              </a:rPr>
              <a:t>แก้ปัญหาจริงบน</a:t>
            </a:r>
            <a:r>
              <a:rPr sz="1200" b="0" dirty="0">
                <a:solidFill>
                  <a:srgbClr val="1F2937"/>
                </a:solidFill>
                <a:latin typeface="Sarabun"/>
                <a:ea typeface="Sarabun"/>
                <a:cs typeface="Sarabun"/>
              </a:rPr>
              <a:t> GitHub </a:t>
            </a:r>
            <a:r>
              <a:rPr sz="1200" b="0" dirty="0" err="1">
                <a:solidFill>
                  <a:srgbClr val="1F2937"/>
                </a:solidFill>
                <a:latin typeface="Sarabun"/>
                <a:ea typeface="Sarabun"/>
                <a:cs typeface="Sarabun"/>
              </a:rPr>
              <a:t>ได้เพียง</a:t>
            </a:r>
            <a:r>
              <a:rPr sz="1200" b="0" dirty="0">
                <a:solidFill>
                  <a:srgbClr val="1F2937"/>
                </a:solidFill>
                <a:latin typeface="Sarabun"/>
                <a:ea typeface="Sarabun"/>
                <a:cs typeface="Sarabun"/>
              </a:rPr>
              <a:t> 1.96%</a:t>
            </a:r>
          </a:p>
          <a:p>
            <a:pPr marL="128016" indent="-128016">
              <a:spcBef>
                <a:spcPts val="0"/>
              </a:spcBef>
              <a:spcAft>
                <a:spcPts val="100"/>
              </a:spcAft>
              <a:buChar char="•"/>
            </a:pPr>
            <a:r>
              <a:rPr sz="1200" b="0" dirty="0" err="1">
                <a:solidFill>
                  <a:srgbClr val="1F2937"/>
                </a:solidFill>
                <a:latin typeface="Sarabun"/>
                <a:ea typeface="Sarabun"/>
                <a:cs typeface="Sarabun"/>
              </a:rPr>
              <a:t>การวัดด้วยชุดทดสอบอย่างเดียวไม่พอ</a:t>
            </a:r>
            <a:r>
              <a:rPr sz="1200" b="0" dirty="0">
                <a:solidFill>
                  <a:srgbClr val="1F2937"/>
                </a:solidFill>
                <a:latin typeface="Sarabun"/>
                <a:ea typeface="Sarabun"/>
                <a:cs typeface="Sarabun"/>
              </a:rPr>
              <a:t> </a:t>
            </a:r>
            <a:r>
              <a:rPr sz="1200" b="0" dirty="0" err="1">
                <a:solidFill>
                  <a:srgbClr val="1F2937"/>
                </a:solidFill>
                <a:latin typeface="Sarabun"/>
                <a:ea typeface="Sarabun"/>
                <a:cs typeface="Sarabun"/>
              </a:rPr>
              <a:t>ต้องดูความปลอดภัยและการบำรุงรักษาด้วย</a:t>
            </a:r>
            <a:endParaRPr sz="1200" b="0" dirty="0">
              <a:solidFill>
                <a:srgbClr val="1F2937"/>
              </a:solidFill>
              <a:latin typeface="Sarabun"/>
              <a:ea typeface="Sarabun"/>
              <a:cs typeface="Sarabun"/>
            </a:endParaRPr>
          </a:p>
        </p:txBody>
      </p:sp>
      <p:sp>
        <p:nvSpPr>
          <p:cNvPr id="5" name="work card 2"/>
          <p:cNvSpPr/>
          <p:nvPr/>
        </p:nvSpPr>
        <p:spPr>
          <a:xfrm>
            <a:off x="4310800" y="1649495"/>
            <a:ext cx="3566160" cy="3300000"/>
          </a:xfrm>
          <a:prstGeom prst="roundRect">
            <a:avLst>
              <a:gd name="adj" fmla="val 6857"/>
            </a:avLst>
          </a:prstGeom>
          <a:solidFill>
            <a:srgbClr val="EEF3EF"/>
          </a:solidFill>
          <a:ln w="12700">
            <a:solidFill>
              <a:srgbClr val="EEF3EF"/>
            </a:solidFill>
            <a:prstDash val="solid"/>
          </a:ln>
        </p:spPr>
        <p:txBody>
          <a:bodyPr/>
          <a:lstStyle/>
          <a:p>
            <a:endParaRPr lang="en-TH"/>
          </a:p>
        </p:txBody>
      </p:sp>
      <p:sp>
        <p:nvSpPr>
          <p:cNvPr id="27" name="work text 2"/>
          <p:cNvSpPr txBox="1"/>
          <p:nvPr/>
        </p:nvSpPr>
        <p:spPr>
          <a:xfrm>
            <a:off x="4500800" y="1954823"/>
            <a:ext cx="3186160" cy="2880276"/>
          </a:xfrm>
          <a:prstGeom prst="rect">
            <a:avLst/>
          </a:prstGeom>
          <a:noFill/>
        </p:spPr>
        <p:txBody>
          <a:bodyPr wrap="square" lIns="0" tIns="0" rIns="0" bIns="0">
            <a:spAutoFit/>
          </a:bodyPr>
          <a:lstStyle/>
          <a:p>
            <a:pPr>
              <a:spcBef>
                <a:spcPts val="0"/>
              </a:spcBef>
              <a:spcAft>
                <a:spcPts val="100"/>
              </a:spcAft>
            </a:pPr>
            <a:r>
              <a:rPr sz="1200" b="1" dirty="0" err="1">
                <a:solidFill>
                  <a:srgbClr val="1C5739"/>
                </a:solidFill>
                <a:latin typeface="Sarabun"/>
                <a:ea typeface="Sarabun"/>
                <a:cs typeface="Sarabun"/>
              </a:rPr>
              <a:t>งานที่</a:t>
            </a:r>
            <a:r>
              <a:rPr sz="1200" b="1" dirty="0">
                <a:solidFill>
                  <a:srgbClr val="1C5739"/>
                </a:solidFill>
                <a:latin typeface="Sarabun"/>
                <a:ea typeface="Sarabun"/>
                <a:cs typeface="Sarabun"/>
              </a:rPr>
              <a:t> 2 · </a:t>
            </a:r>
            <a:r>
              <a:rPr sz="1200" b="1" dirty="0" err="1">
                <a:solidFill>
                  <a:srgbClr val="1C5739"/>
                </a:solidFill>
                <a:latin typeface="Sarabun"/>
                <a:ea typeface="Sarabun"/>
                <a:cs typeface="Sarabun"/>
              </a:rPr>
              <a:t>คุณภาพโค้ดจากเครื่องมือ</a:t>
            </a:r>
            <a:r>
              <a:rPr sz="1200" b="1" dirty="0">
                <a:solidFill>
                  <a:srgbClr val="1C5739"/>
                </a:solidFill>
                <a:latin typeface="Sarabun"/>
                <a:ea typeface="Sarabun"/>
                <a:cs typeface="Sarabun"/>
              </a:rPr>
              <a:t> AI</a:t>
            </a:r>
          </a:p>
          <a:p>
            <a:pPr>
              <a:spcBef>
                <a:spcPts val="0"/>
              </a:spcBef>
              <a:spcAft>
                <a:spcPts val="500"/>
              </a:spcAft>
            </a:pPr>
            <a:r>
              <a:rPr sz="1100" b="0" dirty="0" err="1">
                <a:solidFill>
                  <a:srgbClr val="6B7280"/>
                </a:solidFill>
                <a:latin typeface="Sarabun"/>
                <a:ea typeface="Sarabun"/>
                <a:cs typeface="Sarabun"/>
              </a:rPr>
              <a:t>Yetiştiren</a:t>
            </a:r>
            <a:r>
              <a:rPr sz="1100" b="0" dirty="0">
                <a:solidFill>
                  <a:srgbClr val="6B7280"/>
                </a:solidFill>
                <a:latin typeface="Sarabun"/>
                <a:ea typeface="Sarabun"/>
                <a:cs typeface="Sarabun"/>
              </a:rPr>
              <a:t> </a:t>
            </a:r>
            <a:r>
              <a:rPr sz="1100" b="0" dirty="0" err="1">
                <a:solidFill>
                  <a:srgbClr val="6B7280"/>
                </a:solidFill>
                <a:latin typeface="Sarabun"/>
                <a:ea typeface="Sarabun"/>
                <a:cs typeface="Sarabun"/>
              </a:rPr>
              <a:t>และคณะ</a:t>
            </a:r>
            <a:r>
              <a:rPr sz="1100" b="0" dirty="0">
                <a:solidFill>
                  <a:srgbClr val="6B7280"/>
                </a:solidFill>
                <a:latin typeface="Sarabun"/>
                <a:ea typeface="Sarabun"/>
                <a:cs typeface="Sarabun"/>
              </a:rPr>
              <a:t>: Copilot, </a:t>
            </a:r>
            <a:r>
              <a:rPr sz="1100" b="0" dirty="0" err="1">
                <a:solidFill>
                  <a:srgbClr val="6B7280"/>
                </a:solidFill>
                <a:latin typeface="Sarabun"/>
                <a:ea typeface="Sarabun"/>
                <a:cs typeface="Sarabun"/>
              </a:rPr>
              <a:t>CodeWhisperer</a:t>
            </a:r>
            <a:r>
              <a:rPr sz="1100" b="0" dirty="0">
                <a:solidFill>
                  <a:srgbClr val="6B7280"/>
                </a:solidFill>
                <a:latin typeface="Sarabun"/>
                <a:ea typeface="Sarabun"/>
                <a:cs typeface="Sarabun"/>
              </a:rPr>
              <a:t>, ChatGPT</a:t>
            </a:r>
          </a:p>
          <a:p>
            <a:pPr>
              <a:spcBef>
                <a:spcPts val="0"/>
              </a:spcBef>
              <a:spcAft>
                <a:spcPts val="100"/>
              </a:spcAft>
            </a:pPr>
            <a:endParaRPr lang="th-TH" sz="1250" b="1" dirty="0">
              <a:solidFill>
                <a:srgbClr val="1C5739"/>
              </a:solidFill>
              <a:latin typeface="Sarabun"/>
              <a:ea typeface="Sarabun"/>
              <a:cs typeface="Sarabun"/>
            </a:endParaRPr>
          </a:p>
          <a:p>
            <a:pPr>
              <a:spcBef>
                <a:spcPts val="0"/>
              </a:spcBef>
              <a:spcAft>
                <a:spcPts val="100"/>
              </a:spcAft>
            </a:pPr>
            <a:r>
              <a:rPr sz="1250" b="1" dirty="0" err="1">
                <a:solidFill>
                  <a:srgbClr val="1C5739"/>
                </a:solidFill>
                <a:latin typeface="Sarabun"/>
                <a:ea typeface="Sarabun"/>
                <a:cs typeface="Sarabun"/>
              </a:rPr>
              <a:t>ทำอะไร</a:t>
            </a:r>
            <a:endParaRPr sz="1250" b="1" dirty="0">
              <a:solidFill>
                <a:srgbClr val="1C5739"/>
              </a:solidFill>
              <a:latin typeface="Sarabun"/>
              <a:ea typeface="Sarabun"/>
              <a:cs typeface="Sarabun"/>
            </a:endParaRPr>
          </a:p>
          <a:p>
            <a:pPr marL="128016" indent="-128016">
              <a:spcBef>
                <a:spcPts val="0"/>
              </a:spcBef>
              <a:spcAft>
                <a:spcPts val="100"/>
              </a:spcAft>
              <a:buChar char="•"/>
            </a:pPr>
            <a:r>
              <a:rPr sz="1200" b="0" dirty="0" err="1">
                <a:solidFill>
                  <a:srgbClr val="1F2937"/>
                </a:solidFill>
                <a:latin typeface="Sarabun"/>
                <a:ea typeface="Sarabun"/>
                <a:cs typeface="Sarabun"/>
              </a:rPr>
              <a:t>เทียบ</a:t>
            </a:r>
            <a:r>
              <a:rPr sz="1200" b="0" dirty="0">
                <a:solidFill>
                  <a:srgbClr val="1F2937"/>
                </a:solidFill>
                <a:latin typeface="Sarabun"/>
                <a:ea typeface="Sarabun"/>
                <a:cs typeface="Sarabun"/>
              </a:rPr>
              <a:t> 3 </a:t>
            </a:r>
            <a:r>
              <a:rPr sz="1200" b="0" dirty="0" err="1">
                <a:solidFill>
                  <a:srgbClr val="1F2937"/>
                </a:solidFill>
                <a:latin typeface="Sarabun"/>
                <a:ea typeface="Sarabun"/>
                <a:cs typeface="Sarabun"/>
              </a:rPr>
              <a:t>เครื่องมือบนชุดข้อมูล</a:t>
            </a:r>
            <a:r>
              <a:rPr sz="1200" b="0" dirty="0">
                <a:solidFill>
                  <a:srgbClr val="1F2937"/>
                </a:solidFill>
                <a:latin typeface="Sarabun"/>
                <a:ea typeface="Sarabun"/>
                <a:cs typeface="Sarabun"/>
              </a:rPr>
              <a:t> </a:t>
            </a:r>
            <a:r>
              <a:rPr sz="1200" b="0" dirty="0" err="1">
                <a:solidFill>
                  <a:srgbClr val="1F2937"/>
                </a:solidFill>
                <a:latin typeface="Sarabun"/>
                <a:ea typeface="Sarabun"/>
                <a:cs typeface="Sarabun"/>
              </a:rPr>
              <a:t>HumanEval</a:t>
            </a:r>
            <a:endParaRPr sz="1200" b="0" dirty="0">
              <a:solidFill>
                <a:srgbClr val="1F2937"/>
              </a:solidFill>
              <a:latin typeface="Sarabun"/>
              <a:ea typeface="Sarabun"/>
              <a:cs typeface="Sarabun"/>
            </a:endParaRPr>
          </a:p>
          <a:p>
            <a:pPr marL="128016" indent="-128016">
              <a:spcBef>
                <a:spcPts val="0"/>
              </a:spcBef>
              <a:spcAft>
                <a:spcPts val="100"/>
              </a:spcAft>
              <a:buChar char="•"/>
            </a:pPr>
            <a:r>
              <a:rPr sz="1200" b="0" dirty="0" err="1">
                <a:solidFill>
                  <a:srgbClr val="1F2937"/>
                </a:solidFill>
                <a:latin typeface="Sarabun"/>
                <a:ea typeface="Sarabun"/>
                <a:cs typeface="Sarabun"/>
              </a:rPr>
              <a:t>ประเมิน</a:t>
            </a:r>
            <a:r>
              <a:rPr sz="1200" b="0" dirty="0">
                <a:solidFill>
                  <a:srgbClr val="1F2937"/>
                </a:solidFill>
                <a:latin typeface="Sarabun"/>
                <a:ea typeface="Sarabun"/>
                <a:cs typeface="Sarabun"/>
              </a:rPr>
              <a:t> 5 </a:t>
            </a:r>
            <a:r>
              <a:rPr sz="1200" b="0" dirty="0" err="1">
                <a:solidFill>
                  <a:srgbClr val="1F2937"/>
                </a:solidFill>
                <a:latin typeface="Sarabun"/>
                <a:ea typeface="Sarabun"/>
                <a:cs typeface="Sarabun"/>
              </a:rPr>
              <a:t>ด้าน</a:t>
            </a:r>
            <a:r>
              <a:rPr sz="1200" b="0" dirty="0">
                <a:solidFill>
                  <a:srgbClr val="1F2937"/>
                </a:solidFill>
                <a:latin typeface="Sarabun"/>
                <a:ea typeface="Sarabun"/>
                <a:cs typeface="Sarabun"/>
              </a:rPr>
              <a:t>: </a:t>
            </a:r>
            <a:r>
              <a:rPr sz="1200" b="0" dirty="0" err="1">
                <a:solidFill>
                  <a:srgbClr val="1F2937"/>
                </a:solidFill>
                <a:latin typeface="Sarabun"/>
                <a:ea typeface="Sarabun"/>
                <a:cs typeface="Sarabun"/>
              </a:rPr>
              <a:t>ไวยากรณ์</a:t>
            </a:r>
            <a:r>
              <a:rPr sz="1200" b="0" dirty="0">
                <a:solidFill>
                  <a:srgbClr val="1F2937"/>
                </a:solidFill>
                <a:latin typeface="Sarabun"/>
                <a:ea typeface="Sarabun"/>
                <a:cs typeface="Sarabun"/>
              </a:rPr>
              <a:t> </a:t>
            </a:r>
            <a:r>
              <a:rPr sz="1200" b="0" dirty="0" err="1">
                <a:solidFill>
                  <a:srgbClr val="1F2937"/>
                </a:solidFill>
                <a:latin typeface="Sarabun"/>
                <a:ea typeface="Sarabun"/>
                <a:cs typeface="Sarabun"/>
              </a:rPr>
              <a:t>การทำงาน</a:t>
            </a:r>
            <a:r>
              <a:rPr sz="1200" b="0" dirty="0">
                <a:solidFill>
                  <a:srgbClr val="1F2937"/>
                </a:solidFill>
                <a:latin typeface="Sarabun"/>
                <a:ea typeface="Sarabun"/>
                <a:cs typeface="Sarabun"/>
              </a:rPr>
              <a:t> </a:t>
            </a:r>
            <a:r>
              <a:rPr sz="1200" b="0" dirty="0" err="1">
                <a:solidFill>
                  <a:srgbClr val="1F2937"/>
                </a:solidFill>
                <a:latin typeface="Sarabun"/>
                <a:ea typeface="Sarabun"/>
                <a:cs typeface="Sarabun"/>
              </a:rPr>
              <a:t>ความปลอดภัย</a:t>
            </a:r>
            <a:r>
              <a:rPr sz="1200" b="0" dirty="0">
                <a:solidFill>
                  <a:srgbClr val="1F2937"/>
                </a:solidFill>
                <a:latin typeface="Sarabun"/>
                <a:ea typeface="Sarabun"/>
                <a:cs typeface="Sarabun"/>
              </a:rPr>
              <a:t> </a:t>
            </a:r>
            <a:r>
              <a:rPr sz="1200" b="0" dirty="0" err="1">
                <a:solidFill>
                  <a:srgbClr val="1F2937"/>
                </a:solidFill>
                <a:latin typeface="Sarabun"/>
                <a:ea typeface="Sarabun"/>
                <a:cs typeface="Sarabun"/>
              </a:rPr>
              <a:t>ความน่าเชื่อถือ</a:t>
            </a:r>
            <a:r>
              <a:rPr sz="1200" b="0" dirty="0">
                <a:solidFill>
                  <a:srgbClr val="1F2937"/>
                </a:solidFill>
                <a:latin typeface="Sarabun"/>
                <a:ea typeface="Sarabun"/>
                <a:cs typeface="Sarabun"/>
              </a:rPr>
              <a:t> </a:t>
            </a:r>
            <a:r>
              <a:rPr sz="1200" b="0" dirty="0" err="1">
                <a:solidFill>
                  <a:srgbClr val="1F2937"/>
                </a:solidFill>
                <a:latin typeface="Sarabun"/>
                <a:ea typeface="Sarabun"/>
                <a:cs typeface="Sarabun"/>
              </a:rPr>
              <a:t>การบำรุงรักษา</a:t>
            </a:r>
            <a:endParaRPr sz="1200" b="0" dirty="0">
              <a:solidFill>
                <a:srgbClr val="1F2937"/>
              </a:solidFill>
              <a:latin typeface="Sarabun"/>
              <a:ea typeface="Sarabun"/>
              <a:cs typeface="Sarabun"/>
            </a:endParaRPr>
          </a:p>
          <a:p>
            <a:pPr>
              <a:spcBef>
                <a:spcPts val="500"/>
              </a:spcBef>
              <a:spcAft>
                <a:spcPts val="100"/>
              </a:spcAft>
            </a:pPr>
            <a:endParaRPr lang="th-TH" sz="1250" b="1" dirty="0">
              <a:solidFill>
                <a:srgbClr val="1C5739"/>
              </a:solidFill>
              <a:latin typeface="Sarabun"/>
              <a:ea typeface="Sarabun"/>
              <a:cs typeface="Sarabun"/>
            </a:endParaRPr>
          </a:p>
          <a:p>
            <a:pPr>
              <a:spcBef>
                <a:spcPts val="500"/>
              </a:spcBef>
              <a:spcAft>
                <a:spcPts val="100"/>
              </a:spcAft>
            </a:pPr>
            <a:r>
              <a:rPr sz="1250" b="1" dirty="0" err="1">
                <a:solidFill>
                  <a:srgbClr val="1C5739"/>
                </a:solidFill>
                <a:latin typeface="Sarabun"/>
                <a:ea typeface="Sarabun"/>
                <a:cs typeface="Sarabun"/>
              </a:rPr>
              <a:t>ผลที่พบ</a:t>
            </a:r>
            <a:endParaRPr sz="1250" b="1" dirty="0">
              <a:solidFill>
                <a:srgbClr val="1C5739"/>
              </a:solidFill>
              <a:latin typeface="Sarabun"/>
              <a:ea typeface="Sarabun"/>
              <a:cs typeface="Sarabun"/>
            </a:endParaRPr>
          </a:p>
          <a:p>
            <a:pPr marL="128016" indent="-128016">
              <a:spcBef>
                <a:spcPts val="0"/>
              </a:spcBef>
              <a:spcAft>
                <a:spcPts val="100"/>
              </a:spcAft>
              <a:buChar char="•"/>
            </a:pPr>
            <a:r>
              <a:rPr sz="1200" b="0" dirty="0" err="1">
                <a:solidFill>
                  <a:srgbClr val="1F2937"/>
                </a:solidFill>
                <a:latin typeface="Sarabun"/>
                <a:ea typeface="Sarabun"/>
                <a:cs typeface="Sarabun"/>
              </a:rPr>
              <a:t>โค้ดถูกต้อง</a:t>
            </a:r>
            <a:r>
              <a:rPr sz="1200" b="0" dirty="0">
                <a:solidFill>
                  <a:srgbClr val="1F2937"/>
                </a:solidFill>
                <a:latin typeface="Sarabun"/>
                <a:ea typeface="Sarabun"/>
                <a:cs typeface="Sarabun"/>
              </a:rPr>
              <a:t> ChatGPT 65.2%, Copilot 46.3%, </a:t>
            </a:r>
            <a:r>
              <a:rPr sz="1200" b="0" dirty="0" err="1">
                <a:solidFill>
                  <a:srgbClr val="1F2937"/>
                </a:solidFill>
                <a:latin typeface="Sarabun"/>
                <a:ea typeface="Sarabun"/>
                <a:cs typeface="Sarabun"/>
              </a:rPr>
              <a:t>CodeWhisperer</a:t>
            </a:r>
            <a:r>
              <a:rPr sz="1200" b="0" dirty="0">
                <a:solidFill>
                  <a:srgbClr val="1F2937"/>
                </a:solidFill>
                <a:latin typeface="Sarabun"/>
                <a:ea typeface="Sarabun"/>
                <a:cs typeface="Sarabun"/>
              </a:rPr>
              <a:t> 31.1%</a:t>
            </a:r>
          </a:p>
          <a:p>
            <a:pPr marL="128016" indent="-128016">
              <a:spcBef>
                <a:spcPts val="0"/>
              </a:spcBef>
              <a:spcAft>
                <a:spcPts val="100"/>
              </a:spcAft>
              <a:buChar char="•"/>
            </a:pPr>
            <a:r>
              <a:rPr sz="1200" b="0" dirty="0" err="1">
                <a:solidFill>
                  <a:srgbClr val="1F2937"/>
                </a:solidFill>
                <a:latin typeface="Sarabun"/>
                <a:ea typeface="Sarabun"/>
                <a:cs typeface="Sarabun"/>
              </a:rPr>
              <a:t>เวลาแก้</a:t>
            </a:r>
            <a:r>
              <a:rPr sz="1200" b="0" dirty="0">
                <a:solidFill>
                  <a:srgbClr val="1F2937"/>
                </a:solidFill>
                <a:latin typeface="Sarabun"/>
                <a:ea typeface="Sarabun"/>
                <a:cs typeface="Sarabun"/>
              </a:rPr>
              <a:t> Code Smells </a:t>
            </a:r>
            <a:r>
              <a:rPr sz="1200" b="0" dirty="0" err="1">
                <a:solidFill>
                  <a:srgbClr val="1F2937"/>
                </a:solidFill>
                <a:latin typeface="Sarabun"/>
                <a:ea typeface="Sarabun"/>
                <a:cs typeface="Sarabun"/>
              </a:rPr>
              <a:t>เฉลี่ย</a:t>
            </a:r>
            <a:r>
              <a:rPr sz="1200" b="0" dirty="0">
                <a:solidFill>
                  <a:srgbClr val="1F2937"/>
                </a:solidFill>
                <a:latin typeface="Sarabun"/>
                <a:ea typeface="Sarabun"/>
                <a:cs typeface="Sarabun"/>
              </a:rPr>
              <a:t> 8.9 / 9.1 / 5.6 </a:t>
            </a:r>
            <a:r>
              <a:rPr sz="1200" b="0" dirty="0" err="1">
                <a:solidFill>
                  <a:srgbClr val="1F2937"/>
                </a:solidFill>
                <a:latin typeface="Sarabun"/>
                <a:ea typeface="Sarabun"/>
                <a:cs typeface="Sarabun"/>
              </a:rPr>
              <a:t>นาที</a:t>
            </a:r>
            <a:r>
              <a:rPr sz="1200" b="0" dirty="0">
                <a:solidFill>
                  <a:srgbClr val="1F2937"/>
                </a:solidFill>
                <a:latin typeface="Sarabun"/>
                <a:ea typeface="Sarabun"/>
                <a:cs typeface="Sarabun"/>
              </a:rPr>
              <a:t> </a:t>
            </a:r>
            <a:r>
              <a:rPr sz="1200" b="0" dirty="0" err="1">
                <a:solidFill>
                  <a:srgbClr val="1F2937"/>
                </a:solidFill>
                <a:latin typeface="Sarabun"/>
                <a:ea typeface="Sarabun"/>
                <a:cs typeface="Sarabun"/>
              </a:rPr>
              <a:t>ตามลำดับ</a:t>
            </a:r>
            <a:endParaRPr sz="1200" b="0" dirty="0">
              <a:solidFill>
                <a:srgbClr val="1F2937"/>
              </a:solidFill>
              <a:latin typeface="Sarabun"/>
              <a:ea typeface="Sarabun"/>
              <a:cs typeface="Sarabun"/>
            </a:endParaRPr>
          </a:p>
        </p:txBody>
      </p:sp>
      <p:sp>
        <p:nvSpPr>
          <p:cNvPr id="6" name="work card 3"/>
          <p:cNvSpPr/>
          <p:nvPr/>
        </p:nvSpPr>
        <p:spPr>
          <a:xfrm>
            <a:off x="8072960" y="1649495"/>
            <a:ext cx="3566160" cy="3300000"/>
          </a:xfrm>
          <a:prstGeom prst="roundRect">
            <a:avLst>
              <a:gd name="adj" fmla="val 6857"/>
            </a:avLst>
          </a:prstGeom>
          <a:solidFill>
            <a:srgbClr val="EEF3EF"/>
          </a:solidFill>
          <a:ln w="12700">
            <a:solidFill>
              <a:srgbClr val="EEF3EF"/>
            </a:solidFill>
            <a:prstDash val="solid"/>
          </a:ln>
        </p:spPr>
        <p:txBody>
          <a:bodyPr/>
          <a:lstStyle/>
          <a:p>
            <a:endParaRPr lang="en-TH"/>
          </a:p>
        </p:txBody>
      </p:sp>
      <p:sp>
        <p:nvSpPr>
          <p:cNvPr id="28" name="work text 3"/>
          <p:cNvSpPr txBox="1"/>
          <p:nvPr/>
        </p:nvSpPr>
        <p:spPr>
          <a:xfrm>
            <a:off x="8266895" y="1954823"/>
            <a:ext cx="3186160" cy="2710999"/>
          </a:xfrm>
          <a:prstGeom prst="rect">
            <a:avLst/>
          </a:prstGeom>
          <a:noFill/>
        </p:spPr>
        <p:txBody>
          <a:bodyPr wrap="square" lIns="0" tIns="0" rIns="0" bIns="0">
            <a:spAutoFit/>
          </a:bodyPr>
          <a:lstStyle/>
          <a:p>
            <a:pPr>
              <a:spcBef>
                <a:spcPts val="0"/>
              </a:spcBef>
              <a:spcAft>
                <a:spcPts val="100"/>
              </a:spcAft>
            </a:pPr>
            <a:r>
              <a:rPr sz="1200" b="1" dirty="0" err="1">
                <a:solidFill>
                  <a:srgbClr val="1C5739"/>
                </a:solidFill>
                <a:latin typeface="Sarabun"/>
                <a:ea typeface="Sarabun"/>
                <a:cs typeface="Sarabun"/>
              </a:rPr>
              <a:t>งานที่</a:t>
            </a:r>
            <a:r>
              <a:rPr sz="1200" b="1" dirty="0">
                <a:solidFill>
                  <a:srgbClr val="1C5739"/>
                </a:solidFill>
                <a:latin typeface="Sarabun"/>
                <a:ea typeface="Sarabun"/>
                <a:cs typeface="Sarabun"/>
              </a:rPr>
              <a:t> 3 · </a:t>
            </a:r>
            <a:r>
              <a:rPr sz="1200" b="1" dirty="0" err="1">
                <a:solidFill>
                  <a:srgbClr val="1C5739"/>
                </a:solidFill>
                <a:latin typeface="Sarabun"/>
                <a:ea typeface="Sarabun"/>
                <a:cs typeface="Sarabun"/>
              </a:rPr>
              <a:t>ความปลอดภัยของโค้ด</a:t>
            </a:r>
            <a:r>
              <a:rPr sz="1200" b="1" dirty="0">
                <a:solidFill>
                  <a:srgbClr val="1C5739"/>
                </a:solidFill>
                <a:latin typeface="Sarabun"/>
                <a:ea typeface="Sarabun"/>
                <a:cs typeface="Sarabun"/>
              </a:rPr>
              <a:t> Copilot</a:t>
            </a:r>
          </a:p>
          <a:p>
            <a:pPr>
              <a:spcBef>
                <a:spcPts val="0"/>
              </a:spcBef>
              <a:spcAft>
                <a:spcPts val="500"/>
              </a:spcAft>
            </a:pPr>
            <a:r>
              <a:rPr sz="1100" b="0" dirty="0">
                <a:solidFill>
                  <a:srgbClr val="6B7280"/>
                </a:solidFill>
                <a:latin typeface="Sarabun"/>
                <a:ea typeface="Sarabun"/>
                <a:cs typeface="Sarabun"/>
              </a:rPr>
              <a:t>Fu </a:t>
            </a:r>
            <a:r>
              <a:rPr sz="1100" b="0" dirty="0" err="1">
                <a:solidFill>
                  <a:srgbClr val="6B7280"/>
                </a:solidFill>
                <a:latin typeface="Sarabun"/>
                <a:ea typeface="Sarabun"/>
                <a:cs typeface="Sarabun"/>
              </a:rPr>
              <a:t>และคณะ</a:t>
            </a:r>
            <a:r>
              <a:rPr sz="1100" b="0" dirty="0">
                <a:solidFill>
                  <a:srgbClr val="6B7280"/>
                </a:solidFill>
                <a:latin typeface="Sarabun"/>
                <a:ea typeface="Sarabun"/>
                <a:cs typeface="Sarabun"/>
              </a:rPr>
              <a:t> (2568): </a:t>
            </a:r>
            <a:r>
              <a:rPr sz="1100" b="0" dirty="0" err="1">
                <a:solidFill>
                  <a:srgbClr val="6B7280"/>
                </a:solidFill>
                <a:latin typeface="Sarabun"/>
                <a:ea typeface="Sarabun"/>
                <a:cs typeface="Sarabun"/>
              </a:rPr>
              <a:t>โครงการจริงบน</a:t>
            </a:r>
            <a:r>
              <a:rPr sz="1100" b="0" dirty="0">
                <a:solidFill>
                  <a:srgbClr val="6B7280"/>
                </a:solidFill>
                <a:latin typeface="Sarabun"/>
                <a:ea typeface="Sarabun"/>
                <a:cs typeface="Sarabun"/>
              </a:rPr>
              <a:t> GitHub</a:t>
            </a:r>
          </a:p>
          <a:p>
            <a:pPr>
              <a:spcBef>
                <a:spcPts val="0"/>
              </a:spcBef>
              <a:spcAft>
                <a:spcPts val="100"/>
              </a:spcAft>
            </a:pPr>
            <a:endParaRPr lang="th-TH" sz="1250" b="1" dirty="0">
              <a:solidFill>
                <a:srgbClr val="1C5739"/>
              </a:solidFill>
              <a:latin typeface="Sarabun"/>
              <a:ea typeface="Sarabun"/>
              <a:cs typeface="Sarabun"/>
            </a:endParaRPr>
          </a:p>
          <a:p>
            <a:pPr>
              <a:spcBef>
                <a:spcPts val="0"/>
              </a:spcBef>
              <a:spcAft>
                <a:spcPts val="100"/>
              </a:spcAft>
            </a:pPr>
            <a:r>
              <a:rPr sz="1250" b="1" dirty="0" err="1">
                <a:solidFill>
                  <a:srgbClr val="1C5739"/>
                </a:solidFill>
                <a:latin typeface="Sarabun"/>
                <a:ea typeface="Sarabun"/>
                <a:cs typeface="Sarabun"/>
              </a:rPr>
              <a:t>ทำอะไร</a:t>
            </a:r>
            <a:endParaRPr sz="1250" b="1" dirty="0">
              <a:solidFill>
                <a:srgbClr val="1C5739"/>
              </a:solidFill>
              <a:latin typeface="Sarabun"/>
              <a:ea typeface="Sarabun"/>
              <a:cs typeface="Sarabun"/>
            </a:endParaRPr>
          </a:p>
          <a:p>
            <a:pPr marL="128016" indent="-128016">
              <a:spcBef>
                <a:spcPts val="0"/>
              </a:spcBef>
              <a:spcAft>
                <a:spcPts val="100"/>
              </a:spcAft>
              <a:buChar char="•"/>
            </a:pPr>
            <a:r>
              <a:rPr sz="1200" b="0" dirty="0" err="1">
                <a:solidFill>
                  <a:srgbClr val="1F2937"/>
                </a:solidFill>
                <a:latin typeface="Sarabun"/>
                <a:ea typeface="Sarabun"/>
                <a:cs typeface="Sarabun"/>
              </a:rPr>
              <a:t>วิเคราะห์โค้ดที่</a:t>
            </a:r>
            <a:r>
              <a:rPr sz="1200" b="0" dirty="0">
                <a:solidFill>
                  <a:srgbClr val="1F2937"/>
                </a:solidFill>
                <a:latin typeface="Sarabun"/>
                <a:ea typeface="Sarabun"/>
                <a:cs typeface="Sarabun"/>
              </a:rPr>
              <a:t> AI </a:t>
            </a:r>
            <a:r>
              <a:rPr sz="1200" b="0" dirty="0" err="1">
                <a:solidFill>
                  <a:srgbClr val="1F2937"/>
                </a:solidFill>
                <a:latin typeface="Sarabun"/>
                <a:ea typeface="Sarabun"/>
                <a:cs typeface="Sarabun"/>
              </a:rPr>
              <a:t>สร้าง</a:t>
            </a:r>
            <a:r>
              <a:rPr sz="1200" b="0" dirty="0">
                <a:solidFill>
                  <a:srgbClr val="1F2937"/>
                </a:solidFill>
                <a:latin typeface="Sarabun"/>
                <a:ea typeface="Sarabun"/>
                <a:cs typeface="Sarabun"/>
              </a:rPr>
              <a:t> 733 </a:t>
            </a:r>
            <a:r>
              <a:rPr sz="1200" b="0" dirty="0" err="1">
                <a:solidFill>
                  <a:srgbClr val="1F2937"/>
                </a:solidFill>
                <a:latin typeface="Sarabun"/>
                <a:ea typeface="Sarabun"/>
                <a:cs typeface="Sarabun"/>
              </a:rPr>
              <a:t>ส่วน</a:t>
            </a:r>
            <a:r>
              <a:rPr sz="1200" b="0" dirty="0">
                <a:solidFill>
                  <a:srgbClr val="1F2937"/>
                </a:solidFill>
                <a:latin typeface="Sarabun"/>
                <a:ea typeface="Sarabun"/>
                <a:cs typeface="Sarabun"/>
              </a:rPr>
              <a:t> </a:t>
            </a:r>
            <a:r>
              <a:rPr sz="1200" b="0" dirty="0" err="1">
                <a:solidFill>
                  <a:srgbClr val="1F2937"/>
                </a:solidFill>
                <a:latin typeface="Sarabun"/>
                <a:ea typeface="Sarabun"/>
                <a:cs typeface="Sarabun"/>
              </a:rPr>
              <a:t>จาก</a:t>
            </a:r>
            <a:r>
              <a:rPr sz="1200" b="0" dirty="0">
                <a:solidFill>
                  <a:srgbClr val="1F2937"/>
                </a:solidFill>
                <a:latin typeface="Sarabun"/>
                <a:ea typeface="Sarabun"/>
                <a:cs typeface="Sarabun"/>
              </a:rPr>
              <a:t> Copilot, </a:t>
            </a:r>
            <a:r>
              <a:rPr sz="1200" b="0" dirty="0" err="1">
                <a:solidFill>
                  <a:srgbClr val="1F2937"/>
                </a:solidFill>
                <a:latin typeface="Sarabun"/>
                <a:ea typeface="Sarabun"/>
                <a:cs typeface="Sarabun"/>
              </a:rPr>
              <a:t>CodeWhisperer</a:t>
            </a:r>
            <a:r>
              <a:rPr sz="1200" b="0" dirty="0">
                <a:solidFill>
                  <a:srgbClr val="1F2937"/>
                </a:solidFill>
                <a:latin typeface="Sarabun"/>
                <a:ea typeface="Sarabun"/>
                <a:cs typeface="Sarabun"/>
              </a:rPr>
              <a:t> </a:t>
            </a:r>
            <a:r>
              <a:rPr sz="1200" b="0" dirty="0" err="1">
                <a:solidFill>
                  <a:srgbClr val="1F2937"/>
                </a:solidFill>
                <a:latin typeface="Sarabun"/>
                <a:ea typeface="Sarabun"/>
                <a:cs typeface="Sarabun"/>
              </a:rPr>
              <a:t>และ</a:t>
            </a:r>
            <a:r>
              <a:rPr sz="1200" b="0" dirty="0">
                <a:solidFill>
                  <a:srgbClr val="1F2937"/>
                </a:solidFill>
                <a:latin typeface="Sarabun"/>
                <a:ea typeface="Sarabun"/>
                <a:cs typeface="Sarabun"/>
              </a:rPr>
              <a:t> </a:t>
            </a:r>
            <a:r>
              <a:rPr sz="1200" b="0" dirty="0" err="1">
                <a:solidFill>
                  <a:srgbClr val="1F2937"/>
                </a:solidFill>
                <a:latin typeface="Sarabun"/>
                <a:ea typeface="Sarabun"/>
                <a:cs typeface="Sarabun"/>
              </a:rPr>
              <a:t>Codeium</a:t>
            </a:r>
            <a:r>
              <a:rPr sz="1200" b="0" dirty="0">
                <a:solidFill>
                  <a:srgbClr val="1F2937"/>
                </a:solidFill>
                <a:latin typeface="Sarabun"/>
                <a:ea typeface="Sarabun"/>
                <a:cs typeface="Sarabun"/>
              </a:rPr>
              <a:t> </a:t>
            </a:r>
            <a:r>
              <a:rPr sz="1200" b="0" dirty="0" err="1">
                <a:solidFill>
                  <a:srgbClr val="1F2937"/>
                </a:solidFill>
                <a:latin typeface="Sarabun"/>
                <a:ea typeface="Sarabun"/>
                <a:cs typeface="Sarabun"/>
              </a:rPr>
              <a:t>ในโครงการจริง</a:t>
            </a:r>
            <a:endParaRPr sz="1200" b="0" dirty="0">
              <a:solidFill>
                <a:srgbClr val="1F2937"/>
              </a:solidFill>
              <a:latin typeface="Sarabun"/>
              <a:ea typeface="Sarabun"/>
              <a:cs typeface="Sarabun"/>
            </a:endParaRPr>
          </a:p>
          <a:p>
            <a:pPr>
              <a:spcBef>
                <a:spcPts val="500"/>
              </a:spcBef>
              <a:spcAft>
                <a:spcPts val="100"/>
              </a:spcAft>
            </a:pPr>
            <a:endParaRPr lang="th-TH" sz="1250" b="1" dirty="0">
              <a:solidFill>
                <a:srgbClr val="1C5739"/>
              </a:solidFill>
              <a:latin typeface="Sarabun"/>
              <a:ea typeface="Sarabun"/>
              <a:cs typeface="Sarabun"/>
            </a:endParaRPr>
          </a:p>
          <a:p>
            <a:pPr>
              <a:spcBef>
                <a:spcPts val="500"/>
              </a:spcBef>
              <a:spcAft>
                <a:spcPts val="100"/>
              </a:spcAft>
            </a:pPr>
            <a:r>
              <a:rPr sz="1250" b="1" dirty="0" err="1">
                <a:solidFill>
                  <a:srgbClr val="1C5739"/>
                </a:solidFill>
                <a:latin typeface="Sarabun"/>
                <a:ea typeface="Sarabun"/>
                <a:cs typeface="Sarabun"/>
              </a:rPr>
              <a:t>ผลที่พบ</a:t>
            </a:r>
            <a:endParaRPr sz="1250" b="1" dirty="0">
              <a:solidFill>
                <a:srgbClr val="1C5739"/>
              </a:solidFill>
              <a:latin typeface="Sarabun"/>
              <a:ea typeface="Sarabun"/>
              <a:cs typeface="Sarabun"/>
            </a:endParaRPr>
          </a:p>
          <a:p>
            <a:pPr marL="128016" indent="-128016">
              <a:spcBef>
                <a:spcPts val="0"/>
              </a:spcBef>
              <a:spcAft>
                <a:spcPts val="100"/>
              </a:spcAft>
              <a:buChar char="•"/>
            </a:pPr>
            <a:r>
              <a:rPr sz="1200" b="0" dirty="0" err="1">
                <a:solidFill>
                  <a:srgbClr val="1F2937"/>
                </a:solidFill>
                <a:latin typeface="Sarabun"/>
                <a:ea typeface="Sarabun"/>
                <a:cs typeface="Sarabun"/>
              </a:rPr>
              <a:t>พบช่องโหว่ใน</a:t>
            </a:r>
            <a:r>
              <a:rPr sz="1200" b="0" dirty="0">
                <a:solidFill>
                  <a:srgbClr val="1F2937"/>
                </a:solidFill>
                <a:latin typeface="Sarabun"/>
                <a:ea typeface="Sarabun"/>
                <a:cs typeface="Sarabun"/>
              </a:rPr>
              <a:t> Python 29.5% </a:t>
            </a:r>
            <a:r>
              <a:rPr sz="1200" b="0" dirty="0" err="1">
                <a:solidFill>
                  <a:srgbClr val="1F2937"/>
                </a:solidFill>
                <a:latin typeface="Sarabun"/>
                <a:ea typeface="Sarabun"/>
                <a:cs typeface="Sarabun"/>
              </a:rPr>
              <a:t>และ</a:t>
            </a:r>
            <a:r>
              <a:rPr sz="1200" b="0" dirty="0">
                <a:solidFill>
                  <a:srgbClr val="1F2937"/>
                </a:solidFill>
                <a:latin typeface="Sarabun"/>
                <a:ea typeface="Sarabun"/>
                <a:cs typeface="Sarabun"/>
              </a:rPr>
              <a:t> JavaScript 24.2%</a:t>
            </a:r>
          </a:p>
          <a:p>
            <a:pPr marL="128016" indent="-128016">
              <a:spcBef>
                <a:spcPts val="0"/>
              </a:spcBef>
              <a:spcAft>
                <a:spcPts val="100"/>
              </a:spcAft>
              <a:buChar char="•"/>
            </a:pPr>
            <a:r>
              <a:rPr sz="1200" b="0" dirty="0" err="1">
                <a:solidFill>
                  <a:srgbClr val="1F2937"/>
                </a:solidFill>
                <a:latin typeface="Sarabun"/>
                <a:ea typeface="Sarabun"/>
                <a:cs typeface="Sarabun"/>
              </a:rPr>
              <a:t>ครอบคลุม</a:t>
            </a:r>
            <a:r>
              <a:rPr sz="1200" b="0" dirty="0">
                <a:solidFill>
                  <a:srgbClr val="1F2937"/>
                </a:solidFill>
                <a:latin typeface="Sarabun"/>
                <a:ea typeface="Sarabun"/>
                <a:cs typeface="Sarabun"/>
              </a:rPr>
              <a:t> CWE 43 </a:t>
            </a:r>
            <a:r>
              <a:rPr sz="1200" b="0" dirty="0" err="1">
                <a:solidFill>
                  <a:srgbClr val="1F2937"/>
                </a:solidFill>
                <a:latin typeface="Sarabun"/>
                <a:ea typeface="Sarabun"/>
                <a:cs typeface="Sarabun"/>
              </a:rPr>
              <a:t>ประเภท</a:t>
            </a:r>
            <a:r>
              <a:rPr sz="1200" b="0" dirty="0">
                <a:solidFill>
                  <a:srgbClr val="1F2937"/>
                </a:solidFill>
                <a:latin typeface="Sarabun"/>
                <a:ea typeface="Sarabun"/>
                <a:cs typeface="Sarabun"/>
              </a:rPr>
              <a:t> </a:t>
            </a:r>
            <a:r>
              <a:rPr sz="1200" b="0" dirty="0" err="1">
                <a:solidFill>
                  <a:srgbClr val="1F2937"/>
                </a:solidFill>
                <a:latin typeface="Sarabun"/>
                <a:ea typeface="Sarabun"/>
                <a:cs typeface="Sarabun"/>
              </a:rPr>
              <a:t>โดย</a:t>
            </a:r>
            <a:r>
              <a:rPr sz="1200" b="0" dirty="0">
                <a:solidFill>
                  <a:srgbClr val="1F2937"/>
                </a:solidFill>
                <a:latin typeface="Sarabun"/>
                <a:ea typeface="Sarabun"/>
                <a:cs typeface="Sarabun"/>
              </a:rPr>
              <a:t> 8 </a:t>
            </a:r>
            <a:r>
              <a:rPr sz="1200" b="0" dirty="0" err="1">
                <a:solidFill>
                  <a:srgbClr val="1F2937"/>
                </a:solidFill>
                <a:latin typeface="Sarabun"/>
                <a:ea typeface="Sarabun"/>
                <a:cs typeface="Sarabun"/>
              </a:rPr>
              <a:t>ประเภทอยู่ใน</a:t>
            </a:r>
            <a:r>
              <a:rPr sz="1200" b="0" dirty="0">
                <a:solidFill>
                  <a:srgbClr val="1F2937"/>
                </a:solidFill>
                <a:latin typeface="Sarabun"/>
                <a:ea typeface="Sarabun"/>
                <a:cs typeface="Sarabun"/>
              </a:rPr>
              <a:t> CWE Top-25 </a:t>
            </a:r>
            <a:r>
              <a:rPr sz="1200" b="0" dirty="0" err="1">
                <a:solidFill>
                  <a:srgbClr val="1F2937"/>
                </a:solidFill>
                <a:latin typeface="Sarabun"/>
                <a:ea typeface="Sarabun"/>
                <a:cs typeface="Sarabun"/>
              </a:rPr>
              <a:t>ปี</a:t>
            </a:r>
            <a:r>
              <a:rPr sz="1200" b="0" dirty="0">
                <a:solidFill>
                  <a:srgbClr val="1F2937"/>
                </a:solidFill>
                <a:latin typeface="Sarabun"/>
                <a:ea typeface="Sarabun"/>
                <a:cs typeface="Sarabun"/>
              </a:rPr>
              <a:t> 2023</a:t>
            </a:r>
          </a:p>
          <a:p>
            <a:pPr marL="128016" indent="-128016">
              <a:spcBef>
                <a:spcPts val="0"/>
              </a:spcBef>
              <a:spcAft>
                <a:spcPts val="100"/>
              </a:spcAft>
              <a:buChar char="•"/>
            </a:pPr>
            <a:r>
              <a:rPr sz="1200" b="0" dirty="0" err="1">
                <a:solidFill>
                  <a:srgbClr val="1F2937"/>
                </a:solidFill>
                <a:latin typeface="Sarabun"/>
                <a:ea typeface="Sarabun"/>
                <a:cs typeface="Sarabun"/>
              </a:rPr>
              <a:t>โค้ดเสี่ยงถูกยอมรับเข้าโครงการจริงแล้ว</a:t>
            </a:r>
            <a:endParaRPr sz="1200" b="0" dirty="0">
              <a:solidFill>
                <a:srgbClr val="1F2937"/>
              </a:solidFill>
              <a:latin typeface="Sarabun"/>
              <a:ea typeface="Sarabun"/>
              <a:cs typeface="Sarabu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4  วิธีการดำเนินงาน</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ภาพรวมขั้นตอนการทดลอง</a:t>
            </a:r>
            <a:endParaRPr lang="en-US" sz="2800" dirty="0"/>
          </a:p>
        </p:txBody>
      </p:sp>
      <p:sp>
        <p:nvSpPr>
          <p:cNvPr id="4" name="Shape 2"/>
          <p:cNvSpPr/>
          <p:nvPr/>
        </p:nvSpPr>
        <p:spPr>
          <a:xfrm>
            <a:off x="860799" y="1389888"/>
            <a:ext cx="5136402" cy="4352544"/>
          </a:xfrm>
          <a:prstGeom prst="roundRect">
            <a:avLst>
              <a:gd name="adj" fmla="val 1681"/>
            </a:avLst>
          </a:prstGeom>
          <a:solidFill>
            <a:srgbClr val="FFFFFF"/>
          </a:solidFill>
          <a:ln w="12700">
            <a:solidFill>
              <a:srgbClr val="D5DFD8"/>
            </a:solidFill>
            <a:prstDash val="solid"/>
          </a:ln>
        </p:spPr>
        <p:txBody>
          <a:bodyPr/>
          <a:lstStyle/>
          <a:p>
            <a:endParaRPr lang="en-TH"/>
          </a:p>
        </p:txBody>
      </p:sp>
      <p:pic>
        <p:nvPicPr>
          <p:cNvPr id="5" name="Image 0" descr="figure 3"/>
          <p:cNvPicPr>
            <a:picLocks noChangeAspect="1"/>
          </p:cNvPicPr>
          <p:nvPr/>
        </p:nvPicPr>
        <p:blipFill>
          <a:blip r:embed="rId3"/>
          <a:stretch>
            <a:fillRect/>
          </a:stretch>
        </p:blipFill>
        <p:spPr>
          <a:xfrm>
            <a:off x="933951" y="1463040"/>
            <a:ext cx="4990098" cy="4206240"/>
          </a:xfrm>
          <a:prstGeom prst="rect">
            <a:avLst/>
          </a:prstGeom>
        </p:spPr>
      </p:pic>
      <p:sp>
        <p:nvSpPr>
          <p:cNvPr id="6" name="Text 3"/>
          <p:cNvSpPr txBox="1"/>
          <p:nvPr/>
        </p:nvSpPr>
        <p:spPr>
          <a:xfrm>
            <a:off x="548640" y="5943600"/>
            <a:ext cx="5760720" cy="457200"/>
          </a:xfrm>
          <a:prstGeom prst="rect">
            <a:avLst/>
          </a:prstGeom>
          <a:noFill/>
          <a:ln/>
        </p:spPr>
        <p:txBody>
          <a:bodyPr wrap="square" lIns="0" tIns="0" rIns="0" bIns="0" rtlCol="0" anchor="t"/>
          <a:lstStyle/>
          <a:p>
            <a:pPr marL="0" indent="0" algn="ctr">
              <a:buNone/>
            </a:pPr>
            <a:r>
              <a:rPr lang="en-US" sz="1200" dirty="0">
                <a:solidFill>
                  <a:srgbClr val="6B7280"/>
                </a:solidFill>
                <a:latin typeface="Sarabun" pitchFamily="34" charset="0"/>
                <a:ea typeface="Sarabun" pitchFamily="34" charset="-122"/>
                <a:cs typeface="Sarabun" pitchFamily="34" charset="-120"/>
              </a:rPr>
              <a:t>รูปที่ 4.1 ขั้นตอนการทดลองสำหรับการสร้างและประเมินซอร์สโค้ดด้วย AI</a:t>
            </a:r>
            <a:endParaRPr lang="en-US" sz="1200" dirty="0"/>
          </a:p>
        </p:txBody>
      </p:sp>
      <p:sp>
        <p:nvSpPr>
          <p:cNvPr id="7" name="Shape 4"/>
          <p:cNvSpPr/>
          <p:nvPr/>
        </p:nvSpPr>
        <p:spPr>
          <a:xfrm>
            <a:off x="6858000" y="1645920"/>
            <a:ext cx="457200" cy="457200"/>
          </a:xfrm>
          <a:prstGeom prst="ellipse">
            <a:avLst/>
          </a:prstGeom>
          <a:solidFill>
            <a:srgbClr val="1C5739"/>
          </a:solidFill>
          <a:ln w="12700">
            <a:solidFill>
              <a:srgbClr val="1C5739"/>
            </a:solidFill>
            <a:prstDash val="solid"/>
          </a:ln>
        </p:spPr>
        <p:txBody>
          <a:bodyPr/>
          <a:lstStyle/>
          <a:p>
            <a:endParaRPr lang="en-TH"/>
          </a:p>
        </p:txBody>
      </p:sp>
      <p:sp>
        <p:nvSpPr>
          <p:cNvPr id="8" name="Text 5"/>
          <p:cNvSpPr txBox="1"/>
          <p:nvPr/>
        </p:nvSpPr>
        <p:spPr>
          <a:xfrm>
            <a:off x="6858000" y="16459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1</a:t>
            </a:r>
            <a:endParaRPr lang="en-US" sz="1600" dirty="0"/>
          </a:p>
        </p:txBody>
      </p:sp>
      <p:sp>
        <p:nvSpPr>
          <p:cNvPr id="9" name="Text 6"/>
          <p:cNvSpPr txBox="1"/>
          <p:nvPr/>
        </p:nvSpPr>
        <p:spPr>
          <a:xfrm>
            <a:off x="7543800" y="1600200"/>
            <a:ext cx="3931920" cy="365760"/>
          </a:xfrm>
          <a:prstGeom prst="rect">
            <a:avLst/>
          </a:prstGeom>
          <a:noFill/>
          <a:ln/>
        </p:spPr>
        <p:txBody>
          <a:bodyPr wrap="square" lIns="0" tIns="0" rIns="0" bIns="0" rtlCol="0" anchor="t"/>
          <a:lstStyle/>
          <a:p>
            <a:pPr marL="0" indent="0">
              <a:buNone/>
            </a:pPr>
            <a:r>
              <a:rPr lang="en-US" sz="1700" b="1" dirty="0">
                <a:solidFill>
                  <a:srgbClr val="1C5739"/>
                </a:solidFill>
                <a:latin typeface="Sarabun" pitchFamily="34" charset="0"/>
                <a:ea typeface="Sarabun" pitchFamily="34" charset="-122"/>
                <a:cs typeface="Sarabun" pitchFamily="34" charset="-120"/>
              </a:rPr>
              <a:t>Scenarios ชุดเดียวกัน</a:t>
            </a:r>
            <a:endParaRPr lang="en-US" sz="1700" dirty="0"/>
          </a:p>
        </p:txBody>
      </p:sp>
      <p:sp>
        <p:nvSpPr>
          <p:cNvPr id="10" name="Text 7"/>
          <p:cNvSpPr txBox="1"/>
          <p:nvPr/>
        </p:nvSpPr>
        <p:spPr>
          <a:xfrm>
            <a:off x="7543800" y="1984248"/>
            <a:ext cx="3931920" cy="640080"/>
          </a:xfrm>
          <a:prstGeom prst="rect">
            <a:avLst/>
          </a:prstGeom>
          <a:noFill/>
          <a:ln/>
        </p:spPr>
        <p:txBody>
          <a:bodyPr wrap="square" lIns="0" tIns="0" rIns="0" bIns="0" rtlCol="0" anchor="t"/>
          <a:lstStyle/>
          <a:p>
            <a:pPr marL="0" indent="0">
              <a:buNone/>
            </a:pPr>
            <a:r>
              <a:rPr lang="en-US" sz="1400" dirty="0">
                <a:solidFill>
                  <a:srgbClr val="1F2937"/>
                </a:solidFill>
                <a:latin typeface="Sarabun" pitchFamily="34" charset="0"/>
                <a:ea typeface="Sarabun" pitchFamily="34" charset="-122"/>
                <a:cs typeface="Sarabun" pitchFamily="34" charset="-120"/>
              </a:rPr>
              <a:t>ทั้ง 3 โมดูลพัฒนาจาก acceptance scenarios ชุดเดียวกัน</a:t>
            </a:r>
            <a:endParaRPr lang="en-US" sz="1400" dirty="0"/>
          </a:p>
        </p:txBody>
      </p:sp>
      <p:sp>
        <p:nvSpPr>
          <p:cNvPr id="11" name="Shape 8"/>
          <p:cNvSpPr/>
          <p:nvPr/>
        </p:nvSpPr>
        <p:spPr>
          <a:xfrm>
            <a:off x="6858000" y="2761488"/>
            <a:ext cx="457200" cy="457200"/>
          </a:xfrm>
          <a:prstGeom prst="ellipse">
            <a:avLst/>
          </a:prstGeom>
          <a:solidFill>
            <a:srgbClr val="1C5739"/>
          </a:solidFill>
          <a:ln w="12700">
            <a:solidFill>
              <a:srgbClr val="1C5739"/>
            </a:solidFill>
            <a:prstDash val="solid"/>
          </a:ln>
        </p:spPr>
        <p:txBody>
          <a:bodyPr/>
          <a:lstStyle/>
          <a:p>
            <a:endParaRPr lang="en-TH"/>
          </a:p>
        </p:txBody>
      </p:sp>
      <p:sp>
        <p:nvSpPr>
          <p:cNvPr id="12" name="Text 9"/>
          <p:cNvSpPr txBox="1"/>
          <p:nvPr/>
        </p:nvSpPr>
        <p:spPr>
          <a:xfrm>
            <a:off x="6858000" y="27614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2</a:t>
            </a:r>
            <a:endParaRPr lang="en-US" sz="1600" dirty="0"/>
          </a:p>
        </p:txBody>
      </p:sp>
      <p:sp>
        <p:nvSpPr>
          <p:cNvPr id="13" name="Text 10"/>
          <p:cNvSpPr txBox="1"/>
          <p:nvPr/>
        </p:nvSpPr>
        <p:spPr>
          <a:xfrm>
            <a:off x="7543800" y="2715768"/>
            <a:ext cx="3931920" cy="365760"/>
          </a:xfrm>
          <a:prstGeom prst="rect">
            <a:avLst/>
          </a:prstGeom>
          <a:noFill/>
          <a:ln/>
        </p:spPr>
        <p:txBody>
          <a:bodyPr wrap="square" lIns="0" tIns="0" rIns="0" bIns="0" rtlCol="0" anchor="t"/>
          <a:lstStyle/>
          <a:p>
            <a:pPr marL="0" indent="0">
              <a:buNone/>
            </a:pPr>
            <a:r>
              <a:rPr lang="en-US" sz="1700" b="1" dirty="0">
                <a:solidFill>
                  <a:srgbClr val="1C5739"/>
                </a:solidFill>
                <a:latin typeface="Sarabun" pitchFamily="34" charset="0"/>
                <a:ea typeface="Sarabun" pitchFamily="34" charset="-122"/>
                <a:cs typeface="Sarabun" pitchFamily="34" charset="-120"/>
              </a:rPr>
              <a:t>3 กลยุทธ์ × 3 โมดูล × 2 รอบ</a:t>
            </a:r>
            <a:endParaRPr lang="en-US" sz="1700" dirty="0"/>
          </a:p>
        </p:txBody>
      </p:sp>
      <p:sp>
        <p:nvSpPr>
          <p:cNvPr id="14" name="Text 11"/>
          <p:cNvSpPr txBox="1"/>
          <p:nvPr/>
        </p:nvSpPr>
        <p:spPr>
          <a:xfrm>
            <a:off x="7543800" y="3099816"/>
            <a:ext cx="3931920" cy="640080"/>
          </a:xfrm>
          <a:prstGeom prst="rect">
            <a:avLst/>
          </a:prstGeom>
          <a:noFill/>
          <a:ln/>
        </p:spPr>
        <p:txBody>
          <a:bodyPr wrap="square" lIns="0" tIns="0" rIns="0" bIns="0" rtlCol="0" anchor="t"/>
          <a:lstStyle/>
          <a:p>
            <a:pPr marL="0" indent="0">
              <a:buNone/>
            </a:pPr>
            <a:r>
              <a:rPr lang="en-US" sz="1400" dirty="0">
                <a:solidFill>
                  <a:srgbClr val="1F2937"/>
                </a:solidFill>
                <a:latin typeface="Sarabun" pitchFamily="34" charset="0"/>
                <a:ea typeface="Sarabun" pitchFamily="34" charset="-122"/>
                <a:cs typeface="Sarabun" pitchFamily="34" charset="-120"/>
              </a:rPr>
              <a:t>ได้ซอร์สโค้ด 18 เวอร์ชัน ด้วย GPT-5.2 เป็นโมเดลหลัก</a:t>
            </a:r>
            <a:endParaRPr lang="en-US" sz="1400" dirty="0"/>
          </a:p>
        </p:txBody>
      </p:sp>
      <p:sp>
        <p:nvSpPr>
          <p:cNvPr id="15" name="Shape 12"/>
          <p:cNvSpPr/>
          <p:nvPr/>
        </p:nvSpPr>
        <p:spPr>
          <a:xfrm>
            <a:off x="6858000" y="3877056"/>
            <a:ext cx="457200" cy="457200"/>
          </a:xfrm>
          <a:prstGeom prst="ellipse">
            <a:avLst/>
          </a:prstGeom>
          <a:solidFill>
            <a:srgbClr val="1C5739"/>
          </a:solidFill>
          <a:ln w="12700">
            <a:solidFill>
              <a:srgbClr val="1C5739"/>
            </a:solidFill>
            <a:prstDash val="solid"/>
          </a:ln>
        </p:spPr>
        <p:txBody>
          <a:bodyPr/>
          <a:lstStyle/>
          <a:p>
            <a:endParaRPr lang="en-TH"/>
          </a:p>
        </p:txBody>
      </p:sp>
      <p:sp>
        <p:nvSpPr>
          <p:cNvPr id="16" name="Text 13"/>
          <p:cNvSpPr txBox="1"/>
          <p:nvPr/>
        </p:nvSpPr>
        <p:spPr>
          <a:xfrm>
            <a:off x="6858000" y="387705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3</a:t>
            </a:r>
            <a:endParaRPr lang="en-US" sz="1600" dirty="0"/>
          </a:p>
        </p:txBody>
      </p:sp>
      <p:sp>
        <p:nvSpPr>
          <p:cNvPr id="17" name="Text 14"/>
          <p:cNvSpPr txBox="1"/>
          <p:nvPr/>
        </p:nvSpPr>
        <p:spPr>
          <a:xfrm>
            <a:off x="7543800" y="3831336"/>
            <a:ext cx="3931920" cy="365760"/>
          </a:xfrm>
          <a:prstGeom prst="rect">
            <a:avLst/>
          </a:prstGeom>
          <a:noFill/>
          <a:ln/>
        </p:spPr>
        <p:txBody>
          <a:bodyPr wrap="square" lIns="0" tIns="0" rIns="0" bIns="0" rtlCol="0" anchor="t"/>
          <a:lstStyle/>
          <a:p>
            <a:pPr marL="0" indent="0">
              <a:buNone/>
            </a:pPr>
            <a:r>
              <a:rPr lang="en-US" sz="1700" b="1" dirty="0">
                <a:solidFill>
                  <a:srgbClr val="1C5739"/>
                </a:solidFill>
                <a:latin typeface="Sarabun" pitchFamily="34" charset="0"/>
                <a:ea typeface="Sarabun" pitchFamily="34" charset="-122"/>
                <a:cs typeface="Sarabun" pitchFamily="34" charset="-120"/>
              </a:rPr>
              <a:t>ทดสอบและประเมิน</a:t>
            </a:r>
            <a:endParaRPr lang="en-US" sz="1700" dirty="0"/>
          </a:p>
        </p:txBody>
      </p:sp>
      <p:sp>
        <p:nvSpPr>
          <p:cNvPr id="18" name="Text 15"/>
          <p:cNvSpPr txBox="1"/>
          <p:nvPr/>
        </p:nvSpPr>
        <p:spPr>
          <a:xfrm>
            <a:off x="7543800" y="4215384"/>
            <a:ext cx="3931920" cy="640080"/>
          </a:xfrm>
          <a:prstGeom prst="rect">
            <a:avLst/>
          </a:prstGeom>
          <a:noFill/>
          <a:ln/>
        </p:spPr>
        <p:txBody>
          <a:bodyPr wrap="square" lIns="0" tIns="0" rIns="0" bIns="0" rtlCol="0" anchor="t"/>
          <a:lstStyle/>
          <a:p>
            <a:pPr marL="0" indent="0">
              <a:buNone/>
            </a:pPr>
            <a:r>
              <a:rPr lang="en-US" sz="1400" dirty="0">
                <a:solidFill>
                  <a:srgbClr val="1F2937"/>
                </a:solidFill>
                <a:latin typeface="Sarabun" pitchFamily="34" charset="0"/>
                <a:ea typeface="Sarabun" pitchFamily="34" charset="-122"/>
                <a:cs typeface="Sarabun" pitchFamily="34" charset="-120"/>
              </a:rPr>
              <a:t>ฟังก์ชัน + SonarQube + CodeQL + ZAP</a:t>
            </a:r>
            <a:endParaRPr lang="en-US" sz="1400" dirty="0"/>
          </a:p>
        </p:txBody>
      </p:sp>
      <p:sp>
        <p:nvSpPr>
          <p:cNvPr id="19" name="Shape 16"/>
          <p:cNvSpPr/>
          <p:nvPr/>
        </p:nvSpPr>
        <p:spPr>
          <a:xfrm>
            <a:off x="6858000" y="4992624"/>
            <a:ext cx="457200" cy="457200"/>
          </a:xfrm>
          <a:prstGeom prst="ellipse">
            <a:avLst/>
          </a:prstGeom>
          <a:solidFill>
            <a:srgbClr val="1C5739"/>
          </a:solidFill>
          <a:ln w="12700">
            <a:solidFill>
              <a:srgbClr val="1C5739"/>
            </a:solidFill>
            <a:prstDash val="solid"/>
          </a:ln>
        </p:spPr>
        <p:txBody>
          <a:bodyPr/>
          <a:lstStyle/>
          <a:p>
            <a:endParaRPr lang="en-TH"/>
          </a:p>
        </p:txBody>
      </p:sp>
      <p:sp>
        <p:nvSpPr>
          <p:cNvPr id="20" name="Text 17"/>
          <p:cNvSpPr txBox="1"/>
          <p:nvPr/>
        </p:nvSpPr>
        <p:spPr>
          <a:xfrm>
            <a:off x="6858000" y="499262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4</a:t>
            </a:r>
            <a:endParaRPr lang="en-US" sz="1600" dirty="0"/>
          </a:p>
        </p:txBody>
      </p:sp>
      <p:sp>
        <p:nvSpPr>
          <p:cNvPr id="21" name="Text 18"/>
          <p:cNvSpPr txBox="1"/>
          <p:nvPr/>
        </p:nvSpPr>
        <p:spPr>
          <a:xfrm>
            <a:off x="7543800" y="4946904"/>
            <a:ext cx="3931920" cy="365760"/>
          </a:xfrm>
          <a:prstGeom prst="rect">
            <a:avLst/>
          </a:prstGeom>
          <a:noFill/>
          <a:ln/>
        </p:spPr>
        <p:txBody>
          <a:bodyPr wrap="square" lIns="0" tIns="0" rIns="0" bIns="0" rtlCol="0" anchor="t"/>
          <a:lstStyle/>
          <a:p>
            <a:pPr marL="0" indent="0">
              <a:buNone/>
            </a:pPr>
            <a:r>
              <a:rPr lang="en-US" sz="1700" b="1" dirty="0">
                <a:solidFill>
                  <a:srgbClr val="1C5739"/>
                </a:solidFill>
                <a:latin typeface="Sarabun" pitchFamily="34" charset="0"/>
                <a:ea typeface="Sarabun" pitchFamily="34" charset="-122"/>
                <a:cs typeface="Sarabun" pitchFamily="34" charset="-120"/>
              </a:rPr>
              <a:t>วิเคราะห์ผลและสรุป</a:t>
            </a:r>
            <a:endParaRPr lang="en-US" sz="1700" dirty="0"/>
          </a:p>
        </p:txBody>
      </p:sp>
      <p:sp>
        <p:nvSpPr>
          <p:cNvPr id="22" name="Text 19"/>
          <p:cNvSpPr txBox="1"/>
          <p:nvPr/>
        </p:nvSpPr>
        <p:spPr>
          <a:xfrm>
            <a:off x="7543800" y="5330952"/>
            <a:ext cx="3931920" cy="640080"/>
          </a:xfrm>
          <a:prstGeom prst="rect">
            <a:avLst/>
          </a:prstGeom>
          <a:noFill/>
          <a:ln/>
        </p:spPr>
        <p:txBody>
          <a:bodyPr wrap="square" lIns="0" tIns="0" rIns="0" bIns="0" rtlCol="0" anchor="t"/>
          <a:lstStyle/>
          <a:p>
            <a:pPr marL="0" indent="0">
              <a:buNone/>
            </a:pPr>
            <a:r>
              <a:rPr lang="en-US" sz="1400" dirty="0">
                <a:solidFill>
                  <a:srgbClr val="1F2937"/>
                </a:solidFill>
                <a:latin typeface="Sarabun" pitchFamily="34" charset="0"/>
                <a:ea typeface="Sarabun" pitchFamily="34" charset="-122"/>
                <a:cs typeface="Sarabun" pitchFamily="34" charset="-120"/>
              </a:rPr>
              <a:t>เปรียบเทียบ 8 มิติคุณภาพ ความแปรปรวน และต้นทุนโทเคน</a:t>
            </a:r>
            <a:endParaRPr lang="en-US" sz="14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4  วิธีการดำเนินงาน</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การควบคุมสภาพแวดล้อมของการทดลอง</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3401568"/>
        </p:xfrm>
        <a:graphic>
          <a:graphicData uri="http://schemas.openxmlformats.org/drawingml/2006/table">
            <a:tbl>
              <a:tblPr/>
              <a:tblGrid>
                <a:gridCol w="2560320">
                  <a:extLst>
                    <a:ext uri="{9D8B030D-6E8A-4147-A177-3AD203B41FA5}">
                      <a16:colId xmlns:a16="http://schemas.microsoft.com/office/drawing/2014/main" val="20000"/>
                    </a:ext>
                  </a:extLst>
                </a:gridCol>
                <a:gridCol w="8534095">
                  <a:extLst>
                    <a:ext uri="{9D8B030D-6E8A-4147-A177-3AD203B41FA5}">
                      <a16:colId xmlns:a16="http://schemas.microsoft.com/office/drawing/2014/main" val="20001"/>
                    </a:ext>
                  </a:extLst>
                </a:gridCol>
              </a:tblGrid>
              <a:tr h="566928">
                <a:tc>
                  <a:txBody>
                    <a:bodyPr/>
                    <a:lstStyle/>
                    <a:p>
                      <a:pPr marL="0" indent="0" algn="ctr">
                        <a:buNone/>
                      </a:pPr>
                      <a:r>
                        <a:rPr lang="en-US" sz="1500" b="1" dirty="0">
                          <a:solidFill>
                            <a:srgbClr val="FFFFFF"/>
                          </a:solidFill>
                          <a:latin typeface="Sarabun" pitchFamily="34" charset="0"/>
                          <a:ea typeface="Sarabun" pitchFamily="34" charset="-122"/>
                          <a:cs typeface="Sarabun" pitchFamily="34" charset="-120"/>
                        </a:rPr>
                        <a:t>ประเภท</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tc>
                  <a:txBody>
                    <a:bodyPr/>
                    <a:lstStyle/>
                    <a:p>
                      <a:pPr marL="0" indent="0" algn="l">
                        <a:buNone/>
                      </a:pPr>
                      <a:r>
                        <a:rPr lang="en-US" sz="1500" b="1" dirty="0">
                          <a:solidFill>
                            <a:srgbClr val="FFFFFF"/>
                          </a:solidFill>
                          <a:latin typeface="Sarabun" pitchFamily="34" charset="0"/>
                          <a:ea typeface="Sarabun" pitchFamily="34" charset="-122"/>
                          <a:cs typeface="Sarabun" pitchFamily="34" charset="-120"/>
                        </a:rPr>
                        <a:t>รายละเอียด</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1F2937"/>
                          </a:solidFill>
                          <a:latin typeface="Sarabun" pitchFamily="34" charset="0"/>
                          <a:ea typeface="Sarabun" pitchFamily="34" charset="-122"/>
                          <a:cs typeface="Sarabun" pitchFamily="34" charset="-120"/>
                        </a:rPr>
                        <a:t>AI Models</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buNone/>
                      </a:pPr>
                      <a:r>
                        <a:rPr lang="en-US" sz="1500" dirty="0">
                          <a:solidFill>
                            <a:srgbClr val="1F2937"/>
                          </a:solidFill>
                          <a:latin typeface="Sarabun" pitchFamily="34" charset="0"/>
                          <a:ea typeface="Sarabun" pitchFamily="34" charset="-122"/>
                          <a:cs typeface="Sarabun" pitchFamily="34" charset="-120"/>
                        </a:rPr>
                        <a:t>ChatGPT (GPT-5.2), Codex CLI (GPT-5.2), GitHub Copilot (Claude Opus 4.5), Claude.ai (Sonnet 4.6)</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1F2937"/>
                          </a:solidFill>
                          <a:latin typeface="Sarabun" pitchFamily="34" charset="0"/>
                          <a:ea typeface="Sarabun" pitchFamily="34" charset="-122"/>
                          <a:cs typeface="Sarabun" pitchFamily="34" charset="-120"/>
                        </a:rPr>
                        <a:t>Framework</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buNone/>
                      </a:pPr>
                      <a:r>
                        <a:rPr lang="en-US" sz="1500" dirty="0">
                          <a:solidFill>
                            <a:srgbClr val="1F2937"/>
                          </a:solidFill>
                          <a:latin typeface="Sarabun" pitchFamily="34" charset="0"/>
                          <a:ea typeface="Sarabun" pitchFamily="34" charset="-122"/>
                          <a:cs typeface="Sarabun" pitchFamily="34" charset="-120"/>
                        </a:rPr>
                        <a:t>GitHub Spec-Kit (spec-kit.git@v0.8.13)</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500" b="1" dirty="0">
                          <a:solidFill>
                            <a:srgbClr val="1F2937"/>
                          </a:solidFill>
                          <a:latin typeface="Sarabun" pitchFamily="34" charset="0"/>
                          <a:ea typeface="Sarabun" pitchFamily="34" charset="-122"/>
                          <a:cs typeface="Sarabun" pitchFamily="34" charset="-120"/>
                        </a:rPr>
                        <a:t>Quality Tools</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buNone/>
                      </a:pPr>
                      <a:r>
                        <a:rPr lang="en-US" sz="1500" dirty="0">
                          <a:solidFill>
                            <a:srgbClr val="1F2937"/>
                          </a:solidFill>
                          <a:latin typeface="Sarabun" pitchFamily="34" charset="0"/>
                          <a:ea typeface="Sarabun" pitchFamily="34" charset="-122"/>
                          <a:cs typeface="Sarabun" pitchFamily="34" charset="-120"/>
                        </a:rPr>
                        <a:t>Jest, Vitest, node:test, SonarQube, CodeQL (SAST), ZAP (DAST)</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500" b="1" dirty="0">
                          <a:solidFill>
                            <a:srgbClr val="1F2937"/>
                          </a:solidFill>
                          <a:latin typeface="Sarabun" pitchFamily="34" charset="0"/>
                          <a:ea typeface="Sarabun" pitchFamily="34" charset="-122"/>
                          <a:cs typeface="Sarabun" pitchFamily="34" charset="-120"/>
                        </a:rPr>
                        <a:t>Development Tools</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buNone/>
                      </a:pPr>
                      <a:r>
                        <a:rPr lang="en-US" sz="1500" dirty="0">
                          <a:solidFill>
                            <a:srgbClr val="1F2937"/>
                          </a:solidFill>
                          <a:latin typeface="Sarabun" pitchFamily="34" charset="0"/>
                          <a:ea typeface="Sarabun" pitchFamily="34" charset="-122"/>
                          <a:cs typeface="Sarabun" pitchFamily="34" charset="-120"/>
                        </a:rPr>
                        <a:t>Visual Studio Code, Docker Compose, GitHub Actions</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500" b="1" dirty="0">
                          <a:solidFill>
                            <a:srgbClr val="1F2937"/>
                          </a:solidFill>
                          <a:latin typeface="Sarabun" pitchFamily="34" charset="0"/>
                          <a:ea typeface="Sarabun" pitchFamily="34" charset="-122"/>
                          <a:cs typeface="Sarabun" pitchFamily="34" charset="-120"/>
                        </a:rPr>
                        <a:t>Tech Stack</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buNone/>
                      </a:pPr>
                      <a:r>
                        <a:rPr lang="en-US" sz="1500" dirty="0">
                          <a:solidFill>
                            <a:srgbClr val="1F2937"/>
                          </a:solidFill>
                          <a:latin typeface="Sarabun" pitchFamily="34" charset="0"/>
                          <a:ea typeface="Sarabun" pitchFamily="34" charset="-122"/>
                          <a:cs typeface="Sarabun" pitchFamily="34" charset="-120"/>
                        </a:rPr>
                        <a:t>Node.js (Back-end), React (Front-end), PostgreSQL, tiktoken</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card"/>
          <p:cNvSpPr/>
          <p:nvPr/>
        </p:nvSpPr>
        <p:spPr>
          <a:xfrm>
            <a:off x="548640" y="5257800"/>
            <a:ext cx="11094415" cy="960120"/>
          </a:xfrm>
          <a:prstGeom prst="roundRect">
            <a:avLst>
              <a:gd name="adj" fmla="val 11429"/>
            </a:avLst>
          </a:prstGeom>
          <a:solidFill>
            <a:srgbClr val="E8F1FD"/>
          </a:solidFill>
          <a:ln w="12700">
            <a:solidFill>
              <a:srgbClr val="E8F1FD"/>
            </a:solidFill>
            <a:prstDash val="solid"/>
          </a:ln>
        </p:spPr>
        <p:txBody>
          <a:bodyPr/>
          <a:lstStyle/>
          <a:p>
            <a:endParaRPr lang="en-TH"/>
          </a:p>
        </p:txBody>
      </p:sp>
      <p:sp>
        <p:nvSpPr>
          <p:cNvPr id="6" name="Text 3"/>
          <p:cNvSpPr txBox="1"/>
          <p:nvPr/>
        </p:nvSpPr>
        <p:spPr>
          <a:xfrm>
            <a:off x="868680" y="5257800"/>
            <a:ext cx="10454335" cy="960120"/>
          </a:xfrm>
          <a:prstGeom prst="rect">
            <a:avLst/>
          </a:prstGeom>
          <a:noFill/>
          <a:ln/>
        </p:spPr>
        <p:txBody>
          <a:bodyPr wrap="square" lIns="0" tIns="0" rIns="0" bIns="0" rtlCol="0" anchor="ctr"/>
          <a:lstStyle/>
          <a:p>
            <a:pPr marL="0" indent="0">
              <a:buNone/>
            </a:pPr>
            <a:r>
              <a:rPr lang="en-US" sz="1500" dirty="0">
                <a:solidFill>
                  <a:srgbClr val="1C5739"/>
                </a:solidFill>
                <a:latin typeface="Sarabun" pitchFamily="34" charset="0"/>
                <a:ea typeface="Sarabun" pitchFamily="34" charset="-122"/>
                <a:cs typeface="Sarabun" pitchFamily="34" charset="-120"/>
              </a:rPr>
              <a:t>ชุดทดสอบเขียนโดยโมเดลคนละค่ายกับ GPT-5.2 (Claude Opus 4.5 และ Sonnet 4.6) เพื่อลดอคติจากการใช้โมเดลเดียวกัน</a:t>
            </a:r>
            <a:endParaRPr lang="en-US" sz="15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4  วิธีการดำเนินงาน</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ซอร์สโค้ด 18 เวอร์ชัน</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3350000"/>
        </p:xfrm>
        <a:graphic>
          <a:graphicData uri="http://schemas.openxmlformats.org/drawingml/2006/table">
            <a:tbl>
              <a:tblPr/>
              <a:tblGrid>
                <a:gridCol w="29260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681935">
                  <a:extLst>
                    <a:ext uri="{9D8B030D-6E8A-4147-A177-3AD203B41FA5}">
                      <a16:colId xmlns:a16="http://schemas.microsoft.com/office/drawing/2014/main" val="20003"/>
                    </a:ext>
                  </a:extLst>
                </a:gridCol>
              </a:tblGrid>
              <a:tr h="335000">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กลยุทธ์</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เวอร์ชัน</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โมดูล</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เครื่องมือ</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extLst>
                  <a:ext uri="{0D108BD9-81ED-4DB2-BD59-A6C34878D82A}">
                    <a16:rowId xmlns:a16="http://schemas.microsoft.com/office/drawing/2014/main" val="10000"/>
                  </a:ext>
                </a:extLst>
              </a:tr>
              <a:tr h="335000">
                <a:tc rowSpan="3">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Basic Prompting (BP)</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4572E"/>
                    </a:solidFill>
                  </a:tcPr>
                </a:tc>
                <a:tc>
                  <a:txBody>
                    <a:bodyPr/>
                    <a:lstStyle/>
                    <a:p>
                      <a:pPr marL="0" indent="0" algn="ctr">
                        <a:buNone/>
                      </a:pPr>
                      <a:r>
                        <a:rPr lang="en-US" sz="1400" b="1" dirty="0">
                          <a:solidFill>
                            <a:srgbClr val="1C5739"/>
                          </a:solidFill>
                          <a:latin typeface="Sarabun" pitchFamily="34" charset="0"/>
                          <a:ea typeface="Sarabun" pitchFamily="34" charset="-122"/>
                          <a:cs typeface="Sarabun" pitchFamily="34" charset="-120"/>
                        </a:rPr>
                        <a:t>IM</a:t>
                      </a:r>
                      <a:r>
                        <a:rPr lang="en-US" sz="1400" b="1" dirty="0">
                          <a:solidFill>
                            <a:srgbClr val="F860C0"/>
                          </a:solidFill>
                          <a:latin typeface="Sarabun" pitchFamily="34" charset="0"/>
                          <a:ea typeface="Sarabun" pitchFamily="34" charset="-122"/>
                          <a:cs typeface="Sarabun" pitchFamily="34" charset="-120"/>
                        </a:rPr>
                        <a:t>BP</a:t>
                      </a:r>
                      <a:r>
                        <a:rPr lang="en-US" sz="1400" b="1" dirty="0">
                          <a:solidFill>
                            <a:srgbClr val="F87018"/>
                          </a:solidFill>
                          <a:latin typeface="Sarabun" pitchFamily="34" charset="0"/>
                          <a:ea typeface="Sarabun" pitchFamily="34" charset="-122"/>
                          <a:cs typeface="Sarabun" pitchFamily="34" charset="-120"/>
                        </a:rPr>
                        <a:t>01</a:t>
                      </a:r>
                      <a:r>
                        <a:rPr lang="en-US" sz="1400" b="1" dirty="0">
                          <a:solidFill>
                            <a:srgbClr val="1F2937"/>
                          </a:solidFill>
                          <a:latin typeface="Sarabun" pitchFamily="34" charset="0"/>
                          <a:ea typeface="Sarabun" pitchFamily="34" charset="-122"/>
                          <a:cs typeface="Sarabun" pitchFamily="34" charset="-120"/>
                        </a:rPr>
                        <a:t> / </a:t>
                      </a:r>
                      <a:r>
                        <a:rPr lang="en-US" sz="1400" b="1" dirty="0">
                          <a:solidFill>
                            <a:srgbClr val="1C5739"/>
                          </a:solidFill>
                          <a:latin typeface="Sarabun" pitchFamily="34" charset="0"/>
                          <a:ea typeface="Sarabun" pitchFamily="34" charset="-122"/>
                          <a:cs typeface="Sarabun" pitchFamily="34" charset="-120"/>
                        </a:rPr>
                        <a:t>IM</a:t>
                      </a:r>
                      <a:r>
                        <a:rPr lang="en-US" sz="1400" b="1" dirty="0">
                          <a:solidFill>
                            <a:srgbClr val="F860C0"/>
                          </a:solidFill>
                          <a:latin typeface="Sarabun" pitchFamily="34" charset="0"/>
                          <a:ea typeface="Sarabun" pitchFamily="34" charset="-122"/>
                          <a:cs typeface="Sarabun" pitchFamily="34" charset="-120"/>
                        </a:rPr>
                        <a:t>BP</a:t>
                      </a:r>
                      <a:r>
                        <a:rPr lang="en-US" sz="1400" b="1" dirty="0">
                          <a:solidFill>
                            <a:srgbClr val="F87018"/>
                          </a:solidFill>
                          <a:latin typeface="Sarabun" pitchFamily="34" charset="0"/>
                          <a:ea typeface="Sarabun" pitchFamily="34" charset="-122"/>
                          <a:cs typeface="Sarabun" pitchFamily="34" charset="-120"/>
                        </a:rPr>
                        <a:t>02</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Inventory Management (IM)</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tc rowSpan="3">
                  <a:txBody>
                    <a:bodyPr/>
                    <a:lstStyle/>
                    <a:p>
                      <a:pPr marL="0" indent="0" algn="ctr">
                        <a:buNone/>
                      </a:pPr>
                      <a:r>
                        <a:rPr lang="en-US" sz="1400" dirty="0">
                          <a:solidFill>
                            <a:srgbClr val="1F2937"/>
                          </a:solidFill>
                          <a:latin typeface="Sarabun" pitchFamily="34" charset="0"/>
                          <a:ea typeface="Sarabun" pitchFamily="34" charset="-122"/>
                          <a:cs typeface="Sarabun" pitchFamily="34" charset="-120"/>
                        </a:rPr>
                        <a:t>ChatGPT Browser (GPT-5.2)</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extLst>
                  <a:ext uri="{0D108BD9-81ED-4DB2-BD59-A6C34878D82A}">
                    <a16:rowId xmlns:a16="http://schemas.microsoft.com/office/drawing/2014/main" val="10001"/>
                  </a:ext>
                </a:extLst>
              </a:tr>
              <a:tr h="335000">
                <a:tc vMerge="1">
                  <a:txBody>
                    <a:bodyPr/>
                    <a:lstStyle/>
                    <a:p>
                      <a:endParaRPr lang="en-TH"/>
                    </a:p>
                  </a:txBody>
                  <a:tcPr/>
                </a:tc>
                <a:tc>
                  <a:txBody>
                    <a:bodyPr/>
                    <a:lstStyle/>
                    <a:p>
                      <a:pPr marL="0" indent="0" algn="ctr">
                        <a:buNone/>
                      </a:pPr>
                      <a:r>
                        <a:rPr lang="en-US" sz="1400" b="1" dirty="0">
                          <a:solidFill>
                            <a:srgbClr val="1C5739"/>
                          </a:solidFill>
                          <a:latin typeface="Sarabun" pitchFamily="34" charset="0"/>
                          <a:ea typeface="Sarabun" pitchFamily="34" charset="-122"/>
                          <a:cs typeface="Sarabun" pitchFamily="34" charset="-120"/>
                        </a:rPr>
                        <a:t>SC</a:t>
                      </a:r>
                      <a:r>
                        <a:rPr lang="en-US" sz="1400" b="1" dirty="0">
                          <a:solidFill>
                            <a:srgbClr val="F860C0"/>
                          </a:solidFill>
                          <a:latin typeface="Sarabun" pitchFamily="34" charset="0"/>
                          <a:ea typeface="Sarabun" pitchFamily="34" charset="-122"/>
                          <a:cs typeface="Sarabun" pitchFamily="34" charset="-120"/>
                        </a:rPr>
                        <a:t>BP</a:t>
                      </a:r>
                      <a:r>
                        <a:rPr lang="en-US" sz="1400" b="1" dirty="0">
                          <a:solidFill>
                            <a:srgbClr val="F87018"/>
                          </a:solidFill>
                          <a:latin typeface="Sarabun" pitchFamily="34" charset="0"/>
                          <a:ea typeface="Sarabun" pitchFamily="34" charset="-122"/>
                          <a:cs typeface="Sarabun" pitchFamily="34" charset="-120"/>
                        </a:rPr>
                        <a:t>01</a:t>
                      </a:r>
                      <a:r>
                        <a:rPr lang="en-US" sz="1400" b="1" dirty="0">
                          <a:solidFill>
                            <a:srgbClr val="1F2937"/>
                          </a:solidFill>
                          <a:latin typeface="Sarabun" pitchFamily="34" charset="0"/>
                          <a:ea typeface="Sarabun" pitchFamily="34" charset="-122"/>
                          <a:cs typeface="Sarabun" pitchFamily="34" charset="-120"/>
                        </a:rPr>
                        <a:t> / </a:t>
                      </a:r>
                      <a:r>
                        <a:rPr lang="en-US" sz="1400" b="1" dirty="0">
                          <a:solidFill>
                            <a:srgbClr val="1C5739"/>
                          </a:solidFill>
                          <a:latin typeface="Sarabun" pitchFamily="34" charset="0"/>
                          <a:ea typeface="Sarabun" pitchFamily="34" charset="-122"/>
                          <a:cs typeface="Sarabun" pitchFamily="34" charset="-120"/>
                        </a:rPr>
                        <a:t>SC</a:t>
                      </a:r>
                      <a:r>
                        <a:rPr lang="en-US" sz="1400" b="1" dirty="0">
                          <a:solidFill>
                            <a:srgbClr val="F860C0"/>
                          </a:solidFill>
                          <a:latin typeface="Sarabun" pitchFamily="34" charset="0"/>
                          <a:ea typeface="Sarabun" pitchFamily="34" charset="-122"/>
                          <a:cs typeface="Sarabun" pitchFamily="34" charset="-120"/>
                        </a:rPr>
                        <a:t>BP</a:t>
                      </a:r>
                      <a:r>
                        <a:rPr lang="en-US" sz="1400" b="1" dirty="0">
                          <a:solidFill>
                            <a:srgbClr val="F87018"/>
                          </a:solidFill>
                          <a:latin typeface="Sarabun" pitchFamily="34" charset="0"/>
                          <a:ea typeface="Sarabun" pitchFamily="34" charset="-122"/>
                          <a:cs typeface="Sarabun" pitchFamily="34" charset="-120"/>
                        </a:rPr>
                        <a:t>02</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Shopping Cart (SC)</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tc vMerge="1">
                  <a:txBody>
                    <a:bodyPr/>
                    <a:lstStyle/>
                    <a:p>
                      <a:endParaRPr lang="en-TH"/>
                    </a:p>
                  </a:txBody>
                  <a:tcPr/>
                </a:tc>
                <a:extLst>
                  <a:ext uri="{0D108BD9-81ED-4DB2-BD59-A6C34878D82A}">
                    <a16:rowId xmlns:a16="http://schemas.microsoft.com/office/drawing/2014/main" val="10002"/>
                  </a:ext>
                </a:extLst>
              </a:tr>
              <a:tr h="335000">
                <a:tc vMerge="1">
                  <a:txBody>
                    <a:bodyPr/>
                    <a:lstStyle/>
                    <a:p>
                      <a:endParaRPr lang="en-TH"/>
                    </a:p>
                  </a:txBody>
                  <a:tcPr/>
                </a:tc>
                <a:tc>
                  <a:txBody>
                    <a:bodyPr/>
                    <a:lstStyle/>
                    <a:p>
                      <a:pPr marL="0" indent="0" algn="ctr">
                        <a:buNone/>
                      </a:pPr>
                      <a:r>
                        <a:rPr lang="en-US" sz="1400" b="1" dirty="0">
                          <a:solidFill>
                            <a:srgbClr val="1C5739"/>
                          </a:solidFill>
                          <a:latin typeface="Sarabun" pitchFamily="34" charset="0"/>
                          <a:ea typeface="Sarabun" pitchFamily="34" charset="-122"/>
                          <a:cs typeface="Sarabun" pitchFamily="34" charset="-120"/>
                        </a:rPr>
                        <a:t>PD</a:t>
                      </a:r>
                      <a:r>
                        <a:rPr lang="en-US" sz="1400" b="1" dirty="0">
                          <a:solidFill>
                            <a:srgbClr val="F860C0"/>
                          </a:solidFill>
                          <a:latin typeface="Sarabun" pitchFamily="34" charset="0"/>
                          <a:ea typeface="Sarabun" pitchFamily="34" charset="-122"/>
                          <a:cs typeface="Sarabun" pitchFamily="34" charset="-120"/>
                        </a:rPr>
                        <a:t>BP</a:t>
                      </a:r>
                      <a:r>
                        <a:rPr lang="en-US" sz="1400" b="1" dirty="0">
                          <a:solidFill>
                            <a:srgbClr val="F87018"/>
                          </a:solidFill>
                          <a:latin typeface="Sarabun" pitchFamily="34" charset="0"/>
                          <a:ea typeface="Sarabun" pitchFamily="34" charset="-122"/>
                          <a:cs typeface="Sarabun" pitchFamily="34" charset="-120"/>
                        </a:rPr>
                        <a:t>01</a:t>
                      </a:r>
                      <a:r>
                        <a:rPr lang="en-US" sz="1400" b="1" dirty="0">
                          <a:solidFill>
                            <a:srgbClr val="1F2937"/>
                          </a:solidFill>
                          <a:latin typeface="Sarabun" pitchFamily="34" charset="0"/>
                          <a:ea typeface="Sarabun" pitchFamily="34" charset="-122"/>
                          <a:cs typeface="Sarabun" pitchFamily="34" charset="-120"/>
                        </a:rPr>
                        <a:t> / </a:t>
                      </a:r>
                      <a:r>
                        <a:rPr lang="en-US" sz="1400" b="1" dirty="0">
                          <a:solidFill>
                            <a:srgbClr val="1C5739"/>
                          </a:solidFill>
                          <a:latin typeface="Sarabun" pitchFamily="34" charset="0"/>
                          <a:ea typeface="Sarabun" pitchFamily="34" charset="-122"/>
                          <a:cs typeface="Sarabun" pitchFamily="34" charset="-120"/>
                        </a:rPr>
                        <a:t>PD</a:t>
                      </a:r>
                      <a:r>
                        <a:rPr lang="en-US" sz="1400" b="1" dirty="0">
                          <a:solidFill>
                            <a:srgbClr val="F860C0"/>
                          </a:solidFill>
                          <a:latin typeface="Sarabun" pitchFamily="34" charset="0"/>
                          <a:ea typeface="Sarabun" pitchFamily="34" charset="-122"/>
                          <a:cs typeface="Sarabun" pitchFamily="34" charset="-120"/>
                        </a:rPr>
                        <a:t>BP</a:t>
                      </a:r>
                      <a:r>
                        <a:rPr lang="en-US" sz="1400" b="1" dirty="0">
                          <a:solidFill>
                            <a:srgbClr val="F87018"/>
                          </a:solidFill>
                          <a:latin typeface="Sarabun" pitchFamily="34" charset="0"/>
                          <a:ea typeface="Sarabun" pitchFamily="34" charset="-122"/>
                          <a:cs typeface="Sarabun" pitchFamily="34" charset="-120"/>
                        </a:rPr>
                        <a:t>02</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Promotions &amp; Discounts (PD)</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tc vMerge="1">
                  <a:txBody>
                    <a:bodyPr/>
                    <a:lstStyle/>
                    <a:p>
                      <a:endParaRPr lang="en-TH"/>
                    </a:p>
                  </a:txBody>
                  <a:tcPr/>
                </a:tc>
                <a:extLst>
                  <a:ext uri="{0D108BD9-81ED-4DB2-BD59-A6C34878D82A}">
                    <a16:rowId xmlns:a16="http://schemas.microsoft.com/office/drawing/2014/main" val="10003"/>
                  </a:ext>
                </a:extLst>
              </a:tr>
              <a:tr h="335000">
                <a:tc rowSpan="3">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Context Engineering (CE)</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2F80ED"/>
                    </a:solidFill>
                  </a:tcPr>
                </a:tc>
                <a:tc>
                  <a:txBody>
                    <a:bodyPr/>
                    <a:lstStyle/>
                    <a:p>
                      <a:pPr marL="0" indent="0" algn="ctr">
                        <a:buNone/>
                      </a:pPr>
                      <a:r>
                        <a:rPr lang="en-US" sz="1400" b="1" dirty="0">
                          <a:solidFill>
                            <a:srgbClr val="1C5739"/>
                          </a:solidFill>
                          <a:latin typeface="Sarabun" pitchFamily="34" charset="0"/>
                          <a:ea typeface="Sarabun" pitchFamily="34" charset="-122"/>
                          <a:cs typeface="Sarabun" pitchFamily="34" charset="-120"/>
                        </a:rPr>
                        <a:t>IM</a:t>
                      </a:r>
                      <a:r>
                        <a:rPr lang="en-US" sz="1400" b="1" dirty="0">
                          <a:solidFill>
                            <a:srgbClr val="F860C0"/>
                          </a:solidFill>
                          <a:latin typeface="Sarabun" pitchFamily="34" charset="0"/>
                          <a:ea typeface="Sarabun" pitchFamily="34" charset="-122"/>
                          <a:cs typeface="Sarabun" pitchFamily="34" charset="-120"/>
                        </a:rPr>
                        <a:t>CE</a:t>
                      </a:r>
                      <a:r>
                        <a:rPr lang="en-US" sz="1400" b="1" dirty="0">
                          <a:solidFill>
                            <a:srgbClr val="F87018"/>
                          </a:solidFill>
                          <a:latin typeface="Sarabun" pitchFamily="34" charset="0"/>
                          <a:ea typeface="Sarabun" pitchFamily="34" charset="-122"/>
                          <a:cs typeface="Sarabun" pitchFamily="34" charset="-120"/>
                        </a:rPr>
                        <a:t>01</a:t>
                      </a:r>
                      <a:r>
                        <a:rPr lang="en-US" sz="1400" b="1" dirty="0">
                          <a:solidFill>
                            <a:srgbClr val="1F2937"/>
                          </a:solidFill>
                          <a:latin typeface="Sarabun" pitchFamily="34" charset="0"/>
                          <a:ea typeface="Sarabun" pitchFamily="34" charset="-122"/>
                          <a:cs typeface="Sarabun" pitchFamily="34" charset="-120"/>
                        </a:rPr>
                        <a:t> / </a:t>
                      </a:r>
                      <a:r>
                        <a:rPr lang="en-US" sz="1400" b="1" dirty="0">
                          <a:solidFill>
                            <a:srgbClr val="1C5739"/>
                          </a:solidFill>
                          <a:latin typeface="Sarabun" pitchFamily="34" charset="0"/>
                          <a:ea typeface="Sarabun" pitchFamily="34" charset="-122"/>
                          <a:cs typeface="Sarabun" pitchFamily="34" charset="-120"/>
                        </a:rPr>
                        <a:t>IM</a:t>
                      </a:r>
                      <a:r>
                        <a:rPr lang="en-US" sz="1400" b="1" dirty="0">
                          <a:solidFill>
                            <a:srgbClr val="F860C0"/>
                          </a:solidFill>
                          <a:latin typeface="Sarabun" pitchFamily="34" charset="0"/>
                          <a:ea typeface="Sarabun" pitchFamily="34" charset="-122"/>
                          <a:cs typeface="Sarabun" pitchFamily="34" charset="-120"/>
                        </a:rPr>
                        <a:t>CE</a:t>
                      </a:r>
                      <a:r>
                        <a:rPr lang="en-US" sz="1400" b="1" dirty="0">
                          <a:solidFill>
                            <a:srgbClr val="F87018"/>
                          </a:solidFill>
                          <a:latin typeface="Sarabun" pitchFamily="34" charset="0"/>
                          <a:ea typeface="Sarabun" pitchFamily="34" charset="-122"/>
                          <a:cs typeface="Sarabun" pitchFamily="34" charset="-120"/>
                        </a:rPr>
                        <a:t>02</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Inventory Management (IM)</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rowSpan="3">
                  <a:txBody>
                    <a:bodyPr/>
                    <a:lstStyle/>
                    <a:p>
                      <a:pPr marL="0" indent="0" algn="ctr">
                        <a:buNone/>
                      </a:pPr>
                      <a:r>
                        <a:rPr lang="en-US" sz="1400" dirty="0">
                          <a:solidFill>
                            <a:srgbClr val="1F2937"/>
                          </a:solidFill>
                          <a:latin typeface="Sarabun" pitchFamily="34" charset="0"/>
                          <a:ea typeface="Sarabun" pitchFamily="34" charset="-122"/>
                          <a:cs typeface="Sarabun" pitchFamily="34" charset="-120"/>
                        </a:rPr>
                        <a:t>ChatGPT Browser (GPT-5.2)</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extLst>
                  <a:ext uri="{0D108BD9-81ED-4DB2-BD59-A6C34878D82A}">
                    <a16:rowId xmlns:a16="http://schemas.microsoft.com/office/drawing/2014/main" val="10004"/>
                  </a:ext>
                </a:extLst>
              </a:tr>
              <a:tr h="335000">
                <a:tc vMerge="1">
                  <a:txBody>
                    <a:bodyPr/>
                    <a:lstStyle/>
                    <a:p>
                      <a:endParaRPr lang="en-TH"/>
                    </a:p>
                  </a:txBody>
                  <a:tcPr/>
                </a:tc>
                <a:tc>
                  <a:txBody>
                    <a:bodyPr/>
                    <a:lstStyle/>
                    <a:p>
                      <a:pPr marL="0" indent="0" algn="ctr">
                        <a:buNone/>
                      </a:pPr>
                      <a:r>
                        <a:rPr lang="en-US" sz="1400" b="1" dirty="0">
                          <a:solidFill>
                            <a:srgbClr val="1C5739"/>
                          </a:solidFill>
                          <a:latin typeface="Sarabun" pitchFamily="34" charset="0"/>
                          <a:ea typeface="Sarabun" pitchFamily="34" charset="-122"/>
                          <a:cs typeface="Sarabun" pitchFamily="34" charset="-120"/>
                        </a:rPr>
                        <a:t>SC</a:t>
                      </a:r>
                      <a:r>
                        <a:rPr lang="en-US" sz="1400" b="1" dirty="0">
                          <a:solidFill>
                            <a:srgbClr val="F860C0"/>
                          </a:solidFill>
                          <a:latin typeface="Sarabun" pitchFamily="34" charset="0"/>
                          <a:ea typeface="Sarabun" pitchFamily="34" charset="-122"/>
                          <a:cs typeface="Sarabun" pitchFamily="34" charset="-120"/>
                        </a:rPr>
                        <a:t>CE</a:t>
                      </a:r>
                      <a:r>
                        <a:rPr lang="en-US" sz="1400" b="1" dirty="0">
                          <a:solidFill>
                            <a:srgbClr val="F87018"/>
                          </a:solidFill>
                          <a:latin typeface="Sarabun" pitchFamily="34" charset="0"/>
                          <a:ea typeface="Sarabun" pitchFamily="34" charset="-122"/>
                          <a:cs typeface="Sarabun" pitchFamily="34" charset="-120"/>
                        </a:rPr>
                        <a:t>01</a:t>
                      </a:r>
                      <a:r>
                        <a:rPr lang="en-US" sz="1400" b="1" dirty="0">
                          <a:solidFill>
                            <a:srgbClr val="1F2937"/>
                          </a:solidFill>
                          <a:latin typeface="Sarabun" pitchFamily="34" charset="0"/>
                          <a:ea typeface="Sarabun" pitchFamily="34" charset="-122"/>
                          <a:cs typeface="Sarabun" pitchFamily="34" charset="-120"/>
                        </a:rPr>
                        <a:t> / </a:t>
                      </a:r>
                      <a:r>
                        <a:rPr lang="en-US" sz="1400" b="1" dirty="0">
                          <a:solidFill>
                            <a:srgbClr val="1C5739"/>
                          </a:solidFill>
                          <a:latin typeface="Sarabun" pitchFamily="34" charset="0"/>
                          <a:ea typeface="Sarabun" pitchFamily="34" charset="-122"/>
                          <a:cs typeface="Sarabun" pitchFamily="34" charset="-120"/>
                        </a:rPr>
                        <a:t>SC</a:t>
                      </a:r>
                      <a:r>
                        <a:rPr lang="en-US" sz="1400" b="1" dirty="0">
                          <a:solidFill>
                            <a:srgbClr val="F860C0"/>
                          </a:solidFill>
                          <a:latin typeface="Sarabun" pitchFamily="34" charset="0"/>
                          <a:ea typeface="Sarabun" pitchFamily="34" charset="-122"/>
                          <a:cs typeface="Sarabun" pitchFamily="34" charset="-120"/>
                        </a:rPr>
                        <a:t>CE</a:t>
                      </a:r>
                      <a:r>
                        <a:rPr lang="en-US" sz="1400" b="1" dirty="0">
                          <a:solidFill>
                            <a:srgbClr val="F87018"/>
                          </a:solidFill>
                          <a:latin typeface="Sarabun" pitchFamily="34" charset="0"/>
                          <a:ea typeface="Sarabun" pitchFamily="34" charset="-122"/>
                          <a:cs typeface="Sarabun" pitchFamily="34" charset="-120"/>
                        </a:rPr>
                        <a:t>02</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Shopping Cart (SC)</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vMerge="1">
                  <a:txBody>
                    <a:bodyPr/>
                    <a:lstStyle/>
                    <a:p>
                      <a:endParaRPr lang="en-TH"/>
                    </a:p>
                  </a:txBody>
                  <a:tcPr/>
                </a:tc>
                <a:extLst>
                  <a:ext uri="{0D108BD9-81ED-4DB2-BD59-A6C34878D82A}">
                    <a16:rowId xmlns:a16="http://schemas.microsoft.com/office/drawing/2014/main" val="10005"/>
                  </a:ext>
                </a:extLst>
              </a:tr>
              <a:tr h="335000">
                <a:tc vMerge="1">
                  <a:txBody>
                    <a:bodyPr/>
                    <a:lstStyle/>
                    <a:p>
                      <a:endParaRPr lang="en-TH"/>
                    </a:p>
                  </a:txBody>
                  <a:tcPr/>
                </a:tc>
                <a:tc>
                  <a:txBody>
                    <a:bodyPr/>
                    <a:lstStyle/>
                    <a:p>
                      <a:pPr marL="0" indent="0" algn="ctr">
                        <a:buNone/>
                      </a:pPr>
                      <a:r>
                        <a:rPr lang="en-US" sz="1400" b="1" dirty="0">
                          <a:solidFill>
                            <a:srgbClr val="1C5739"/>
                          </a:solidFill>
                          <a:latin typeface="Sarabun" pitchFamily="34" charset="0"/>
                          <a:ea typeface="Sarabun" pitchFamily="34" charset="-122"/>
                          <a:cs typeface="Sarabun" pitchFamily="34" charset="-120"/>
                        </a:rPr>
                        <a:t>PD</a:t>
                      </a:r>
                      <a:r>
                        <a:rPr lang="en-US" sz="1400" b="1" dirty="0">
                          <a:solidFill>
                            <a:srgbClr val="F860C0"/>
                          </a:solidFill>
                          <a:latin typeface="Sarabun" pitchFamily="34" charset="0"/>
                          <a:ea typeface="Sarabun" pitchFamily="34" charset="-122"/>
                          <a:cs typeface="Sarabun" pitchFamily="34" charset="-120"/>
                        </a:rPr>
                        <a:t>CE</a:t>
                      </a:r>
                      <a:r>
                        <a:rPr lang="en-US" sz="1400" b="1" dirty="0">
                          <a:solidFill>
                            <a:srgbClr val="F87018"/>
                          </a:solidFill>
                          <a:latin typeface="Sarabun" pitchFamily="34" charset="0"/>
                          <a:ea typeface="Sarabun" pitchFamily="34" charset="-122"/>
                          <a:cs typeface="Sarabun" pitchFamily="34" charset="-120"/>
                        </a:rPr>
                        <a:t>01</a:t>
                      </a:r>
                      <a:r>
                        <a:rPr lang="en-US" sz="1400" b="1" dirty="0">
                          <a:solidFill>
                            <a:srgbClr val="1F2937"/>
                          </a:solidFill>
                          <a:latin typeface="Sarabun" pitchFamily="34" charset="0"/>
                          <a:ea typeface="Sarabun" pitchFamily="34" charset="-122"/>
                          <a:cs typeface="Sarabun" pitchFamily="34" charset="-120"/>
                        </a:rPr>
                        <a:t> / </a:t>
                      </a:r>
                      <a:r>
                        <a:rPr lang="en-US" sz="1400" b="1" dirty="0">
                          <a:solidFill>
                            <a:srgbClr val="1C5739"/>
                          </a:solidFill>
                          <a:latin typeface="Sarabun" pitchFamily="34" charset="0"/>
                          <a:ea typeface="Sarabun" pitchFamily="34" charset="-122"/>
                          <a:cs typeface="Sarabun" pitchFamily="34" charset="-120"/>
                        </a:rPr>
                        <a:t>PD</a:t>
                      </a:r>
                      <a:r>
                        <a:rPr lang="en-US" sz="1400" b="1" dirty="0">
                          <a:solidFill>
                            <a:srgbClr val="F860C0"/>
                          </a:solidFill>
                          <a:latin typeface="Sarabun" pitchFamily="34" charset="0"/>
                          <a:ea typeface="Sarabun" pitchFamily="34" charset="-122"/>
                          <a:cs typeface="Sarabun" pitchFamily="34" charset="-120"/>
                        </a:rPr>
                        <a:t>CE</a:t>
                      </a:r>
                      <a:r>
                        <a:rPr lang="en-US" sz="1400" b="1" dirty="0">
                          <a:solidFill>
                            <a:srgbClr val="F87018"/>
                          </a:solidFill>
                          <a:latin typeface="Sarabun" pitchFamily="34" charset="0"/>
                          <a:ea typeface="Sarabun" pitchFamily="34" charset="-122"/>
                          <a:cs typeface="Sarabun" pitchFamily="34" charset="-120"/>
                        </a:rPr>
                        <a:t>02</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Promotions &amp; Discounts (PD)</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vMerge="1">
                  <a:txBody>
                    <a:bodyPr/>
                    <a:lstStyle/>
                    <a:p>
                      <a:endParaRPr lang="en-TH"/>
                    </a:p>
                  </a:txBody>
                  <a:tcPr/>
                </a:tc>
                <a:extLst>
                  <a:ext uri="{0D108BD9-81ED-4DB2-BD59-A6C34878D82A}">
                    <a16:rowId xmlns:a16="http://schemas.microsoft.com/office/drawing/2014/main" val="10006"/>
                  </a:ext>
                </a:extLst>
              </a:tr>
              <a:tr h="335000">
                <a:tc rowSpan="3">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Spec-Driven Development (SDD)</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FA971"/>
                    </a:solidFill>
                  </a:tcPr>
                </a:tc>
                <a:tc>
                  <a:txBody>
                    <a:bodyPr/>
                    <a:lstStyle/>
                    <a:p>
                      <a:pPr marL="0" indent="0" algn="ctr">
                        <a:buNone/>
                      </a:pPr>
                      <a:r>
                        <a:rPr lang="en-US" sz="1400" b="1" dirty="0">
                          <a:solidFill>
                            <a:srgbClr val="1C5739"/>
                          </a:solidFill>
                          <a:latin typeface="Sarabun" pitchFamily="34" charset="0"/>
                          <a:ea typeface="Sarabun" pitchFamily="34" charset="-122"/>
                          <a:cs typeface="Sarabun" pitchFamily="34" charset="-120"/>
                        </a:rPr>
                        <a:t>IM</a:t>
                      </a:r>
                      <a:r>
                        <a:rPr lang="en-US" sz="1400" b="1" dirty="0">
                          <a:solidFill>
                            <a:srgbClr val="F860C0"/>
                          </a:solidFill>
                          <a:latin typeface="Sarabun" pitchFamily="34" charset="0"/>
                          <a:ea typeface="Sarabun" pitchFamily="34" charset="-122"/>
                          <a:cs typeface="Sarabun" pitchFamily="34" charset="-120"/>
                        </a:rPr>
                        <a:t>SD</a:t>
                      </a:r>
                      <a:r>
                        <a:rPr lang="en-US" sz="1400" b="1" dirty="0">
                          <a:solidFill>
                            <a:srgbClr val="F87018"/>
                          </a:solidFill>
                          <a:latin typeface="Sarabun" pitchFamily="34" charset="0"/>
                          <a:ea typeface="Sarabun" pitchFamily="34" charset="-122"/>
                          <a:cs typeface="Sarabun" pitchFamily="34" charset="-120"/>
                        </a:rPr>
                        <a:t>01</a:t>
                      </a:r>
                      <a:r>
                        <a:rPr lang="en-US" sz="1400" b="1" dirty="0">
                          <a:solidFill>
                            <a:srgbClr val="1F2937"/>
                          </a:solidFill>
                          <a:latin typeface="Sarabun" pitchFamily="34" charset="0"/>
                          <a:ea typeface="Sarabun" pitchFamily="34" charset="-122"/>
                          <a:cs typeface="Sarabun" pitchFamily="34" charset="-120"/>
                        </a:rPr>
                        <a:t> / </a:t>
                      </a:r>
                      <a:r>
                        <a:rPr lang="en-US" sz="1400" b="1" dirty="0">
                          <a:solidFill>
                            <a:srgbClr val="1C5739"/>
                          </a:solidFill>
                          <a:latin typeface="Sarabun" pitchFamily="34" charset="0"/>
                          <a:ea typeface="Sarabun" pitchFamily="34" charset="-122"/>
                          <a:cs typeface="Sarabun" pitchFamily="34" charset="-120"/>
                        </a:rPr>
                        <a:t>IM</a:t>
                      </a:r>
                      <a:r>
                        <a:rPr lang="en-US" sz="1400" b="1" dirty="0">
                          <a:solidFill>
                            <a:srgbClr val="F860C0"/>
                          </a:solidFill>
                          <a:latin typeface="Sarabun" pitchFamily="34" charset="0"/>
                          <a:ea typeface="Sarabun" pitchFamily="34" charset="-122"/>
                          <a:cs typeface="Sarabun" pitchFamily="34" charset="-120"/>
                        </a:rPr>
                        <a:t>SD</a:t>
                      </a:r>
                      <a:r>
                        <a:rPr lang="en-US" sz="1400" b="1" dirty="0">
                          <a:solidFill>
                            <a:srgbClr val="F87018"/>
                          </a:solidFill>
                          <a:latin typeface="Sarabun" pitchFamily="34" charset="0"/>
                          <a:ea typeface="Sarabun" pitchFamily="34" charset="-122"/>
                          <a:cs typeface="Sarabun" pitchFamily="34" charset="-120"/>
                        </a:rPr>
                        <a:t>02</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Inventory Management (IM)</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tc rowSpan="3">
                  <a:txBody>
                    <a:bodyPr/>
                    <a:lstStyle/>
                    <a:p>
                      <a:pPr marL="0" indent="0" algn="ctr">
                        <a:buNone/>
                      </a:pPr>
                      <a:r>
                        <a:rPr lang="en-US" sz="1400" dirty="0">
                          <a:solidFill>
                            <a:srgbClr val="1F2937"/>
                          </a:solidFill>
                          <a:latin typeface="Sarabun" pitchFamily="34" charset="0"/>
                          <a:ea typeface="Sarabun" pitchFamily="34" charset="-122"/>
                          <a:cs typeface="Sarabun" pitchFamily="34" charset="-120"/>
                        </a:rPr>
                        <a:t>Codex CLI (GPT-5.2)</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extLst>
                  <a:ext uri="{0D108BD9-81ED-4DB2-BD59-A6C34878D82A}">
                    <a16:rowId xmlns:a16="http://schemas.microsoft.com/office/drawing/2014/main" val="10007"/>
                  </a:ext>
                </a:extLst>
              </a:tr>
              <a:tr h="335000">
                <a:tc vMerge="1">
                  <a:txBody>
                    <a:bodyPr/>
                    <a:lstStyle/>
                    <a:p>
                      <a:endParaRPr lang="en-TH"/>
                    </a:p>
                  </a:txBody>
                  <a:tcPr/>
                </a:tc>
                <a:tc>
                  <a:txBody>
                    <a:bodyPr/>
                    <a:lstStyle/>
                    <a:p>
                      <a:pPr marL="0" indent="0" algn="ctr">
                        <a:buNone/>
                      </a:pPr>
                      <a:r>
                        <a:rPr lang="en-US" sz="1400" b="1" dirty="0">
                          <a:solidFill>
                            <a:srgbClr val="1C5739"/>
                          </a:solidFill>
                          <a:latin typeface="Sarabun" pitchFamily="34" charset="0"/>
                          <a:ea typeface="Sarabun" pitchFamily="34" charset="-122"/>
                          <a:cs typeface="Sarabun" pitchFamily="34" charset="-120"/>
                        </a:rPr>
                        <a:t>SC</a:t>
                      </a:r>
                      <a:r>
                        <a:rPr lang="en-US" sz="1400" b="1" dirty="0">
                          <a:solidFill>
                            <a:srgbClr val="F860C0"/>
                          </a:solidFill>
                          <a:latin typeface="Sarabun" pitchFamily="34" charset="0"/>
                          <a:ea typeface="Sarabun" pitchFamily="34" charset="-122"/>
                          <a:cs typeface="Sarabun" pitchFamily="34" charset="-120"/>
                        </a:rPr>
                        <a:t>SD</a:t>
                      </a:r>
                      <a:r>
                        <a:rPr lang="en-US" sz="1400" b="1" dirty="0">
                          <a:solidFill>
                            <a:srgbClr val="F87018"/>
                          </a:solidFill>
                          <a:latin typeface="Sarabun" pitchFamily="34" charset="0"/>
                          <a:ea typeface="Sarabun" pitchFamily="34" charset="-122"/>
                          <a:cs typeface="Sarabun" pitchFamily="34" charset="-120"/>
                        </a:rPr>
                        <a:t>01</a:t>
                      </a:r>
                      <a:r>
                        <a:rPr lang="en-US" sz="1400" b="1" dirty="0">
                          <a:solidFill>
                            <a:srgbClr val="1F2937"/>
                          </a:solidFill>
                          <a:latin typeface="Sarabun" pitchFamily="34" charset="0"/>
                          <a:ea typeface="Sarabun" pitchFamily="34" charset="-122"/>
                          <a:cs typeface="Sarabun" pitchFamily="34" charset="-120"/>
                        </a:rPr>
                        <a:t> / </a:t>
                      </a:r>
                      <a:r>
                        <a:rPr lang="en-US" sz="1400" b="1" dirty="0">
                          <a:solidFill>
                            <a:srgbClr val="1C5739"/>
                          </a:solidFill>
                          <a:latin typeface="Sarabun" pitchFamily="34" charset="0"/>
                          <a:ea typeface="Sarabun" pitchFamily="34" charset="-122"/>
                          <a:cs typeface="Sarabun" pitchFamily="34" charset="-120"/>
                        </a:rPr>
                        <a:t>SC</a:t>
                      </a:r>
                      <a:r>
                        <a:rPr lang="en-US" sz="1400" b="1" dirty="0">
                          <a:solidFill>
                            <a:srgbClr val="F860C0"/>
                          </a:solidFill>
                          <a:latin typeface="Sarabun" pitchFamily="34" charset="0"/>
                          <a:ea typeface="Sarabun" pitchFamily="34" charset="-122"/>
                          <a:cs typeface="Sarabun" pitchFamily="34" charset="-120"/>
                        </a:rPr>
                        <a:t>SD</a:t>
                      </a:r>
                      <a:r>
                        <a:rPr lang="en-US" sz="1400" b="1" dirty="0">
                          <a:solidFill>
                            <a:srgbClr val="F87018"/>
                          </a:solidFill>
                          <a:latin typeface="Sarabun" pitchFamily="34" charset="0"/>
                          <a:ea typeface="Sarabun" pitchFamily="34" charset="-122"/>
                          <a:cs typeface="Sarabun" pitchFamily="34" charset="-120"/>
                        </a:rPr>
                        <a:t>02</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Shopping Cart (SC)</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tc vMerge="1">
                  <a:txBody>
                    <a:bodyPr/>
                    <a:lstStyle/>
                    <a:p>
                      <a:endParaRPr lang="en-TH"/>
                    </a:p>
                  </a:txBody>
                  <a:tcPr/>
                </a:tc>
                <a:extLst>
                  <a:ext uri="{0D108BD9-81ED-4DB2-BD59-A6C34878D82A}">
                    <a16:rowId xmlns:a16="http://schemas.microsoft.com/office/drawing/2014/main" val="10008"/>
                  </a:ext>
                </a:extLst>
              </a:tr>
              <a:tr h="335000">
                <a:tc vMerge="1">
                  <a:txBody>
                    <a:bodyPr/>
                    <a:lstStyle/>
                    <a:p>
                      <a:endParaRPr lang="en-TH"/>
                    </a:p>
                  </a:txBody>
                  <a:tcPr/>
                </a:tc>
                <a:tc>
                  <a:txBody>
                    <a:bodyPr/>
                    <a:lstStyle/>
                    <a:p>
                      <a:pPr marL="0" indent="0" algn="ctr">
                        <a:buNone/>
                      </a:pPr>
                      <a:r>
                        <a:rPr lang="en-US" sz="1400" b="1" dirty="0">
                          <a:solidFill>
                            <a:srgbClr val="1C5739"/>
                          </a:solidFill>
                          <a:latin typeface="Sarabun" pitchFamily="34" charset="0"/>
                          <a:ea typeface="Sarabun" pitchFamily="34" charset="-122"/>
                          <a:cs typeface="Sarabun" pitchFamily="34" charset="-120"/>
                        </a:rPr>
                        <a:t>PD</a:t>
                      </a:r>
                      <a:r>
                        <a:rPr lang="en-US" sz="1400" b="1" dirty="0">
                          <a:solidFill>
                            <a:srgbClr val="F860C0"/>
                          </a:solidFill>
                          <a:latin typeface="Sarabun" pitchFamily="34" charset="0"/>
                          <a:ea typeface="Sarabun" pitchFamily="34" charset="-122"/>
                          <a:cs typeface="Sarabun" pitchFamily="34" charset="-120"/>
                        </a:rPr>
                        <a:t>SD</a:t>
                      </a:r>
                      <a:r>
                        <a:rPr lang="en-US" sz="1400" b="1" dirty="0">
                          <a:solidFill>
                            <a:srgbClr val="F87018"/>
                          </a:solidFill>
                          <a:latin typeface="Sarabun" pitchFamily="34" charset="0"/>
                          <a:ea typeface="Sarabun" pitchFamily="34" charset="-122"/>
                          <a:cs typeface="Sarabun" pitchFamily="34" charset="-120"/>
                        </a:rPr>
                        <a:t>01</a:t>
                      </a:r>
                      <a:r>
                        <a:rPr lang="en-US" sz="1400" b="1" dirty="0">
                          <a:solidFill>
                            <a:srgbClr val="1F2937"/>
                          </a:solidFill>
                          <a:latin typeface="Sarabun" pitchFamily="34" charset="0"/>
                          <a:ea typeface="Sarabun" pitchFamily="34" charset="-122"/>
                          <a:cs typeface="Sarabun" pitchFamily="34" charset="-120"/>
                        </a:rPr>
                        <a:t> / </a:t>
                      </a:r>
                      <a:r>
                        <a:rPr lang="en-US" sz="1400" b="1" dirty="0">
                          <a:solidFill>
                            <a:srgbClr val="1C5739"/>
                          </a:solidFill>
                          <a:latin typeface="Sarabun" pitchFamily="34" charset="0"/>
                          <a:ea typeface="Sarabun" pitchFamily="34" charset="-122"/>
                          <a:cs typeface="Sarabun" pitchFamily="34" charset="-120"/>
                        </a:rPr>
                        <a:t>PD</a:t>
                      </a:r>
                      <a:r>
                        <a:rPr lang="en-US" sz="1400" b="1" dirty="0">
                          <a:solidFill>
                            <a:srgbClr val="F860C0"/>
                          </a:solidFill>
                          <a:latin typeface="Sarabun" pitchFamily="34" charset="0"/>
                          <a:ea typeface="Sarabun" pitchFamily="34" charset="-122"/>
                          <a:cs typeface="Sarabun" pitchFamily="34" charset="-120"/>
                        </a:rPr>
                        <a:t>SD</a:t>
                      </a:r>
                      <a:r>
                        <a:rPr lang="en-US" sz="1400" b="1" dirty="0">
                          <a:solidFill>
                            <a:srgbClr val="F87018"/>
                          </a:solidFill>
                          <a:latin typeface="Sarabun" pitchFamily="34" charset="0"/>
                          <a:ea typeface="Sarabun" pitchFamily="34" charset="-122"/>
                          <a:cs typeface="Sarabun" pitchFamily="34" charset="-120"/>
                        </a:rPr>
                        <a:t>02</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Promotions &amp; Discounts (PD)</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tc vMerge="1">
                  <a:txBody>
                    <a:bodyPr/>
                    <a:lstStyle/>
                    <a:p>
                      <a:endParaRPr lang="en-TH"/>
                    </a:p>
                  </a:txBody>
                  <a:tcPr/>
                </a:tc>
                <a:extLst>
                  <a:ext uri="{0D108BD9-81ED-4DB2-BD59-A6C34878D82A}">
                    <a16:rowId xmlns:a16="http://schemas.microsoft.com/office/drawing/2014/main" val="10009"/>
                  </a:ext>
                </a:extLst>
              </a:tr>
            </a:tbl>
          </a:graphicData>
        </a:graphic>
      </p:graphicFrame>
      <p:sp>
        <p:nvSpPr>
          <p:cNvPr id="5" name="Text 2"/>
          <p:cNvSpPr txBox="1"/>
          <p:nvPr/>
        </p:nvSpPr>
        <p:spPr>
          <a:xfrm>
            <a:off x="548640" y="4700160"/>
            <a:ext cx="11094415" cy="260000"/>
          </a:xfrm>
          <a:prstGeom prst="rect">
            <a:avLst/>
          </a:prstGeom>
          <a:noFill/>
          <a:ln/>
        </p:spPr>
        <p:txBody>
          <a:bodyPr wrap="square" lIns="0" tIns="0" rIns="0" bIns="0" rtlCol="0" anchor="t"/>
          <a:lstStyle/>
          <a:p>
            <a:pPr marL="0" indent="0">
              <a:buNone/>
            </a:pPr>
            <a:r>
              <a:rPr lang="en-US" sz="1200" dirty="0">
                <a:solidFill>
                  <a:srgbClr val="6B7280"/>
                </a:solidFill>
                <a:latin typeface="Sarabun" pitchFamily="34" charset="0"/>
                <a:ea typeface="Sarabun" pitchFamily="34" charset="-122"/>
                <a:cs typeface="Sarabun" pitchFamily="34" charset="-120"/>
              </a:rPr>
              <a:t>ตารางที่ 4.3 เวอร์ชันของซอร์สโค้ดจำนวน 18 เวอร์ชัน  (3 กลยุทธ์ × 3 โมดูล × 2 รอบการทดลอง)</a:t>
            </a:r>
            <a:endParaRPr lang="en-US" sz="14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13</a:t>
            </a:fld>
            <a:endParaRPr lang="en-US"/>
          </a:p>
        </p:txBody>
      </p:sp>
      <p:pic>
        <p:nvPicPr>
          <p:cNvPr id="26" name="naming legend" descr="1.png"/>
          <p:cNvPicPr>
            <a:picLocks noChangeAspect="1"/>
          </p:cNvPicPr>
          <p:nvPr/>
        </p:nvPicPr>
        <p:blipFill>
          <a:blip r:embed="rId3"/>
          <a:stretch>
            <a:fillRect/>
          </a:stretch>
        </p:blipFill>
        <p:spPr>
          <a:xfrm>
            <a:off x="548640" y="5080160"/>
            <a:ext cx="2796328" cy="1230000"/>
          </a:xfrm>
          <a:prstGeom prst="rect">
            <a:avLst/>
          </a:prstGeom>
        </p:spPr>
      </p:pic>
      <p:sp>
        <p:nvSpPr>
          <p:cNvPr id="27" name="naming explain"/>
          <p:cNvSpPr txBox="1"/>
          <p:nvPr/>
        </p:nvSpPr>
        <p:spPr>
          <a:xfrm>
            <a:off x="3644968" y="5080160"/>
            <a:ext cx="7998087" cy="1230000"/>
          </a:xfrm>
          <a:prstGeom prst="rect">
            <a:avLst/>
          </a:prstGeom>
          <a:noFill/>
        </p:spPr>
        <p:txBody>
          <a:bodyPr wrap="square" lIns="0" tIns="0" rIns="0" bIns="0">
            <a:spAutoFit/>
          </a:bodyPr>
          <a:lstStyle/>
          <a:p>
            <a:pPr>
              <a:spcAft>
                <a:spcPts val="300"/>
              </a:spcAft>
            </a:pPr>
            <a:r>
              <a:rPr sz="1200" b="1">
                <a:solidFill>
                  <a:srgbClr val="374151"/>
                </a:solidFill>
                <a:latin typeface="Sarabun"/>
                <a:ea typeface="Sarabun"/>
                <a:cs typeface="Sarabun"/>
              </a:rPr>
              <a:t>วิธีอ่านรหัสเวอร์ชัน  </a:t>
            </a:r>
            <a:r>
              <a:rPr sz="1200" b="1">
                <a:solidFill>
                  <a:srgbClr val="1C5739"/>
                </a:solidFill>
                <a:latin typeface="Sarabun"/>
                <a:ea typeface="Sarabun"/>
                <a:cs typeface="Sarabun"/>
              </a:rPr>
              <a:t>XX</a:t>
            </a:r>
            <a:r>
              <a:rPr sz="1200" b="0">
                <a:solidFill>
                  <a:srgbClr val="374151"/>
                </a:solidFill>
                <a:latin typeface="Sarabun"/>
                <a:ea typeface="Sarabun"/>
                <a:cs typeface="Sarabun"/>
              </a:rPr>
              <a:t> + </a:t>
            </a:r>
            <a:r>
              <a:rPr sz="1200" b="1">
                <a:solidFill>
                  <a:srgbClr val="F860C0"/>
                </a:solidFill>
                <a:latin typeface="Sarabun"/>
                <a:ea typeface="Sarabun"/>
                <a:cs typeface="Sarabun"/>
              </a:rPr>
              <a:t>YY</a:t>
            </a:r>
            <a:r>
              <a:rPr sz="1200" b="0">
                <a:solidFill>
                  <a:srgbClr val="374151"/>
                </a:solidFill>
                <a:latin typeface="Sarabun"/>
                <a:ea typeface="Sarabun"/>
                <a:cs typeface="Sarabun"/>
              </a:rPr>
              <a:t> + </a:t>
            </a:r>
            <a:r>
              <a:rPr sz="1200" b="1">
                <a:solidFill>
                  <a:srgbClr val="F87018"/>
                </a:solidFill>
                <a:latin typeface="Sarabun"/>
                <a:ea typeface="Sarabun"/>
                <a:cs typeface="Sarabun"/>
              </a:rPr>
              <a:t>ZZ</a:t>
            </a:r>
          </a:p>
          <a:p>
            <a:pPr>
              <a:spcAft>
                <a:spcPts val="300"/>
              </a:spcAft>
            </a:pPr>
            <a:r>
              <a:rPr sz="1200" b="1">
                <a:solidFill>
                  <a:srgbClr val="1C5739"/>
                </a:solidFill>
                <a:latin typeface="Sarabun"/>
                <a:ea typeface="Sarabun"/>
                <a:cs typeface="Sarabun"/>
              </a:rPr>
              <a:t>XX</a:t>
            </a:r>
            <a:r>
              <a:rPr sz="1200" b="0">
                <a:solidFill>
                  <a:srgbClr val="374151"/>
                </a:solidFill>
                <a:latin typeface="Sarabun"/>
                <a:ea typeface="Sarabun"/>
                <a:cs typeface="Sarabun"/>
              </a:rPr>
              <a:t> = โมดูล: IM (Inventory Management), SC (Shopping Cart), PD (Promotions &amp; Discounts)</a:t>
            </a:r>
          </a:p>
          <a:p>
            <a:pPr>
              <a:spcAft>
                <a:spcPts val="300"/>
              </a:spcAft>
            </a:pPr>
            <a:r>
              <a:rPr sz="1200" b="1">
                <a:solidFill>
                  <a:srgbClr val="F860C0"/>
                </a:solidFill>
                <a:latin typeface="Sarabun"/>
                <a:ea typeface="Sarabun"/>
                <a:cs typeface="Sarabun"/>
              </a:rPr>
              <a:t>YY</a:t>
            </a:r>
            <a:r>
              <a:rPr sz="1200" b="0">
                <a:solidFill>
                  <a:srgbClr val="374151"/>
                </a:solidFill>
                <a:latin typeface="Sarabun"/>
                <a:ea typeface="Sarabun"/>
                <a:cs typeface="Sarabun"/>
              </a:rPr>
              <a:t> = กลยุทธ์: BP (Basic Prompting), CE (Context Engineering), SD (Spec-Driven Development: SDD)</a:t>
            </a:r>
          </a:p>
          <a:p>
            <a:pPr>
              <a:spcAft>
                <a:spcPts val="300"/>
              </a:spcAft>
            </a:pPr>
            <a:r>
              <a:rPr sz="1200" b="1">
                <a:solidFill>
                  <a:srgbClr val="F87018"/>
                </a:solidFill>
                <a:latin typeface="Sarabun"/>
                <a:ea typeface="Sarabun"/>
                <a:cs typeface="Sarabun"/>
              </a:rPr>
              <a:t>ZZ</a:t>
            </a:r>
            <a:r>
              <a:rPr sz="1200" b="0">
                <a:solidFill>
                  <a:srgbClr val="374151"/>
                </a:solidFill>
                <a:latin typeface="Sarabun"/>
                <a:ea typeface="Sarabun"/>
                <a:cs typeface="Sarabun"/>
              </a:rPr>
              <a:t> = รอบการทดลอง: 01 (รอบที่ 1), 02 (รอบที่ 2)</a:t>
            </a:r>
          </a:p>
          <a:p>
            <a:pPr>
              <a:spcAft>
                <a:spcPts val="300"/>
              </a:spcAft>
            </a:pPr>
            <a:r>
              <a:rPr sz="1200" b="1">
                <a:solidFill>
                  <a:srgbClr val="374151"/>
                </a:solidFill>
                <a:latin typeface="Sarabun"/>
                <a:ea typeface="Sarabun"/>
                <a:cs typeface="Sarabun"/>
              </a:rPr>
              <a:t>ตัวอย่าง  </a:t>
            </a:r>
            <a:r>
              <a:rPr sz="1200" b="1">
                <a:solidFill>
                  <a:srgbClr val="1C5739"/>
                </a:solidFill>
                <a:latin typeface="Sarabun"/>
                <a:ea typeface="Sarabun"/>
                <a:cs typeface="Sarabun"/>
              </a:rPr>
              <a:t>IM</a:t>
            </a:r>
            <a:r>
              <a:rPr sz="1200" b="1">
                <a:solidFill>
                  <a:srgbClr val="F860C0"/>
                </a:solidFill>
                <a:latin typeface="Sarabun"/>
                <a:ea typeface="Sarabun"/>
                <a:cs typeface="Sarabun"/>
              </a:rPr>
              <a:t>SD</a:t>
            </a:r>
            <a:r>
              <a:rPr sz="1200" b="1">
                <a:solidFill>
                  <a:srgbClr val="F87018"/>
                </a:solidFill>
                <a:latin typeface="Sarabun"/>
                <a:ea typeface="Sarabun"/>
                <a:cs typeface="Sarabun"/>
              </a:rPr>
              <a:t>02</a:t>
            </a:r>
            <a:r>
              <a:rPr sz="1200" b="0">
                <a:solidFill>
                  <a:srgbClr val="374151"/>
                </a:solidFill>
                <a:latin typeface="Sarabun"/>
                <a:ea typeface="Sarabun"/>
                <a:cs typeface="Sarabun"/>
              </a:rPr>
              <a:t> = Inventory Management · Spec-Driven Development · รอบที่ 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4  วิธีการดำเนินงาน</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Basic Prompting (BP)</a:t>
            </a:r>
            <a:endParaRPr lang="en-US" sz="2800" dirty="0"/>
          </a:p>
        </p:txBody>
      </p:sp>
      <p:sp>
        <p:nvSpPr>
          <p:cNvPr id="4" name="Shape 2"/>
          <p:cNvSpPr/>
          <p:nvPr/>
        </p:nvSpPr>
        <p:spPr>
          <a:xfrm>
            <a:off x="9875520" y="512064"/>
            <a:ext cx="822960" cy="292608"/>
          </a:xfrm>
          <a:prstGeom prst="roundRect">
            <a:avLst>
              <a:gd name="adj" fmla="val 50000"/>
            </a:avLst>
          </a:prstGeom>
          <a:solidFill>
            <a:srgbClr val="E4572E"/>
          </a:solidFill>
          <a:ln w="19050">
            <a:solidFill>
              <a:srgbClr val="FFFFFF"/>
            </a:solidFill>
            <a:prstDash val="solid"/>
          </a:ln>
        </p:spPr>
        <p:txBody>
          <a:bodyPr/>
          <a:lstStyle/>
          <a:p>
            <a:endParaRPr lang="en-TH"/>
          </a:p>
        </p:txBody>
      </p:sp>
      <p:sp>
        <p:nvSpPr>
          <p:cNvPr id="5" name="Text 3"/>
          <p:cNvSpPr txBox="1"/>
          <p:nvPr/>
        </p:nvSpPr>
        <p:spPr>
          <a:xfrm>
            <a:off x="9875520" y="512064"/>
            <a:ext cx="82296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BP</a:t>
            </a:r>
            <a:endParaRPr lang="en-US" sz="1200" dirty="0"/>
          </a:p>
        </p:txBody>
      </p:sp>
      <p:sp>
        <p:nvSpPr>
          <p:cNvPr id="6" name="card"/>
          <p:cNvSpPr/>
          <p:nvPr/>
        </p:nvSpPr>
        <p:spPr>
          <a:xfrm>
            <a:off x="548640" y="1600200"/>
            <a:ext cx="6949440" cy="4297680"/>
          </a:xfrm>
          <a:prstGeom prst="roundRect">
            <a:avLst>
              <a:gd name="adj" fmla="val 2553"/>
            </a:avLst>
          </a:prstGeom>
          <a:solidFill>
            <a:srgbClr val="1E2433"/>
          </a:solidFill>
          <a:ln w="12700">
            <a:solidFill>
              <a:srgbClr val="1E2433"/>
            </a:solidFill>
            <a:prstDash val="solid"/>
          </a:ln>
        </p:spPr>
        <p:txBody>
          <a:bodyPr/>
          <a:lstStyle/>
          <a:p>
            <a:endParaRPr lang="en-TH"/>
          </a:p>
        </p:txBody>
      </p:sp>
      <p:sp>
        <p:nvSpPr>
          <p:cNvPr id="7" name="Text 5"/>
          <p:cNvSpPr txBox="1"/>
          <p:nvPr/>
        </p:nvSpPr>
        <p:spPr>
          <a:xfrm>
            <a:off x="914400" y="1874520"/>
            <a:ext cx="6217920" cy="3931920"/>
          </a:xfrm>
          <a:prstGeom prst="rect">
            <a:avLst/>
          </a:prstGeom>
          <a:noFill/>
          <a:ln/>
        </p:spPr>
        <p:txBody>
          <a:bodyPr wrap="square" lIns="0" tIns="0" rIns="0" bIns="0" rtlCol="0" anchor="t"/>
          <a:lstStyle/>
          <a:p>
            <a:pPr marL="0" indent="0">
              <a:buNone/>
            </a:pPr>
            <a:r>
              <a:rPr lang="en-US" sz="1600" dirty="0">
                <a:solidFill>
                  <a:srgbClr val="E5E9F2"/>
                </a:solidFill>
                <a:latin typeface="Sarabun" pitchFamily="34" charset="0"/>
                <a:ea typeface="Sarabun" pitchFamily="34" charset="-122"/>
                <a:cs typeface="Sarabun" pitchFamily="34" charset="-120"/>
              </a:rPr>
              <a:t>I am building an e-commerce website. I need you to write code for the Inventory Management System.</a:t>
            </a:r>
            <a:endParaRPr lang="en-US" sz="1600" dirty="0"/>
          </a:p>
          <a:p>
            <a:pPr marL="0" indent="0">
              <a:buNone/>
            </a:pPr>
            <a:endParaRPr lang="en-US" sz="1600" dirty="0"/>
          </a:p>
          <a:p>
            <a:pPr marL="0" indent="0">
              <a:buNone/>
            </a:pPr>
            <a:r>
              <a:rPr lang="en-US" sz="1600" dirty="0">
                <a:solidFill>
                  <a:srgbClr val="E5E9F2"/>
                </a:solidFill>
                <a:latin typeface="Sarabun" pitchFamily="34" charset="0"/>
                <a:ea typeface="Sarabun" pitchFamily="34" charset="-122"/>
                <a:cs typeface="Sarabun" pitchFamily="34" charset="-120"/>
              </a:rPr>
              <a:t>Requirements:</a:t>
            </a:r>
            <a:endParaRPr lang="en-US" sz="1600" dirty="0"/>
          </a:p>
          <a:p>
            <a:pPr marL="0" indent="0">
              <a:buNone/>
            </a:pPr>
            <a:r>
              <a:rPr lang="en-US" sz="1600" dirty="0">
                <a:solidFill>
                  <a:srgbClr val="E5E9F2"/>
                </a:solidFill>
                <a:latin typeface="Sarabun" pitchFamily="34" charset="0"/>
                <a:ea typeface="Sarabun" pitchFamily="34" charset="-122"/>
                <a:cs typeface="Sarabun" pitchFamily="34" charset="-120"/>
              </a:rPr>
              <a:t>Backend (Node.js): Create an API to handle stock updates. When a user buys an item, deduct the stock. If the stock is low (less than 5), print a log message. Also, keep a history of stock changes.</a:t>
            </a:r>
            <a:endParaRPr lang="en-US" sz="1600" dirty="0"/>
          </a:p>
          <a:p>
            <a:pPr marL="0" indent="0">
              <a:buNone/>
            </a:pPr>
            <a:endParaRPr lang="en-US" sz="1600" dirty="0"/>
          </a:p>
          <a:p>
            <a:pPr marL="0" indent="0">
              <a:buNone/>
            </a:pPr>
            <a:r>
              <a:rPr lang="en-US" sz="1600" dirty="0">
                <a:solidFill>
                  <a:srgbClr val="E5E9F2"/>
                </a:solidFill>
                <a:latin typeface="Sarabun" pitchFamily="34" charset="0"/>
                <a:ea typeface="Sarabun" pitchFamily="34" charset="-122"/>
                <a:cs typeface="Sarabun" pitchFamily="34" charset="-120"/>
              </a:rPr>
              <a:t>Frontend (React): Create a simple dashboard page to view current stock levels and a list of low-stock items. Please provide the code for both the backend controller and the frontend component.</a:t>
            </a:r>
            <a:endParaRPr lang="en-US" sz="1600" dirty="0"/>
          </a:p>
        </p:txBody>
      </p:sp>
      <p:sp>
        <p:nvSpPr>
          <p:cNvPr id="8" name="Text 6"/>
          <p:cNvSpPr txBox="1"/>
          <p:nvPr/>
        </p:nvSpPr>
        <p:spPr>
          <a:xfrm>
            <a:off x="548640" y="5943600"/>
            <a:ext cx="6949440" cy="457200"/>
          </a:xfrm>
          <a:prstGeom prst="rect">
            <a:avLst/>
          </a:prstGeom>
          <a:noFill/>
          <a:ln/>
        </p:spPr>
        <p:txBody>
          <a:bodyPr wrap="square" lIns="0" tIns="0" rIns="0" bIns="0" rtlCol="0" anchor="t"/>
          <a:lstStyle/>
          <a:p>
            <a:pPr marL="0" indent="0" algn="ctr">
              <a:buNone/>
            </a:pPr>
            <a:r>
              <a:rPr lang="en-US" sz="1200" dirty="0">
                <a:solidFill>
                  <a:srgbClr val="6B7280"/>
                </a:solidFill>
                <a:latin typeface="Sarabun" pitchFamily="34" charset="0"/>
                <a:ea typeface="Sarabun" pitchFamily="34" charset="-122"/>
                <a:cs typeface="Sarabun" pitchFamily="34" charset="-120"/>
              </a:rPr>
              <a:t>รูปที่ 4.2 ตัวอย่างชุดคำสั่ง Basic Prompting (BP) จาก IMBP01 ChatGPT log</a:t>
            </a:r>
            <a:endParaRPr lang="en-US" sz="1200" dirty="0"/>
          </a:p>
        </p:txBody>
      </p:sp>
      <p:sp>
        <p:nvSpPr>
          <p:cNvPr id="9" name="card"/>
          <p:cNvSpPr/>
          <p:nvPr/>
        </p:nvSpPr>
        <p:spPr>
          <a:xfrm>
            <a:off x="7909560" y="1600200"/>
            <a:ext cx="3730752" cy="4297680"/>
          </a:xfrm>
          <a:prstGeom prst="roundRect">
            <a:avLst>
              <a:gd name="adj" fmla="val 2941"/>
            </a:avLst>
          </a:prstGeom>
          <a:solidFill>
            <a:srgbClr val="FDECE7"/>
          </a:solidFill>
          <a:ln w="12700">
            <a:solidFill>
              <a:srgbClr val="FDECE7"/>
            </a:solidFill>
            <a:prstDash val="solid"/>
          </a:ln>
        </p:spPr>
        <p:txBody>
          <a:bodyPr/>
          <a:lstStyle/>
          <a:p>
            <a:endParaRPr lang="en-TH"/>
          </a:p>
        </p:txBody>
      </p:sp>
      <p:sp>
        <p:nvSpPr>
          <p:cNvPr id="10" name="Text 8"/>
          <p:cNvSpPr txBox="1"/>
          <p:nvPr/>
        </p:nvSpPr>
        <p:spPr>
          <a:xfrm>
            <a:off x="8183880" y="1783080"/>
            <a:ext cx="3200400" cy="365760"/>
          </a:xfrm>
          <a:prstGeom prst="rect">
            <a:avLst/>
          </a:prstGeom>
          <a:noFill/>
          <a:ln/>
        </p:spPr>
        <p:txBody>
          <a:bodyPr wrap="square" lIns="0" tIns="0" rIns="0" bIns="0" rtlCol="0" anchor="t"/>
          <a:lstStyle/>
          <a:p>
            <a:pPr marL="0" indent="0">
              <a:buNone/>
            </a:pPr>
            <a:r>
              <a:rPr lang="en-US" sz="1800" b="1" dirty="0">
                <a:solidFill>
                  <a:srgbClr val="1C5739"/>
                </a:solidFill>
                <a:latin typeface="Sarabun" pitchFamily="34" charset="0"/>
                <a:ea typeface="Sarabun" pitchFamily="34" charset="-122"/>
                <a:cs typeface="Sarabun" pitchFamily="34" charset="-120"/>
              </a:rPr>
              <a:t>ลักษณะสำคัญ</a:t>
            </a:r>
            <a:endParaRPr lang="en-US" sz="1800" dirty="0"/>
          </a:p>
        </p:txBody>
      </p:sp>
      <p:sp>
        <p:nvSpPr>
          <p:cNvPr id="11" name="Text 9"/>
          <p:cNvSpPr txBox="1"/>
          <p:nvPr/>
        </p:nvSpPr>
        <p:spPr>
          <a:xfrm>
            <a:off x="8183880" y="2286000"/>
            <a:ext cx="3200400" cy="34747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937"/>
                </a:solidFill>
                <a:latin typeface="Sarabun" pitchFamily="34" charset="0"/>
                <a:ea typeface="Sarabun" pitchFamily="34" charset="-122"/>
                <a:cs typeface="Sarabun" pitchFamily="34" charset="-120"/>
              </a:rPr>
              <a:t>โทนไม่เป็นทางการ แบบสนทนา</a:t>
            </a:r>
            <a:endParaRPr lang="en-US" sz="1600" dirty="0"/>
          </a:p>
          <a:p>
            <a:pPr marL="342900" indent="-342900">
              <a:spcAft>
                <a:spcPts val="1000"/>
              </a:spcAft>
              <a:buSzPct val="100000"/>
              <a:buChar char="•"/>
            </a:pPr>
            <a:r>
              <a:rPr lang="en-US" sz="1600" dirty="0">
                <a:solidFill>
                  <a:srgbClr val="1F2937"/>
                </a:solidFill>
                <a:latin typeface="Sarabun" pitchFamily="34" charset="0"/>
                <a:ea typeface="Sarabun" pitchFamily="34" charset="-122"/>
                <a:cs typeface="Sarabun" pitchFamily="34" charset="-120"/>
              </a:rPr>
              <a:t>ความยาว 85–266 คำ</a:t>
            </a:r>
            <a:endParaRPr lang="en-US" sz="1600" dirty="0"/>
          </a:p>
          <a:p>
            <a:pPr marL="342900" indent="-342900">
              <a:spcAft>
                <a:spcPts val="1000"/>
              </a:spcAft>
              <a:buSzPct val="100000"/>
              <a:buChar char="•"/>
            </a:pPr>
            <a:r>
              <a:rPr lang="en-US" sz="1600" dirty="0">
                <a:solidFill>
                  <a:srgbClr val="1F2937"/>
                </a:solidFill>
                <a:latin typeface="Sarabun" pitchFamily="34" charset="0"/>
                <a:ea typeface="Sarabun" pitchFamily="34" charset="-122"/>
                <a:cs typeface="Sarabun" pitchFamily="34" charset="-120"/>
              </a:rPr>
              <a:t>ไม่กำหนดบทบาทของโมเดล</a:t>
            </a:r>
            <a:endParaRPr lang="en-US" sz="1600" dirty="0"/>
          </a:p>
          <a:p>
            <a:pPr marL="342900" indent="-342900">
              <a:spcAft>
                <a:spcPts val="1000"/>
              </a:spcAft>
              <a:buSzPct val="100000"/>
              <a:buChar char="•"/>
            </a:pPr>
            <a:r>
              <a:rPr lang="en-US" sz="1600" dirty="0">
                <a:solidFill>
                  <a:srgbClr val="1F2937"/>
                </a:solidFill>
                <a:latin typeface="Sarabun" pitchFamily="34" charset="0"/>
                <a:ea typeface="Sarabun" pitchFamily="34" charset="-122"/>
                <a:cs typeface="Sarabun" pitchFamily="34" charset="-120"/>
              </a:rPr>
              <a:t>ระบุเทคโนโลยีกว้าง ๆ เช่น Node.js, React</a:t>
            </a:r>
            <a:endParaRPr lang="en-US" sz="1600" dirty="0"/>
          </a:p>
          <a:p>
            <a:pPr marL="342900" indent="-342900">
              <a:spcAft>
                <a:spcPts val="1000"/>
              </a:spcAft>
              <a:buSzPct val="100000"/>
              <a:buChar char="•"/>
            </a:pPr>
            <a:r>
              <a:rPr lang="en-US" sz="1600" dirty="0">
                <a:solidFill>
                  <a:srgbClr val="1F2937"/>
                </a:solidFill>
                <a:latin typeface="Sarabun" pitchFamily="34" charset="0"/>
                <a:ea typeface="Sarabun" pitchFamily="34" charset="-122"/>
                <a:cs typeface="Sarabun" pitchFamily="34" charset="-120"/>
              </a:rPr>
              <a:t>กรณีขอบเขตเพิ่มผ่านการสนทนาต่อเนื่อง</a:t>
            </a:r>
            <a:endParaRPr lang="en-US" sz="16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4  วิธีการดำเนินงาน</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Context Engineering (CE)</a:t>
            </a:r>
            <a:endParaRPr lang="en-US" sz="2800" dirty="0"/>
          </a:p>
        </p:txBody>
      </p:sp>
      <p:sp>
        <p:nvSpPr>
          <p:cNvPr id="4" name="Shape 2"/>
          <p:cNvSpPr/>
          <p:nvPr/>
        </p:nvSpPr>
        <p:spPr>
          <a:xfrm>
            <a:off x="9875520" y="512064"/>
            <a:ext cx="822960" cy="292608"/>
          </a:xfrm>
          <a:prstGeom prst="roundRect">
            <a:avLst>
              <a:gd name="adj" fmla="val 50000"/>
            </a:avLst>
          </a:prstGeom>
          <a:solidFill>
            <a:srgbClr val="2F80ED"/>
          </a:solidFill>
          <a:ln w="19050">
            <a:solidFill>
              <a:srgbClr val="FFFFFF"/>
            </a:solidFill>
            <a:prstDash val="solid"/>
          </a:ln>
        </p:spPr>
        <p:txBody>
          <a:bodyPr/>
          <a:lstStyle/>
          <a:p>
            <a:endParaRPr lang="en-TH"/>
          </a:p>
        </p:txBody>
      </p:sp>
      <p:sp>
        <p:nvSpPr>
          <p:cNvPr id="5" name="Text 3"/>
          <p:cNvSpPr txBox="1"/>
          <p:nvPr/>
        </p:nvSpPr>
        <p:spPr>
          <a:xfrm>
            <a:off x="9875520" y="512064"/>
            <a:ext cx="82296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CE</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4599432"/>
        </p:xfrm>
        <a:graphic>
          <a:graphicData uri="http://schemas.openxmlformats.org/drawingml/2006/table">
            <a:tbl>
              <a:tblPr/>
              <a:tblGrid>
                <a:gridCol w="2743200">
                  <a:extLst>
                    <a:ext uri="{9D8B030D-6E8A-4147-A177-3AD203B41FA5}">
                      <a16:colId xmlns:a16="http://schemas.microsoft.com/office/drawing/2014/main" val="20000"/>
                    </a:ext>
                  </a:extLst>
                </a:gridCol>
                <a:gridCol w="8351215">
                  <a:extLst>
                    <a:ext uri="{9D8B030D-6E8A-4147-A177-3AD203B41FA5}">
                      <a16:colId xmlns:a16="http://schemas.microsoft.com/office/drawing/2014/main" val="20001"/>
                    </a:ext>
                  </a:extLst>
                </a:gridCol>
              </a:tblGrid>
              <a:tr h="329184">
                <a:tc>
                  <a:txBody>
                    <a:bodyPr/>
                    <a:lstStyle/>
                    <a:p>
                      <a:pPr marL="0" indent="0" algn="ctr">
                        <a:buNone/>
                      </a:pPr>
                      <a:r>
                        <a:rPr lang="en-US" sz="1200" b="1" dirty="0">
                          <a:solidFill>
                            <a:srgbClr val="FFFFFF"/>
                          </a:solidFill>
                          <a:latin typeface="Sarabun" pitchFamily="34" charset="0"/>
                          <a:ea typeface="Sarabun" pitchFamily="34" charset="-122"/>
                          <a:cs typeface="Sarabun" pitchFamily="34" charset="-120"/>
                        </a:rPr>
                        <a:t>Pattern</a:t>
                      </a:r>
                      <a:endParaRPr lang="en-US" sz="12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2F80ED"/>
                    </a:solidFill>
                  </a:tcPr>
                </a:tc>
                <a:tc>
                  <a:txBody>
                    <a:bodyPr/>
                    <a:lstStyle/>
                    <a:p>
                      <a:pPr marL="0" indent="0" algn="l">
                        <a:buNone/>
                      </a:pPr>
                      <a:r>
                        <a:rPr lang="en-US" sz="1200" b="1" dirty="0">
                          <a:solidFill>
                            <a:srgbClr val="FFFFFF"/>
                          </a:solidFill>
                          <a:latin typeface="Sarabun" pitchFamily="34" charset="0"/>
                          <a:ea typeface="Sarabun" pitchFamily="34" charset="-122"/>
                          <a:cs typeface="Sarabun" pitchFamily="34" charset="-120"/>
                        </a:rPr>
                        <a:t>Prompt Summary</a:t>
                      </a:r>
                      <a:endParaRPr lang="en-US" sz="12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2F80ED"/>
                    </a:solidFill>
                  </a:tcPr>
                </a:tc>
                <a:extLst>
                  <a:ext uri="{0D108BD9-81ED-4DB2-BD59-A6C34878D82A}">
                    <a16:rowId xmlns:a16="http://schemas.microsoft.com/office/drawing/2014/main" val="10000"/>
                  </a:ext>
                </a:extLst>
              </a:tr>
              <a:tr h="777240">
                <a:tc>
                  <a:txBody>
                    <a:bodyPr/>
                    <a:lstStyle/>
                    <a:p>
                      <a:pPr marL="0" indent="0">
                        <a:buNone/>
                      </a:pPr>
                      <a:r>
                        <a:rPr lang="en-US" sz="1200" b="1" dirty="0">
                          <a:solidFill>
                            <a:srgbClr val="1F2937"/>
                          </a:solidFill>
                          <a:latin typeface="Sarabun" pitchFamily="34" charset="0"/>
                          <a:ea typeface="Sarabun" pitchFamily="34" charset="-122"/>
                          <a:cs typeface="Sarabun" pitchFamily="34" charset="-120"/>
                        </a:rPr>
                        <a:t>Structured System Prompt</a:t>
                      </a:r>
                      <a:endParaRPr lang="en-US" sz="12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a:txBody>
                    <a:bodyPr/>
                    <a:lstStyle/>
                    <a:p>
                      <a:pPr marL="0" indent="0">
                        <a:buNone/>
                      </a:pPr>
                      <a:r>
                        <a:rPr lang="en-US" sz="1200" dirty="0">
                          <a:solidFill>
                            <a:srgbClr val="1F2937"/>
                          </a:solidFill>
                          <a:latin typeface="Sarabun" pitchFamily="34" charset="0"/>
                          <a:ea typeface="Sarabun" pitchFamily="34" charset="-122"/>
                          <a:cs typeface="Sarabun" pitchFamily="34" charset="-120"/>
                        </a:rPr>
                        <a:t>[Instruction &amp; Role] Act as expert Full-stack Developer and System Architect; Includes Tech Spec (React, Node.js, PostgreSQL), Business Scenarios, Constraints (Race Condition, Atomicity, Overselling), Deliverables, and Self-Refinement Task.</a:t>
                      </a:r>
                      <a:endParaRPr lang="en-US" sz="12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extLst>
                  <a:ext uri="{0D108BD9-81ED-4DB2-BD59-A6C34878D82A}">
                    <a16:rowId xmlns:a16="http://schemas.microsoft.com/office/drawing/2014/main" val="10001"/>
                  </a:ext>
                </a:extLst>
              </a:tr>
              <a:tr h="420624">
                <a:tc>
                  <a:txBody>
                    <a:bodyPr/>
                    <a:lstStyle/>
                    <a:p>
                      <a:pPr marL="0" indent="0">
                        <a:buNone/>
                      </a:pPr>
                      <a:r>
                        <a:rPr lang="en-US" sz="1200" b="1" dirty="0">
                          <a:solidFill>
                            <a:srgbClr val="1F2937"/>
                          </a:solidFill>
                          <a:latin typeface="Sarabun" pitchFamily="34" charset="0"/>
                          <a:ea typeface="Sarabun" pitchFamily="34" charset="-122"/>
                          <a:cs typeface="Sarabun" pitchFamily="34" charset="-120"/>
                        </a:rPr>
                        <a:t>Packaging + DevOps</a:t>
                      </a:r>
                      <a:endParaRPr lang="en-US" sz="12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Sarabun" pitchFamily="34" charset="0"/>
                          <a:ea typeface="Sarabun" pitchFamily="34" charset="-122"/>
                          <a:cs typeface="Sarabun" pitchFamily="34" charset="-120"/>
                        </a:rPr>
                        <a:t>Bundle all generated code with a clear structure; include Dockerfile and docker-compose.yml for full-stack deployment.</a:t>
                      </a:r>
                      <a:endParaRPr lang="en-US" sz="12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200" b="1" dirty="0">
                          <a:solidFill>
                            <a:srgbClr val="1F2937"/>
                          </a:solidFill>
                          <a:latin typeface="Sarabun" pitchFamily="34" charset="0"/>
                          <a:ea typeface="Sarabun" pitchFamily="34" charset="-122"/>
                          <a:cs typeface="Sarabun" pitchFamily="34" charset="-120"/>
                        </a:rPr>
                        <a:t>Packaging Request</a:t>
                      </a:r>
                      <a:endParaRPr lang="en-US" sz="12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a:txBody>
                    <a:bodyPr/>
                    <a:lstStyle/>
                    <a:p>
                      <a:pPr marL="0" indent="0">
                        <a:buNone/>
                      </a:pPr>
                      <a:r>
                        <a:rPr lang="en-US" sz="1200" dirty="0">
                          <a:solidFill>
                            <a:srgbClr val="1F2937"/>
                          </a:solidFill>
                          <a:latin typeface="Sarabun" pitchFamily="34" charset="0"/>
                          <a:ea typeface="Sarabun" pitchFamily="34" charset="-122"/>
                          <a:cs typeface="Sarabun" pitchFamily="34" charset="-120"/>
                        </a:rPr>
                        <a:t>zip all code to me.</a:t>
                      </a:r>
                      <a:endParaRPr lang="en-US" sz="12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extLst>
                  <a:ext uri="{0D108BD9-81ED-4DB2-BD59-A6C34878D82A}">
                    <a16:rowId xmlns:a16="http://schemas.microsoft.com/office/drawing/2014/main" val="10003"/>
                  </a:ext>
                </a:extLst>
              </a:tr>
              <a:tr h="347472">
                <a:tc>
                  <a:txBody>
                    <a:bodyPr/>
                    <a:lstStyle/>
                    <a:p>
                      <a:pPr marL="0" indent="0">
                        <a:buNone/>
                      </a:pPr>
                      <a:r>
                        <a:rPr lang="en-US" sz="1200" b="1" dirty="0">
                          <a:solidFill>
                            <a:srgbClr val="1F2937"/>
                          </a:solidFill>
                          <a:latin typeface="Sarabun" pitchFamily="34" charset="0"/>
                          <a:ea typeface="Sarabun" pitchFamily="34" charset="-122"/>
                          <a:cs typeface="Sarabun" pitchFamily="34" charset="-120"/>
                        </a:rPr>
                        <a:t>Refinement with Constraints</a:t>
                      </a:r>
                      <a:endParaRPr lang="en-US" sz="12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Sarabun" pitchFamily="34" charset="0"/>
                          <a:ea typeface="Sarabun" pitchFamily="34" charset="-122"/>
                          <a:cs typeface="Sarabun" pitchFamily="34" charset="-120"/>
                        </a:rPr>
                        <a:t>Context optimizations: (1) move credentials and ports to “.env”, (2) add PostgreSQL healthcheck and make backend wait for DB readiness, and (3) add README.md with run instructions and verification steps for Low Stock Alert (&lt;= 5) and Race Condition.</a:t>
                      </a:r>
                      <a:endParaRPr lang="en-US" sz="12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200" b="1" dirty="0">
                          <a:solidFill>
                            <a:srgbClr val="1F2937"/>
                          </a:solidFill>
                          <a:latin typeface="Sarabun" pitchFamily="34" charset="0"/>
                          <a:ea typeface="Sarabun" pitchFamily="34" charset="-122"/>
                          <a:cs typeface="Sarabun" pitchFamily="34" charset="-120"/>
                        </a:rPr>
                        <a:t>Iteration Request</a:t>
                      </a:r>
                      <a:endParaRPr lang="en-US" sz="12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a:txBody>
                    <a:bodyPr/>
                    <a:lstStyle/>
                    <a:p>
                      <a:pPr marL="0" indent="0">
                        <a:buNone/>
                      </a:pPr>
                      <a:r>
                        <a:rPr lang="en-US" sz="1200" dirty="0">
                          <a:solidFill>
                            <a:srgbClr val="1F2937"/>
                          </a:solidFill>
                          <a:latin typeface="Sarabun" pitchFamily="34" charset="0"/>
                          <a:ea typeface="Sarabun" pitchFamily="34" charset="-122"/>
                          <a:cs typeface="Sarabun" pitchFamily="34" charset="-120"/>
                        </a:rPr>
                        <a:t>update this in code and zip to again.</a:t>
                      </a:r>
                      <a:endParaRPr lang="en-US" sz="12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extLst>
                  <a:ext uri="{0D108BD9-81ED-4DB2-BD59-A6C34878D82A}">
                    <a16:rowId xmlns:a16="http://schemas.microsoft.com/office/drawing/2014/main" val="10005"/>
                  </a:ext>
                </a:extLst>
              </a:tr>
              <a:tr h="347472">
                <a:tc>
                  <a:txBody>
                    <a:bodyPr/>
                    <a:lstStyle/>
                    <a:p>
                      <a:pPr marL="0" indent="0">
                        <a:buNone/>
                      </a:pPr>
                      <a:r>
                        <a:rPr lang="en-US" sz="1200" b="1" dirty="0">
                          <a:solidFill>
                            <a:srgbClr val="1F2937"/>
                          </a:solidFill>
                          <a:latin typeface="Sarabun" pitchFamily="34" charset="0"/>
                          <a:ea typeface="Sarabun" pitchFamily="34" charset="-122"/>
                          <a:cs typeface="Sarabun" pitchFamily="34" charset="-120"/>
                        </a:rPr>
                        <a:t>Structured UI Prompt</a:t>
                      </a:r>
                      <a:endParaRPr lang="en-US" sz="12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Sarabun" pitchFamily="34" charset="0"/>
                          <a:ea typeface="Sarabun" pitchFamily="34" charset="-122"/>
                          <a:cs typeface="Sarabun" pitchFamily="34" charset="-120"/>
                        </a:rPr>
                        <a:t>[Goal] Update the UI to be modern, responsive, and user-centric using Tailwind CSS; includes dashboard layout, Red/Green/Blue color logic, Sync Status / Transaction ID indicators, concurrency simulation UI, and [Verification] instructions.</a:t>
                      </a:r>
                      <a:endParaRPr lang="en-US" sz="12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buNone/>
                      </a:pPr>
                      <a:r>
                        <a:rPr lang="en-US" sz="1200" b="1" dirty="0">
                          <a:solidFill>
                            <a:srgbClr val="1F2937"/>
                          </a:solidFill>
                          <a:latin typeface="Sarabun" pitchFamily="34" charset="0"/>
                          <a:ea typeface="Sarabun" pitchFamily="34" charset="-122"/>
                          <a:cs typeface="Sarabun" pitchFamily="34" charset="-120"/>
                        </a:rPr>
                        <a:t>Packaging Request</a:t>
                      </a:r>
                      <a:endParaRPr lang="en-US" sz="12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a:txBody>
                    <a:bodyPr/>
                    <a:lstStyle/>
                    <a:p>
                      <a:pPr marL="0" indent="0">
                        <a:buNone/>
                      </a:pPr>
                      <a:r>
                        <a:rPr lang="en-US" sz="1200" dirty="0">
                          <a:solidFill>
                            <a:srgbClr val="1F2937"/>
                          </a:solidFill>
                          <a:latin typeface="Sarabun" pitchFamily="34" charset="0"/>
                          <a:ea typeface="Sarabun" pitchFamily="34" charset="-122"/>
                          <a:cs typeface="Sarabun" pitchFamily="34" charset="-120"/>
                        </a:rPr>
                        <a:t>zip to me.</a:t>
                      </a:r>
                      <a:endParaRPr lang="en-US" sz="12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extLst>
                  <a:ext uri="{0D108BD9-81ED-4DB2-BD59-A6C34878D82A}">
                    <a16:rowId xmlns:a16="http://schemas.microsoft.com/office/drawing/2014/main" val="10007"/>
                  </a:ext>
                </a:extLst>
              </a:tr>
              <a:tr h="347472">
                <a:tc>
                  <a:txBody>
                    <a:bodyPr/>
                    <a:lstStyle/>
                    <a:p>
                      <a:pPr marL="0" indent="0">
                        <a:buNone/>
                      </a:pPr>
                      <a:r>
                        <a:rPr lang="en-US" sz="1200" b="1" dirty="0">
                          <a:solidFill>
                            <a:srgbClr val="1F2937"/>
                          </a:solidFill>
                          <a:latin typeface="Sarabun" pitchFamily="34" charset="0"/>
                          <a:ea typeface="Sarabun" pitchFamily="34" charset="-122"/>
                          <a:cs typeface="Sarabun" pitchFamily="34" charset="-120"/>
                        </a:rPr>
                        <a:t>General Improvement</a:t>
                      </a:r>
                      <a:endParaRPr lang="en-US" sz="12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Sarabun" pitchFamily="34" charset="0"/>
                          <a:ea typeface="Sarabun" pitchFamily="34" charset="-122"/>
                          <a:cs typeface="Sarabun" pitchFamily="34" charset="-120"/>
                        </a:rPr>
                        <a:t>Improve the user interface for easier use.</a:t>
                      </a:r>
                      <a:endParaRPr lang="en-US" sz="12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 4"/>
          <p:cNvSpPr txBox="1"/>
          <p:nvPr/>
        </p:nvSpPr>
        <p:spPr>
          <a:xfrm>
            <a:off x="548640" y="6172200"/>
            <a:ext cx="11094415" cy="457200"/>
          </a:xfrm>
          <a:prstGeom prst="rect">
            <a:avLst/>
          </a:prstGeom>
          <a:noFill/>
          <a:ln/>
        </p:spPr>
        <p:txBody>
          <a:bodyPr wrap="square" lIns="0" tIns="0" rIns="0" bIns="0" rtlCol="0" anchor="t"/>
          <a:lstStyle/>
          <a:p>
            <a:pPr marL="0" indent="0" algn="ctr">
              <a:buNone/>
            </a:pPr>
            <a:r>
              <a:rPr lang="en-US" sz="1200" dirty="0">
                <a:solidFill>
                  <a:srgbClr val="6B7280"/>
                </a:solidFill>
                <a:latin typeface="Sarabun" pitchFamily="34" charset="0"/>
                <a:ea typeface="Sarabun" pitchFamily="34" charset="-122"/>
                <a:cs typeface="Sarabun" pitchFamily="34" charset="-120"/>
              </a:rPr>
              <a:t>ตารางที่ 4.4 รูปแบบชุดคำสั่งของ Context Engineering สำหรับ IMCE01</a:t>
            </a:r>
            <a:endParaRPr lang="en-US" sz="12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4  วิธีการดำเนินงาน</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Spec-Driven Development (SDD)</a:t>
            </a:r>
            <a:endParaRPr lang="en-US" sz="2800" dirty="0"/>
          </a:p>
        </p:txBody>
      </p:sp>
      <p:sp>
        <p:nvSpPr>
          <p:cNvPr id="4" name="Shape 2"/>
          <p:cNvSpPr/>
          <p:nvPr/>
        </p:nvSpPr>
        <p:spPr>
          <a:xfrm>
            <a:off x="9875520" y="512064"/>
            <a:ext cx="822960" cy="292608"/>
          </a:xfrm>
          <a:prstGeom prst="roundRect">
            <a:avLst>
              <a:gd name="adj" fmla="val 50000"/>
            </a:avLst>
          </a:prstGeom>
          <a:solidFill>
            <a:srgbClr val="1FA971"/>
          </a:solidFill>
          <a:ln w="19050">
            <a:solidFill>
              <a:srgbClr val="FFFFFF"/>
            </a:solidFill>
            <a:prstDash val="solid"/>
          </a:ln>
        </p:spPr>
        <p:txBody>
          <a:bodyPr/>
          <a:lstStyle/>
          <a:p>
            <a:endParaRPr lang="en-TH"/>
          </a:p>
        </p:txBody>
      </p:sp>
      <p:sp>
        <p:nvSpPr>
          <p:cNvPr id="5" name="Text 3"/>
          <p:cNvSpPr txBox="1"/>
          <p:nvPr/>
        </p:nvSpPr>
        <p:spPr>
          <a:xfrm>
            <a:off x="9875520" y="512064"/>
            <a:ext cx="82296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SDD</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206240"/>
        </p:xfrm>
        <a:graphic>
          <a:graphicData uri="http://schemas.openxmlformats.org/drawingml/2006/table">
            <a:tbl>
              <a:tblPr/>
              <a:tblGrid>
                <a:gridCol w="12801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5879592">
                  <a:extLst>
                    <a:ext uri="{9D8B030D-6E8A-4147-A177-3AD203B41FA5}">
                      <a16:colId xmlns:a16="http://schemas.microsoft.com/office/drawing/2014/main" val="20002"/>
                    </a:ext>
                  </a:extLst>
                </a:gridCol>
              </a:tblGrid>
              <a:tr h="384048">
                <a:tc>
                  <a:txBody>
                    <a:bodyPr/>
                    <a:lstStyle/>
                    <a:p>
                      <a:pPr marL="0" indent="0" algn="ctr">
                        <a:buNone/>
                      </a:pPr>
                      <a:r>
                        <a:rPr lang="en-US" sz="1200" b="1" dirty="0">
                          <a:solidFill>
                            <a:srgbClr val="FFFFFF"/>
                          </a:solidFill>
                          <a:latin typeface="Sarabun" pitchFamily="34" charset="0"/>
                          <a:ea typeface="Sarabun" pitchFamily="34" charset="-122"/>
                          <a:cs typeface="Sarabun" pitchFamily="34" charset="-120"/>
                        </a:rPr>
                        <a:t>Stage</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FA971"/>
                    </a:solidFill>
                  </a:tcPr>
                </a:tc>
                <a:tc>
                  <a:txBody>
                    <a:bodyPr/>
                    <a:lstStyle/>
                    <a:p>
                      <a:pPr marL="0" indent="0" algn="ctr">
                        <a:buNone/>
                      </a:pPr>
                      <a:r>
                        <a:rPr lang="en-US" sz="1200" b="1" dirty="0">
                          <a:solidFill>
                            <a:srgbClr val="FFFFFF"/>
                          </a:solidFill>
                          <a:latin typeface="Sarabun" pitchFamily="34" charset="0"/>
                          <a:ea typeface="Sarabun" pitchFamily="34" charset="-122"/>
                          <a:cs typeface="Sarabun" pitchFamily="34" charset="-120"/>
                        </a:rPr>
                        <a:t>Slash Command </a:t>
                      </a:r>
                      <a:endParaRPr lang="en-US" sz="1350" dirty="0">
                        <a:latin typeface="Sarabun" charset="0"/>
                        <a:ea typeface="Sarabun" charset="0"/>
                        <a:cs typeface="Sarabun" charset="0"/>
                      </a:endParaRPr>
                    </a:p>
                    <a:p>
                      <a:pPr marL="0" indent="0" algn="ctr">
                        <a:buNone/>
                      </a:pPr>
                      <a:r>
                        <a:rPr lang="en-US" sz="1200" b="1" dirty="0">
                          <a:solidFill>
                            <a:srgbClr val="FFFFFF"/>
                          </a:solidFill>
                          <a:latin typeface="Sarabun" pitchFamily="34" charset="0"/>
                          <a:ea typeface="Sarabun" pitchFamily="34" charset="-122"/>
                          <a:cs typeface="Sarabun" pitchFamily="34" charset="-120"/>
                        </a:rPr>
                        <a:t>(Codex CLI)</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FA971"/>
                    </a:solidFill>
                  </a:tcPr>
                </a:tc>
                <a:tc>
                  <a:txBody>
                    <a:bodyPr/>
                    <a:lstStyle/>
                    <a:p>
                      <a:pPr marL="0" indent="0" algn="l">
                        <a:buNone/>
                      </a:pPr>
                      <a:r>
                        <a:rPr lang="en-US" sz="1200" b="1" dirty="0">
                          <a:solidFill>
                            <a:srgbClr val="FFFFFF"/>
                          </a:solidFill>
                          <a:latin typeface="Sarabun" pitchFamily="34" charset="0"/>
                          <a:ea typeface="Sarabun" pitchFamily="34" charset="-122"/>
                          <a:cs typeface="Sarabun" pitchFamily="34" charset="-120"/>
                        </a:rPr>
                        <a:t>Artifact &amp; Key Content</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FA971"/>
                    </a:solidFill>
                  </a:tcPr>
                </a:tc>
                <a:extLst>
                  <a:ext uri="{0D108BD9-81ED-4DB2-BD59-A6C34878D82A}">
                    <a16:rowId xmlns:a16="http://schemas.microsoft.com/office/drawing/2014/main" val="10000"/>
                  </a:ext>
                </a:extLst>
              </a:tr>
              <a:tr h="868680">
                <a:tc>
                  <a:txBody>
                    <a:bodyPr/>
                    <a:lstStyle/>
                    <a:p>
                      <a:pPr marL="0" indent="0">
                        <a:buNone/>
                      </a:pPr>
                      <a:r>
                        <a:rPr lang="en-US" sz="1100" b="1" dirty="0">
                          <a:solidFill>
                            <a:srgbClr val="1F2937"/>
                          </a:solidFill>
                          <a:latin typeface="Sarabun" pitchFamily="34" charset="0"/>
                          <a:ea typeface="Sarabun" pitchFamily="34" charset="-122"/>
                          <a:cs typeface="Sarabun" pitchFamily="34" charset="-120"/>
                        </a:rPr>
                        <a:t>Constitution</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tc>
                  <a:txBody>
                    <a:bodyPr/>
                    <a:lstStyle/>
                    <a:p>
                      <a:pPr marL="0" indent="0">
                        <a:buNone/>
                      </a:pPr>
                      <a:r>
                        <a:rPr lang="en-US" sz="1100" dirty="0">
                          <a:solidFill>
                            <a:srgbClr val="1F2937"/>
                          </a:solidFill>
                          <a:latin typeface="Sarabun" pitchFamily="34" charset="0"/>
                          <a:ea typeface="Sarabun" pitchFamily="34" charset="-122"/>
                          <a:cs typeface="Sarabun" pitchFamily="34" charset="-120"/>
                        </a:rPr>
                        <a:t>$speckit-constitution Create principles focused on code quality,</a:t>
                      </a:r>
                      <a:endParaRPr lang="en-US" sz="1350" dirty="0">
                        <a:latin typeface="Sarabun" charset="0"/>
                        <a:ea typeface="Sarabun" charset="0"/>
                        <a:cs typeface="Sarabun" charset="0"/>
                      </a:endParaRPr>
                    </a:p>
                    <a:p>
                      <a:pPr marL="0" indent="0">
                        <a:buNone/>
                      </a:pPr>
                      <a:r>
                        <a:rPr lang="en-US" sz="1100" dirty="0">
                          <a:solidFill>
                            <a:srgbClr val="1F2937"/>
                          </a:solidFill>
                          <a:latin typeface="Sarabun" pitchFamily="34" charset="0"/>
                          <a:ea typeface="Sarabun" pitchFamily="34" charset="-122"/>
                          <a:cs typeface="Sarabun" pitchFamily="34" charset="-120"/>
                        </a:rPr>
                        <a:t>testing standards, user experience consistency,</a:t>
                      </a:r>
                      <a:endParaRPr lang="en-US" sz="1350" dirty="0">
                        <a:latin typeface="Sarabun" charset="0"/>
                        <a:ea typeface="Sarabun" charset="0"/>
                        <a:cs typeface="Sarabun" charset="0"/>
                      </a:endParaRPr>
                    </a:p>
                    <a:p>
                      <a:pPr marL="0" indent="0">
                        <a:buNone/>
                      </a:pPr>
                      <a:r>
                        <a:rPr lang="en-US" sz="1100" dirty="0">
                          <a:solidFill>
                            <a:srgbClr val="1F2937"/>
                          </a:solidFill>
                          <a:latin typeface="Sarabun" pitchFamily="34" charset="0"/>
                          <a:ea typeface="Sarabun" pitchFamily="34" charset="-122"/>
                          <a:cs typeface="Sarabun" pitchFamily="34" charset="-120"/>
                        </a:rPr>
                        <a:t>and performance requirements</a:t>
                      </a:r>
                      <a:endParaRPr lang="en-US" sz="1350" dirty="0">
                        <a:latin typeface="Sarabun" charset="0"/>
                        <a:ea typeface="Sarabun" charset="0"/>
                        <a:cs typeface="Sarabun" charset="0"/>
                      </a:endParaRPr>
                    </a:p>
                    <a:p>
                      <a:pPr marL="0" indent="0">
                        <a:buNone/>
                      </a:pPr>
                      <a:r>
                        <a:rPr lang="en-US" sz="1100" dirty="0">
                          <a:solidFill>
                            <a:srgbClr val="1F2937"/>
                          </a:solidFill>
                          <a:latin typeface="Sarabun" pitchFamily="34" charset="0"/>
                          <a:ea typeface="Sarabun" pitchFamily="34" charset="-122"/>
                          <a:cs typeface="Sarabun" pitchFamily="34" charset="-120"/>
                        </a:rPr>
                        <a:t>Stack: Node.js + Express (backend), React ^18.3.1, PostgreSQL (database)</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tc>
                  <a:txBody>
                    <a:bodyPr/>
                    <a:lstStyle/>
                    <a:p>
                      <a:pPr marL="0" indent="0">
                        <a:buNone/>
                      </a:pPr>
                      <a:r>
                        <a:rPr lang="en-US" sz="1100" dirty="0">
                          <a:solidFill>
                            <a:srgbClr val="1F2937"/>
                          </a:solidFill>
                          <a:latin typeface="Sarabun" pitchFamily="34" charset="0"/>
                          <a:ea typeface="Sarabun" pitchFamily="34" charset="-122"/>
                          <a:cs typeface="Sarabun" pitchFamily="34" charset="-120"/>
                        </a:rPr>
                        <a:t>constitution.md — v1.0.0; 4 principles: (I) Code Quality &amp; Maintainability; (II) Testing Standards (NON-NEGOTIABLE: TDD, Unit/Integration/Concurrency/Boundary-Value); (III) UX Consistency ({status, data, error} envelope); (IV) Performance (200 ms p95); all templates aligned</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extLst>
                  <a:ext uri="{0D108BD9-81ED-4DB2-BD59-A6C34878D82A}">
                    <a16:rowId xmlns:a16="http://schemas.microsoft.com/office/drawing/2014/main" val="10001"/>
                  </a:ext>
                </a:extLst>
              </a:tr>
              <a:tr h="411480">
                <a:tc>
                  <a:txBody>
                    <a:bodyPr/>
                    <a:lstStyle/>
                    <a:p>
                      <a:pPr marL="0" indent="0">
                        <a:buNone/>
                      </a:pPr>
                      <a:r>
                        <a:rPr lang="en-US" sz="1100" b="1" dirty="0">
                          <a:solidFill>
                            <a:srgbClr val="1F2937"/>
                          </a:solidFill>
                          <a:latin typeface="Sarabun" pitchFamily="34" charset="0"/>
                          <a:ea typeface="Sarabun" pitchFamily="34" charset="-122"/>
                          <a:cs typeface="Sarabun" pitchFamily="34" charset="-120"/>
                        </a:rPr>
                        <a:t>Scenario</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Sarabun" pitchFamily="34" charset="0"/>
                          <a:ea typeface="Sarabun" pitchFamily="34" charset="-122"/>
                          <a:cs typeface="Sarabun" pitchFamily="34" charset="-120"/>
                        </a:rPr>
                        <a:t>-</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Sarabun" pitchFamily="34" charset="0"/>
                          <a:ea typeface="Sarabun" pitchFamily="34" charset="-122"/>
                          <a:cs typeface="Sarabun" pitchFamily="34" charset="-120"/>
                        </a:rPr>
                        <a:t>scenarios_inventory.md — 3 acceptance scenarios (deduct, alert, restore) + 4 edge cases (race condition, atomicity, overselling, boundary-value)</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100" b="1" dirty="0">
                          <a:solidFill>
                            <a:srgbClr val="1F2937"/>
                          </a:solidFill>
                          <a:latin typeface="Sarabun" pitchFamily="34" charset="0"/>
                          <a:ea typeface="Sarabun" pitchFamily="34" charset="-122"/>
                          <a:cs typeface="Sarabun" pitchFamily="34" charset="-120"/>
                        </a:rPr>
                        <a:t>Spec</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tc>
                  <a:txBody>
                    <a:bodyPr/>
                    <a:lstStyle/>
                    <a:p>
                      <a:pPr marL="0" indent="0">
                        <a:buNone/>
                      </a:pPr>
                      <a:r>
                        <a:rPr lang="en-US" sz="1100" dirty="0">
                          <a:solidFill>
                            <a:srgbClr val="1F2937"/>
                          </a:solidFill>
                          <a:latin typeface="Sarabun" pitchFamily="34" charset="0"/>
                          <a:ea typeface="Sarabun" pitchFamily="34" charset="-122"/>
                          <a:cs typeface="Sarabun" pitchFamily="34" charset="-120"/>
                        </a:rPr>
                        <a:t>$speckit-specify "Create a specification based on the requirements in scenarios_inventory.md"</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tc>
                  <a:txBody>
                    <a:bodyPr/>
                    <a:lstStyle/>
                    <a:p>
                      <a:pPr marL="0" indent="0">
                        <a:buNone/>
                      </a:pPr>
                      <a:r>
                        <a:rPr lang="en-US" sz="1100" dirty="0">
                          <a:solidFill>
                            <a:srgbClr val="1F2937"/>
                          </a:solidFill>
                          <a:latin typeface="Sarabun" pitchFamily="34" charset="0"/>
                          <a:ea typeface="Sarabun" pitchFamily="34" charset="-122"/>
                          <a:cs typeface="Sarabun" pitchFamily="34" charset="-120"/>
                        </a:rPr>
                        <a:t>spec.md — 10 functional requirements and 6 success criteria, measurable &amp; technology-agnostic; 3 user stories each with independent acceptance test</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extLst>
                  <a:ext uri="{0D108BD9-81ED-4DB2-BD59-A6C34878D82A}">
                    <a16:rowId xmlns:a16="http://schemas.microsoft.com/office/drawing/2014/main" val="10003"/>
                  </a:ext>
                </a:extLst>
              </a:tr>
              <a:tr h="566928">
                <a:tc>
                  <a:txBody>
                    <a:bodyPr/>
                    <a:lstStyle/>
                    <a:p>
                      <a:pPr marL="0" indent="0">
                        <a:buNone/>
                      </a:pPr>
                      <a:r>
                        <a:rPr lang="en-US" sz="1100" b="1" dirty="0">
                          <a:solidFill>
                            <a:srgbClr val="1F2937"/>
                          </a:solidFill>
                          <a:latin typeface="Sarabun" pitchFamily="34" charset="0"/>
                          <a:ea typeface="Sarabun" pitchFamily="34" charset="-122"/>
                          <a:cs typeface="Sarabun" pitchFamily="34" charset="-120"/>
                        </a:rPr>
                        <a:t>Plan</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Sarabun" pitchFamily="34" charset="0"/>
                          <a:ea typeface="Sarabun" pitchFamily="34" charset="-122"/>
                          <a:cs typeface="Sarabun" pitchFamily="34" charset="-120"/>
                        </a:rPr>
                        <a:t>$speckit-plan</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Sarabun" pitchFamily="34" charset="0"/>
                          <a:ea typeface="Sarabun" pitchFamily="34" charset="-122"/>
                          <a:cs typeface="Sarabun" pitchFamily="34" charset="-120"/>
                        </a:rPr>
                        <a:t>plan.md — Node.js (TypeScript), Express ^4.19.2, React ^18.3.1, pg (PostgreSQL); 3 planning phases (research, design, implementation); constitution gate checks (quality / testing / UX / performance)</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100" b="1" dirty="0">
                          <a:solidFill>
                            <a:srgbClr val="1F2937"/>
                          </a:solidFill>
                          <a:latin typeface="Sarabun" pitchFamily="34" charset="0"/>
                          <a:ea typeface="Sarabun" pitchFamily="34" charset="-122"/>
                          <a:cs typeface="Sarabun" pitchFamily="34" charset="-120"/>
                        </a:rPr>
                        <a:t>Task</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tc>
                  <a:txBody>
                    <a:bodyPr/>
                    <a:lstStyle/>
                    <a:p>
                      <a:pPr marL="0" indent="0">
                        <a:buNone/>
                      </a:pPr>
                      <a:r>
                        <a:rPr lang="en-US" sz="1100" dirty="0">
                          <a:solidFill>
                            <a:srgbClr val="1F2937"/>
                          </a:solidFill>
                          <a:latin typeface="Sarabun" pitchFamily="34" charset="0"/>
                          <a:ea typeface="Sarabun" pitchFamily="34" charset="-122"/>
                          <a:cs typeface="Sarabun" pitchFamily="34" charset="-120"/>
                        </a:rPr>
                        <a:t>$speckit-tasks</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tc>
                  <a:txBody>
                    <a:bodyPr/>
                    <a:lstStyle/>
                    <a:p>
                      <a:pPr marL="0" indent="0">
                        <a:buNone/>
                      </a:pPr>
                      <a:r>
                        <a:rPr lang="en-US" sz="1100" dirty="0">
                          <a:solidFill>
                            <a:srgbClr val="1F2937"/>
                          </a:solidFill>
                          <a:latin typeface="Sarabun" pitchFamily="34" charset="0"/>
                          <a:ea typeface="Sarabun" pitchFamily="34" charset="-122"/>
                          <a:cs typeface="Sarabun" pitchFamily="34" charset="-120"/>
                        </a:rPr>
                        <a:t>tasks.md — decomposed the plan into 38 explicitly tracked tasks organized across six phases.</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extLst>
                  <a:ext uri="{0D108BD9-81ED-4DB2-BD59-A6C34878D82A}">
                    <a16:rowId xmlns:a16="http://schemas.microsoft.com/office/drawing/2014/main" val="10005"/>
                  </a:ext>
                </a:extLst>
              </a:tr>
              <a:tr h="731520">
                <a:tc>
                  <a:txBody>
                    <a:bodyPr/>
                    <a:lstStyle/>
                    <a:p>
                      <a:pPr marL="0" indent="0">
                        <a:buNone/>
                      </a:pPr>
                      <a:r>
                        <a:rPr lang="en-US" sz="1100" b="1" dirty="0">
                          <a:solidFill>
                            <a:srgbClr val="1F2937"/>
                          </a:solidFill>
                          <a:latin typeface="Sarabun" pitchFamily="34" charset="0"/>
                          <a:ea typeface="Sarabun" pitchFamily="34" charset="-122"/>
                          <a:cs typeface="Sarabun" pitchFamily="34" charset="-120"/>
                        </a:rPr>
                        <a:t>Implement</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Sarabun" pitchFamily="34" charset="0"/>
                          <a:ea typeface="Sarabun" pitchFamily="34" charset="-122"/>
                          <a:cs typeface="Sarabun" pitchFamily="34" charset="-120"/>
                        </a:rPr>
                        <a:t>$speckit-implement</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Sarabun" pitchFamily="34" charset="0"/>
                          <a:ea typeface="Sarabun" pitchFamily="34" charset="-122"/>
                          <a:cs typeface="Sarabun" pitchFamily="34" charset="-120"/>
                        </a:rPr>
                        <a:t>tasks.md + src/ — 38 tasks all [X] completed; service layer (inventoryService.ts); Express endpoints (POST /purchase, POST /cancel); Vitest tests; 2 endpoints (POST /inventory/purchase, POST /inventory/cancel); 10 test functions across 11 files (contract/integration/unit); TDD throughout.</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Text 4"/>
          <p:cNvSpPr txBox="1"/>
          <p:nvPr/>
        </p:nvSpPr>
        <p:spPr>
          <a:xfrm>
            <a:off x="548640" y="6217920"/>
            <a:ext cx="11094415" cy="457200"/>
          </a:xfrm>
          <a:prstGeom prst="rect">
            <a:avLst/>
          </a:prstGeom>
          <a:noFill/>
          <a:ln/>
        </p:spPr>
        <p:txBody>
          <a:bodyPr wrap="square" lIns="0" tIns="0" rIns="0" bIns="0" rtlCol="0" anchor="t"/>
          <a:lstStyle/>
          <a:p>
            <a:pPr marL="0" indent="0" algn="ctr">
              <a:buNone/>
            </a:pPr>
            <a:r>
              <a:rPr lang="en-US" sz="1200" dirty="0">
                <a:solidFill>
                  <a:srgbClr val="6B7280"/>
                </a:solidFill>
                <a:latin typeface="Sarabun" pitchFamily="34" charset="0"/>
                <a:ea typeface="Sarabun" pitchFamily="34" charset="-122"/>
                <a:cs typeface="Sarabun" pitchFamily="34" charset="-120"/>
              </a:rPr>
              <a:t>ตารางที่ 4.5 ขั้นตอน Workflow การสร้างซอร์สโค้ดของเวอร์ชัน IMSD01</a:t>
            </a:r>
            <a:endParaRPr lang="en-US" sz="12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4  วิธีการดำเนินงาน</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Spec-Driven Development: เริ่มจาก Scenario</a:t>
            </a:r>
            <a:endParaRPr lang="en-US" sz="2800" dirty="0"/>
          </a:p>
        </p:txBody>
      </p:sp>
      <p:sp>
        <p:nvSpPr>
          <p:cNvPr id="4" name="Shape 2"/>
          <p:cNvSpPr/>
          <p:nvPr/>
        </p:nvSpPr>
        <p:spPr>
          <a:xfrm>
            <a:off x="9875520" y="512064"/>
            <a:ext cx="822960" cy="292608"/>
          </a:xfrm>
          <a:prstGeom prst="roundRect">
            <a:avLst>
              <a:gd name="adj" fmla="val 50000"/>
            </a:avLst>
          </a:prstGeom>
          <a:solidFill>
            <a:srgbClr val="1FA971"/>
          </a:solidFill>
          <a:ln w="19050">
            <a:solidFill>
              <a:srgbClr val="FFFFFF"/>
            </a:solidFill>
            <a:prstDash val="solid"/>
          </a:ln>
        </p:spPr>
        <p:txBody>
          <a:bodyPr/>
          <a:lstStyle/>
          <a:p>
            <a:endParaRPr lang="en-TH"/>
          </a:p>
        </p:txBody>
      </p:sp>
      <p:sp>
        <p:nvSpPr>
          <p:cNvPr id="5" name="Text 3"/>
          <p:cNvSpPr txBox="1"/>
          <p:nvPr/>
        </p:nvSpPr>
        <p:spPr>
          <a:xfrm>
            <a:off x="9875520" y="512064"/>
            <a:ext cx="82296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SDD</a:t>
            </a:r>
            <a:endParaRPr lang="en-US" sz="1200" dirty="0"/>
          </a:p>
        </p:txBody>
      </p:sp>
      <p:sp>
        <p:nvSpPr>
          <p:cNvPr id="6" name="Shape 4"/>
          <p:cNvSpPr/>
          <p:nvPr/>
        </p:nvSpPr>
        <p:spPr>
          <a:xfrm>
            <a:off x="548640" y="2742201"/>
            <a:ext cx="3669020" cy="3207799"/>
          </a:xfrm>
          <a:prstGeom prst="roundRect">
            <a:avLst>
              <a:gd name="adj" fmla="val 1613"/>
            </a:avLst>
          </a:prstGeom>
          <a:solidFill>
            <a:srgbClr val="FFFFFF"/>
          </a:solidFill>
          <a:ln w="12700">
            <a:solidFill>
              <a:srgbClr val="D5DFD8"/>
            </a:solidFill>
            <a:prstDash val="solid"/>
          </a:ln>
        </p:spPr>
        <p:txBody>
          <a:bodyPr/>
          <a:lstStyle/>
          <a:p>
            <a:endParaRPr lang="en-TH"/>
          </a:p>
        </p:txBody>
      </p:sp>
      <p:pic>
        <p:nvPicPr>
          <p:cNvPr id="7" name="Image 0" descr="figure 4"/>
          <p:cNvPicPr>
            <a:picLocks noChangeAspect="1"/>
          </p:cNvPicPr>
          <p:nvPr/>
        </p:nvPicPr>
        <p:blipFill>
          <a:blip r:embed="rId3"/>
          <a:stretch>
            <a:fillRect/>
          </a:stretch>
        </p:blipFill>
        <p:spPr>
          <a:xfrm>
            <a:off x="621792" y="2815353"/>
            <a:ext cx="3522716" cy="3061495"/>
          </a:xfrm>
          <a:prstGeom prst="rect">
            <a:avLst/>
          </a:prstGeom>
        </p:spPr>
      </p:pic>
      <p:sp>
        <p:nvSpPr>
          <p:cNvPr id="8" name="Shape 5"/>
          <p:cNvSpPr/>
          <p:nvPr/>
        </p:nvSpPr>
        <p:spPr>
          <a:xfrm>
            <a:off x="4367660" y="2742201"/>
            <a:ext cx="3403572" cy="3207799"/>
          </a:xfrm>
          <a:prstGeom prst="roundRect">
            <a:avLst>
              <a:gd name="adj" fmla="val 1613"/>
            </a:avLst>
          </a:prstGeom>
          <a:solidFill>
            <a:srgbClr val="FFFFFF"/>
          </a:solidFill>
          <a:ln w="12700">
            <a:solidFill>
              <a:srgbClr val="D5DFD8"/>
            </a:solidFill>
            <a:prstDash val="solid"/>
          </a:ln>
        </p:spPr>
        <p:txBody>
          <a:bodyPr/>
          <a:lstStyle/>
          <a:p>
            <a:endParaRPr lang="en-TH"/>
          </a:p>
        </p:txBody>
      </p:sp>
      <p:pic>
        <p:nvPicPr>
          <p:cNvPr id="9" name="Image 1" descr="figure 5"/>
          <p:cNvPicPr>
            <a:picLocks noChangeAspect="1"/>
          </p:cNvPicPr>
          <p:nvPr/>
        </p:nvPicPr>
        <p:blipFill>
          <a:blip r:embed="rId4"/>
          <a:stretch>
            <a:fillRect/>
          </a:stretch>
        </p:blipFill>
        <p:spPr>
          <a:xfrm>
            <a:off x="4440812" y="2815353"/>
            <a:ext cx="3257268" cy="3061495"/>
          </a:xfrm>
          <a:prstGeom prst="rect">
            <a:avLst/>
          </a:prstGeom>
        </p:spPr>
      </p:pic>
      <p:sp>
        <p:nvSpPr>
          <p:cNvPr id="10" name="Text 6"/>
          <p:cNvSpPr txBox="1"/>
          <p:nvPr/>
        </p:nvSpPr>
        <p:spPr>
          <a:xfrm>
            <a:off x="548640" y="5989320"/>
            <a:ext cx="11094415" cy="457200"/>
          </a:xfrm>
          <a:prstGeom prst="rect">
            <a:avLst/>
          </a:prstGeom>
          <a:noFill/>
          <a:ln/>
        </p:spPr>
        <p:txBody>
          <a:bodyPr wrap="square" lIns="0" tIns="0" rIns="0" bIns="0" rtlCol="0" anchor="t"/>
          <a:lstStyle/>
          <a:p>
            <a:pPr marL="0" indent="0" algn="ctr">
              <a:buNone/>
            </a:pPr>
            <a:r>
              <a:rPr lang="en-US" sz="1200" dirty="0">
                <a:solidFill>
                  <a:srgbClr val="6B7280"/>
                </a:solidFill>
                <a:latin typeface="Sarabun" pitchFamily="34" charset="0"/>
                <a:ea typeface="Sarabun" pitchFamily="34" charset="-122"/>
                <a:cs typeface="Sarabun" pitchFamily="34" charset="-120"/>
              </a:rPr>
              <a:t>รูปที่ 4.3 Test Scenarios ของระบบ IMSD01 (acceptance scenarios และ edge cases)</a:t>
            </a:r>
            <a:endParaRPr lang="en-US" sz="12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17</a:t>
            </a:fld>
            <a:endParaRPr lang="en-US"/>
          </a:p>
        </p:txBody>
      </p:sp>
      <p:pic>
        <p:nvPicPr>
          <p:cNvPr id="26" name="sdd pipeline" descr="3.png"/>
          <p:cNvPicPr>
            <a:picLocks noChangeAspect="1"/>
          </p:cNvPicPr>
          <p:nvPr/>
        </p:nvPicPr>
        <p:blipFill>
          <a:blip r:embed="rId5"/>
          <a:stretch>
            <a:fillRect/>
          </a:stretch>
        </p:blipFill>
        <p:spPr>
          <a:xfrm>
            <a:off x="2096000" y="1210000"/>
            <a:ext cx="8000000" cy="912201"/>
          </a:xfrm>
          <a:prstGeom prst="rect">
            <a:avLst/>
          </a:prstGeom>
        </p:spPr>
      </p:pic>
      <p:cxnSp>
        <p:nvCxnSpPr>
          <p:cNvPr id="27" name="scenario arrow"/>
          <p:cNvCxnSpPr/>
          <p:nvPr/>
        </p:nvCxnSpPr>
        <p:spPr>
          <a:xfrm flipV="1">
            <a:off x="5056000" y="2162201"/>
            <a:ext cx="0" cy="480000"/>
          </a:xfrm>
          <a:prstGeom prst="line">
            <a:avLst/>
          </a:prstGeom>
          <a:ln w="31750">
            <a:solidFill>
              <a:srgbClr val="E5393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scenario label"/>
          <p:cNvSpPr txBox="1"/>
          <p:nvPr/>
        </p:nvSpPr>
        <p:spPr>
          <a:xfrm>
            <a:off x="5176000" y="2312201"/>
            <a:ext cx="1600000" cy="300000"/>
          </a:xfrm>
          <a:prstGeom prst="rect">
            <a:avLst/>
          </a:prstGeom>
          <a:noFill/>
        </p:spPr>
        <p:txBody>
          <a:bodyPr wrap="none" lIns="0" tIns="0" rIns="0" bIns="0">
            <a:spAutoFit/>
          </a:bodyPr>
          <a:lstStyle/>
          <a:p>
            <a:pPr>
              <a:spcAft>
                <a:spcPts val="0"/>
              </a:spcAft>
            </a:pPr>
            <a:r>
              <a:rPr sz="1600" b="1">
                <a:solidFill>
                  <a:srgbClr val="E53935"/>
                </a:solidFill>
                <a:latin typeface="Sarabun"/>
                <a:ea typeface="Sarabun"/>
                <a:cs typeface="Sarabun"/>
              </a:rPr>
              <a:t>Scenario</a:t>
            </a:r>
          </a:p>
        </p:txBody>
      </p:sp>
      <p:sp>
        <p:nvSpPr>
          <p:cNvPr id="11" name="scenario card"/>
          <p:cNvSpPr/>
          <p:nvPr/>
        </p:nvSpPr>
        <p:spPr>
          <a:xfrm>
            <a:off x="7921232" y="2742201"/>
            <a:ext cx="3721823" cy="3207799"/>
          </a:xfrm>
          <a:prstGeom prst="roundRect">
            <a:avLst>
              <a:gd name="adj" fmla="val 1613"/>
            </a:avLst>
          </a:prstGeom>
          <a:solidFill>
            <a:srgbClr val="FFFFFF"/>
          </a:solidFill>
          <a:ln w="12700">
            <a:solidFill>
              <a:srgbClr val="D5DFD8"/>
            </a:solidFill>
            <a:prstDash val="solid"/>
          </a:ln>
        </p:spPr>
        <p:txBody>
          <a:bodyPr/>
          <a:lstStyle/>
          <a:p>
            <a:endParaRPr lang="en-TH"/>
          </a:p>
        </p:txBody>
      </p:sp>
      <p:sp>
        <p:nvSpPr>
          <p:cNvPr id="29" name="scenario text"/>
          <p:cNvSpPr txBox="1"/>
          <p:nvPr/>
        </p:nvSpPr>
        <p:spPr>
          <a:xfrm>
            <a:off x="8121232" y="2932201"/>
            <a:ext cx="3321823" cy="2907799"/>
          </a:xfrm>
          <a:prstGeom prst="rect">
            <a:avLst/>
          </a:prstGeom>
          <a:noFill/>
        </p:spPr>
        <p:txBody>
          <a:bodyPr wrap="square" lIns="0" tIns="0" rIns="0" bIns="0">
            <a:spAutoFit/>
          </a:bodyPr>
          <a:lstStyle/>
          <a:p>
            <a:pPr>
              <a:spcAft>
                <a:spcPts val="600"/>
              </a:spcAft>
            </a:pPr>
            <a:r>
              <a:rPr sz="1400" b="1">
                <a:solidFill>
                  <a:srgbClr val="1C5739"/>
                </a:solidFill>
                <a:latin typeface="Sarabun"/>
                <a:ea typeface="Sarabun"/>
                <a:cs typeface="Sarabun"/>
              </a:rPr>
              <a:t>Scenario คืออะไร</a:t>
            </a:r>
          </a:p>
          <a:p>
            <a:pPr marL="128016" indent="-128016">
              <a:spcAft>
                <a:spcPts val="500"/>
              </a:spcAft>
              <a:buChar char="•"/>
            </a:pPr>
            <a:r>
              <a:rPr sz="1200" b="1">
                <a:solidFill>
                  <a:srgbClr val="1F2937"/>
                </a:solidFill>
                <a:latin typeface="Sarabun"/>
                <a:ea typeface="Sarabun"/>
                <a:cs typeface="Sarabun"/>
              </a:rPr>
              <a:t>Acceptance Scenarios: </a:t>
            </a:r>
            <a:r>
              <a:rPr sz="1200" b="0">
                <a:solidFill>
                  <a:srgbClr val="1F2937"/>
                </a:solidFill>
                <a:latin typeface="Sarabun"/>
                <a:ea typeface="Sarabun"/>
                <a:cs typeface="Sarabun"/>
              </a:rPr>
              <a:t>สถานการณ์ปกติ 3 แบบ ได้แก่ ตัดสต็อก, แจ้งเตือนสินค้าใกล้หมด, คืนสต็อก</a:t>
            </a:r>
          </a:p>
          <a:p>
            <a:pPr marL="128016" indent="-128016">
              <a:spcAft>
                <a:spcPts val="500"/>
              </a:spcAft>
              <a:buChar char="•"/>
            </a:pPr>
            <a:r>
              <a:rPr sz="1200" b="1">
                <a:solidFill>
                  <a:srgbClr val="1F2937"/>
                </a:solidFill>
                <a:latin typeface="Sarabun"/>
                <a:ea typeface="Sarabun"/>
                <a:cs typeface="Sarabun"/>
              </a:rPr>
              <a:t>Edge Cases: </a:t>
            </a:r>
            <a:r>
              <a:rPr sz="1200" b="0">
                <a:solidFill>
                  <a:srgbClr val="1F2937"/>
                </a:solidFill>
                <a:latin typeface="Sarabun"/>
                <a:ea typeface="Sarabun"/>
                <a:cs typeface="Sarabun"/>
              </a:rPr>
              <a:t>4 กรณี ได้แก่ Race Condition, Transaction Atomicity, Overselling, Boundary Value</a:t>
            </a:r>
          </a:p>
          <a:p>
            <a:pPr marL="128016" indent="-128016">
              <a:spcAft>
                <a:spcPts val="500"/>
              </a:spcAft>
              <a:buChar char="•"/>
            </a:pPr>
            <a:r>
              <a:rPr sz="1200" b="0">
                <a:solidFill>
                  <a:srgbClr val="1F2937"/>
                </a:solidFill>
                <a:latin typeface="Sarabun"/>
                <a:ea typeface="Sarabun"/>
                <a:cs typeface="Sarabun"/>
              </a:rPr>
              <a:t>ทุกกลยุทธ์ใช้ Scenario ชุดเดียวกันเป็นอินพุต และใช้เป็นเกณฑ์ตัดสินผลทดสอบ</a:t>
            </a:r>
          </a:p>
          <a:p>
            <a:pPr marL="128016" indent="-128016">
              <a:spcAft>
                <a:spcPts val="0"/>
              </a:spcAft>
              <a:buChar char="•"/>
            </a:pPr>
            <a:r>
              <a:rPr sz="1200" b="0">
                <a:solidFill>
                  <a:srgbClr val="1F2937"/>
                </a:solidFill>
                <a:latin typeface="Sarabun"/>
                <a:ea typeface="Sarabun"/>
                <a:cs typeface="Sarabun"/>
              </a:rPr>
              <a:t>ใน SDD ไฟล์นี้เข้าสู่ขั้น Spec โดยตรง</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4  วิธีการดำเนินงาน</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การเปรียบเทียบลักษณะของกลยุทธ์</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4242816"/>
        </p:xfrm>
        <a:graphic>
          <a:graphicData uri="http://schemas.openxmlformats.org/drawingml/2006/table">
            <a:tbl>
              <a:tblPr/>
              <a:tblGrid>
                <a:gridCol w="21031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047695">
                  <a:extLst>
                    <a:ext uri="{9D8B030D-6E8A-4147-A177-3AD203B41FA5}">
                      <a16:colId xmlns:a16="http://schemas.microsoft.com/office/drawing/2014/main" val="20003"/>
                    </a:ext>
                  </a:extLst>
                </a:gridCol>
              </a:tblGrid>
              <a:tr h="530352">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Characteristic</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Basic Prompting (BP)</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4572E"/>
                    </a:solidFill>
                  </a:tcPr>
                </a:tc>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Context Engineering (CE)</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2F80ED"/>
                    </a:solidFill>
                  </a:tcPr>
                </a:tc>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Spec-Driven Dev (SDD)</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FA971"/>
                    </a:solidFill>
                  </a:tcPr>
                </a:tc>
                <a:extLst>
                  <a:ext uri="{0D108BD9-81ED-4DB2-BD59-A6C34878D82A}">
                    <a16:rowId xmlns:a16="http://schemas.microsoft.com/office/drawing/2014/main" val="10000"/>
                  </a:ext>
                </a:extLst>
              </a:tr>
              <a:tr h="530352">
                <a:tc>
                  <a:txBody>
                    <a:bodyPr/>
                    <a:lstStyle/>
                    <a:p>
                      <a:pPr marL="0" indent="0">
                        <a:buNone/>
                      </a:pPr>
                      <a:r>
                        <a:rPr lang="en-US" sz="1400" b="1" dirty="0">
                          <a:solidFill>
                            <a:srgbClr val="1F2937"/>
                          </a:solidFill>
                          <a:latin typeface="Sarabun" pitchFamily="34" charset="0"/>
                          <a:ea typeface="Sarabun" pitchFamily="34" charset="-122"/>
                          <a:cs typeface="Sarabun" pitchFamily="34" charset="-120"/>
                        </a:rPr>
                        <a:t>Tone</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EF3EF"/>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Informal, conversational</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Formal, structured sections</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Declarative, policy-oriented</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extLst>
                  <a:ext uri="{0D108BD9-81ED-4DB2-BD59-A6C34878D82A}">
                    <a16:rowId xmlns:a16="http://schemas.microsoft.com/office/drawing/2014/main" val="10001"/>
                  </a:ext>
                </a:extLst>
              </a:tr>
              <a:tr h="530352">
                <a:tc>
                  <a:txBody>
                    <a:bodyPr/>
                    <a:lstStyle/>
                    <a:p>
                      <a:pPr marL="0" indent="0">
                        <a:buNone/>
                      </a:pPr>
                      <a:r>
                        <a:rPr lang="en-US" sz="1400" b="1" dirty="0">
                          <a:solidFill>
                            <a:srgbClr val="1F2937"/>
                          </a:solidFill>
                          <a:latin typeface="Sarabun" pitchFamily="34" charset="0"/>
                          <a:ea typeface="Sarabun" pitchFamily="34" charset="-122"/>
                          <a:cs typeface="Sarabun" pitchFamily="34" charset="-120"/>
                        </a:rPr>
                        <a:t>Prompt length</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EF3EF"/>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85–266 words</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124–341 words</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Multi-document package (*.md)</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buNone/>
                      </a:pPr>
                      <a:r>
                        <a:rPr lang="en-US" sz="1400" b="1" dirty="0">
                          <a:solidFill>
                            <a:srgbClr val="1F2937"/>
                          </a:solidFill>
                          <a:latin typeface="Sarabun" pitchFamily="34" charset="0"/>
                          <a:ea typeface="Sarabun" pitchFamily="34" charset="-122"/>
                          <a:cs typeface="Sarabun" pitchFamily="34" charset="-120"/>
                        </a:rPr>
                        <a:t>Role assignment</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EF3EF"/>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Explicit (“Act as…”)</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Implicit via document structure</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extLst>
                  <a:ext uri="{0D108BD9-81ED-4DB2-BD59-A6C34878D82A}">
                    <a16:rowId xmlns:a16="http://schemas.microsoft.com/office/drawing/2014/main" val="10003"/>
                  </a:ext>
                </a:extLst>
              </a:tr>
              <a:tr h="530352">
                <a:tc>
                  <a:txBody>
                    <a:bodyPr/>
                    <a:lstStyle/>
                    <a:p>
                      <a:pPr marL="0" indent="0">
                        <a:buNone/>
                      </a:pPr>
                      <a:r>
                        <a:rPr lang="en-US" sz="1400" b="1" dirty="0">
                          <a:solidFill>
                            <a:srgbClr val="1F2937"/>
                          </a:solidFill>
                          <a:latin typeface="Sarabun" pitchFamily="34" charset="0"/>
                          <a:ea typeface="Sarabun" pitchFamily="34" charset="-122"/>
                          <a:cs typeface="Sarabun" pitchFamily="34" charset="-120"/>
                        </a:rPr>
                        <a:t>Tech spec.</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EF3EF"/>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General (Node.js, React)</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Pinned versions (React ^18.3.1)</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Defined in specification context</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0352">
                <a:tc>
                  <a:txBody>
                    <a:bodyPr/>
                    <a:lstStyle/>
                    <a:p>
                      <a:pPr marL="0" indent="0">
                        <a:buNone/>
                      </a:pPr>
                      <a:r>
                        <a:rPr lang="en-US" sz="1400" b="1" dirty="0">
                          <a:solidFill>
                            <a:srgbClr val="1F2937"/>
                          </a:solidFill>
                          <a:latin typeface="Sarabun" pitchFamily="34" charset="0"/>
                          <a:ea typeface="Sarabun" pitchFamily="34" charset="-122"/>
                          <a:cs typeface="Sarabun" pitchFamily="34" charset="-120"/>
                        </a:rPr>
                        <a:t>Edge cases</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EF3EF"/>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Ad hoc, via follow-up turns</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Pre-specified with technical terms</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Formalized FRs with traceability</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extLst>
                  <a:ext uri="{0D108BD9-81ED-4DB2-BD59-A6C34878D82A}">
                    <a16:rowId xmlns:a16="http://schemas.microsoft.com/office/drawing/2014/main" val="10005"/>
                  </a:ext>
                </a:extLst>
              </a:tr>
              <a:tr h="530352">
                <a:tc>
                  <a:txBody>
                    <a:bodyPr/>
                    <a:lstStyle/>
                    <a:p>
                      <a:pPr marL="0" indent="0">
                        <a:buNone/>
                      </a:pPr>
                      <a:r>
                        <a:rPr lang="en-US" sz="1400" b="1" dirty="0">
                          <a:solidFill>
                            <a:srgbClr val="1F2937"/>
                          </a:solidFill>
                          <a:latin typeface="Sarabun" pitchFamily="34" charset="0"/>
                          <a:ea typeface="Sarabun" pitchFamily="34" charset="-122"/>
                          <a:cs typeface="Sarabun" pitchFamily="34" charset="-120"/>
                        </a:rPr>
                        <a:t>Architecture</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EF3EF"/>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Partial (Docker, locking strategy)</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Governed by constitution &amp; quality gates</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0352">
                <a:tc>
                  <a:txBody>
                    <a:bodyPr/>
                    <a:lstStyle/>
                    <a:p>
                      <a:pPr marL="0" indent="0">
                        <a:buNone/>
                      </a:pPr>
                      <a:r>
                        <a:rPr lang="en-US" sz="1400" b="1" dirty="0">
                          <a:solidFill>
                            <a:srgbClr val="1F2937"/>
                          </a:solidFill>
                          <a:latin typeface="Sarabun" pitchFamily="34" charset="0"/>
                          <a:ea typeface="Sarabun" pitchFamily="34" charset="-122"/>
                          <a:cs typeface="Sarabun" pitchFamily="34" charset="-120"/>
                        </a:rPr>
                        <a:t>Quality gates</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EF3EF"/>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Self-check instructions</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Explicit (coverage targets, SLOs, lint)</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extLst>
                  <a:ext uri="{0D108BD9-81ED-4DB2-BD59-A6C34878D82A}">
                    <a16:rowId xmlns:a16="http://schemas.microsoft.com/office/drawing/2014/main" val="10007"/>
                  </a:ext>
                </a:extLst>
              </a:tr>
            </a:tbl>
          </a:graphicData>
        </a:graphic>
      </p:graphicFrame>
      <p:sp>
        <p:nvSpPr>
          <p:cNvPr id="5" name="Text 2"/>
          <p:cNvSpPr txBox="1"/>
          <p:nvPr/>
        </p:nvSpPr>
        <p:spPr>
          <a:xfrm>
            <a:off x="548640" y="5989320"/>
            <a:ext cx="11094415" cy="457200"/>
          </a:xfrm>
          <a:prstGeom prst="rect">
            <a:avLst/>
          </a:prstGeom>
          <a:noFill/>
          <a:ln/>
        </p:spPr>
        <p:txBody>
          <a:bodyPr wrap="square" lIns="0" tIns="0" rIns="0" bIns="0" rtlCol="0" anchor="t"/>
          <a:lstStyle/>
          <a:p>
            <a:pPr marL="0" indent="0" algn="ctr">
              <a:buNone/>
            </a:pPr>
            <a:r>
              <a:rPr lang="en-US" sz="1200" dirty="0">
                <a:solidFill>
                  <a:srgbClr val="6B7280"/>
                </a:solidFill>
                <a:latin typeface="Sarabun" pitchFamily="34" charset="0"/>
                <a:ea typeface="Sarabun" pitchFamily="34" charset="-122"/>
                <a:cs typeface="Sarabun" pitchFamily="34" charset="-120"/>
              </a:rPr>
              <a:t>ตารางที่ 4.6 </a:t>
            </a:r>
            <a:r>
              <a:rPr lang="en-US" sz="1200" dirty="0" err="1">
                <a:solidFill>
                  <a:srgbClr val="6B7280"/>
                </a:solidFill>
                <a:latin typeface="Sarabun" pitchFamily="34" charset="0"/>
                <a:ea typeface="Sarabun" pitchFamily="34" charset="-122"/>
                <a:cs typeface="Sarabun" pitchFamily="34" charset="-120"/>
              </a:rPr>
              <a:t>การเปรียบเทียบลักษณะของกลยุทธ์การโต้ตอบ</a:t>
            </a:r>
            <a:endParaRPr lang="en-US" sz="12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5  ผลลัพธ์</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ผลการทดสอบเชิงฟังก์ชัน: กระบวนการทดสอบ</a:t>
            </a:r>
            <a:endParaRPr lang="en-US" sz="2800" dirty="0"/>
          </a:p>
        </p:txBody>
      </p:sp>
      <p:sp>
        <p:nvSpPr>
          <p:cNvPr id="4" name="Text 2"/>
          <p:cNvSpPr txBox="1"/>
          <p:nvPr/>
        </p:nvSpPr>
        <p:spPr>
          <a:xfrm>
            <a:off x="548640" y="1371600"/>
            <a:ext cx="11094415" cy="365760"/>
          </a:xfrm>
          <a:prstGeom prst="rect">
            <a:avLst/>
          </a:prstGeom>
          <a:noFill/>
          <a:ln/>
        </p:spPr>
        <p:txBody>
          <a:bodyPr wrap="square" lIns="0" tIns="0" rIns="0" bIns="0" rtlCol="0" anchor="t"/>
          <a:lstStyle/>
          <a:p>
            <a:pPr marL="0" indent="0">
              <a:buNone/>
            </a:pPr>
            <a:r>
              <a:rPr lang="en-US" sz="1600" b="1" dirty="0">
                <a:solidFill>
                  <a:srgbClr val="1C5739"/>
                </a:solidFill>
                <a:latin typeface="Sarabun" pitchFamily="34" charset="0"/>
                <a:ea typeface="Sarabun" pitchFamily="34" charset="-122"/>
                <a:cs typeface="Sarabun" pitchFamily="34" charset="-120"/>
              </a:rPr>
              <a:t>108 กรณีทดสอบ  =  IM 42  +  SC 30  +  PD 36  (6 เวอร์ชันต่อโมดูล)</a:t>
            </a:r>
            <a:endParaRPr lang="en-US" sz="1600" dirty="0"/>
          </a:p>
        </p:txBody>
      </p:sp>
      <p:sp>
        <p:nvSpPr>
          <p:cNvPr id="5" name="Shape 3"/>
          <p:cNvSpPr/>
          <p:nvPr/>
        </p:nvSpPr>
        <p:spPr>
          <a:xfrm>
            <a:off x="677279" y="1847088"/>
            <a:ext cx="5046242" cy="3712464"/>
          </a:xfrm>
          <a:prstGeom prst="roundRect">
            <a:avLst>
              <a:gd name="adj" fmla="val 1970"/>
            </a:avLst>
          </a:prstGeom>
          <a:solidFill>
            <a:srgbClr val="FFFFFF"/>
          </a:solidFill>
          <a:ln w="12700">
            <a:solidFill>
              <a:srgbClr val="D5DFD8"/>
            </a:solidFill>
            <a:prstDash val="solid"/>
          </a:ln>
        </p:spPr>
        <p:txBody>
          <a:bodyPr/>
          <a:lstStyle/>
          <a:p>
            <a:endParaRPr lang="en-TH"/>
          </a:p>
        </p:txBody>
      </p:sp>
      <p:pic>
        <p:nvPicPr>
          <p:cNvPr id="6" name="Image 0" descr="figure 8"/>
          <p:cNvPicPr>
            <a:picLocks noChangeAspect="1"/>
          </p:cNvPicPr>
          <p:nvPr/>
        </p:nvPicPr>
        <p:blipFill>
          <a:blip r:embed="rId3"/>
          <a:stretch>
            <a:fillRect/>
          </a:stretch>
        </p:blipFill>
        <p:spPr>
          <a:xfrm>
            <a:off x="750431" y="1920240"/>
            <a:ext cx="4899938" cy="3566160"/>
          </a:xfrm>
          <a:prstGeom prst="rect">
            <a:avLst/>
          </a:prstGeom>
        </p:spPr>
      </p:pic>
      <p:sp>
        <p:nvSpPr>
          <p:cNvPr id="7" name="Shape 4"/>
          <p:cNvSpPr/>
          <p:nvPr/>
        </p:nvSpPr>
        <p:spPr>
          <a:xfrm>
            <a:off x="6354117" y="1847088"/>
            <a:ext cx="5214005" cy="3712464"/>
          </a:xfrm>
          <a:prstGeom prst="roundRect">
            <a:avLst>
              <a:gd name="adj" fmla="val 1970"/>
            </a:avLst>
          </a:prstGeom>
          <a:solidFill>
            <a:srgbClr val="FFFFFF"/>
          </a:solidFill>
          <a:ln w="12700">
            <a:solidFill>
              <a:srgbClr val="D5DFD8"/>
            </a:solidFill>
            <a:prstDash val="solid"/>
          </a:ln>
        </p:spPr>
        <p:txBody>
          <a:bodyPr/>
          <a:lstStyle/>
          <a:p>
            <a:endParaRPr lang="en-TH"/>
          </a:p>
        </p:txBody>
      </p:sp>
      <p:pic>
        <p:nvPicPr>
          <p:cNvPr id="8" name="Image 1" descr="figure 9"/>
          <p:cNvPicPr>
            <a:picLocks noChangeAspect="1"/>
          </p:cNvPicPr>
          <p:nvPr/>
        </p:nvPicPr>
        <p:blipFill>
          <a:blip r:embed="rId4"/>
          <a:stretch>
            <a:fillRect/>
          </a:stretch>
        </p:blipFill>
        <p:spPr>
          <a:xfrm>
            <a:off x="6427269" y="1920240"/>
            <a:ext cx="5067701" cy="3566160"/>
          </a:xfrm>
          <a:prstGeom prst="rect">
            <a:avLst/>
          </a:prstGeom>
        </p:spPr>
      </p:pic>
      <p:sp>
        <p:nvSpPr>
          <p:cNvPr id="9" name="Text 5"/>
          <p:cNvSpPr txBox="1"/>
          <p:nvPr/>
        </p:nvSpPr>
        <p:spPr>
          <a:xfrm>
            <a:off x="548640" y="5669280"/>
            <a:ext cx="5303520" cy="457200"/>
          </a:xfrm>
          <a:prstGeom prst="rect">
            <a:avLst/>
          </a:prstGeom>
          <a:noFill/>
          <a:ln/>
        </p:spPr>
        <p:txBody>
          <a:bodyPr wrap="square" lIns="0" tIns="0" rIns="0" bIns="0" rtlCol="0" anchor="t"/>
          <a:lstStyle/>
          <a:p>
            <a:pPr marL="0" indent="0" algn="ctr">
              <a:buNone/>
            </a:pPr>
            <a:r>
              <a:rPr lang="en-US" sz="1200" dirty="0">
                <a:solidFill>
                  <a:srgbClr val="6B7280"/>
                </a:solidFill>
                <a:latin typeface="Sarabun" pitchFamily="34" charset="0"/>
                <a:ea typeface="Sarabun" pitchFamily="34" charset="-122"/>
                <a:cs typeface="Sarabun" pitchFamily="34" charset="-120"/>
              </a:rPr>
              <a:t>รูปที่ 5.1 ตัวอย่างกรณีทดสอบเชิงฟังก์ชันสำหรับโมดูลจัดการคลังสินค้า (IMBP01)</a:t>
            </a:r>
            <a:endParaRPr lang="en-US" sz="1200" dirty="0"/>
          </a:p>
        </p:txBody>
      </p:sp>
      <p:sp>
        <p:nvSpPr>
          <p:cNvPr id="10" name="Text 6"/>
          <p:cNvSpPr txBox="1"/>
          <p:nvPr/>
        </p:nvSpPr>
        <p:spPr>
          <a:xfrm>
            <a:off x="6309360" y="5669280"/>
            <a:ext cx="5303520" cy="457200"/>
          </a:xfrm>
          <a:prstGeom prst="rect">
            <a:avLst/>
          </a:prstGeom>
          <a:noFill/>
          <a:ln/>
        </p:spPr>
        <p:txBody>
          <a:bodyPr wrap="square" lIns="0" tIns="0" rIns="0" bIns="0" rtlCol="0" anchor="t"/>
          <a:lstStyle/>
          <a:p>
            <a:pPr marL="0" indent="0" algn="ctr">
              <a:buNone/>
            </a:pPr>
            <a:r>
              <a:rPr lang="en-US" sz="1200" dirty="0">
                <a:solidFill>
                  <a:srgbClr val="6B7280"/>
                </a:solidFill>
                <a:latin typeface="Sarabun" pitchFamily="34" charset="0"/>
                <a:ea typeface="Sarabun" pitchFamily="34" charset="-122"/>
                <a:cs typeface="Sarabun" pitchFamily="34" charset="-120"/>
              </a:rPr>
              <a:t>รูปที่ 5.2 กระบวนการทดสอบซอฟต์แวร์สำหรับกรณีทดสอบ IMBP01</a:t>
            </a:r>
            <a:endParaRPr lang="en-US" sz="12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5  ผลลัพธ์</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อัตราการผ่านการทดสอบ: SDD สูงที่สุด</a:t>
            </a:r>
            <a:endParaRPr lang="en-US" sz="2800" dirty="0"/>
          </a:p>
        </p:txBody>
      </p:sp>
      <p:sp>
        <p:nvSpPr>
          <p:cNvPr id="4" name="Shape 2"/>
          <p:cNvSpPr/>
          <p:nvPr/>
        </p:nvSpPr>
        <p:spPr>
          <a:xfrm>
            <a:off x="475488" y="1460114"/>
            <a:ext cx="5632704" cy="3389133"/>
          </a:xfrm>
          <a:prstGeom prst="roundRect">
            <a:avLst>
              <a:gd name="adj" fmla="val 2158"/>
            </a:avLst>
          </a:prstGeom>
          <a:solidFill>
            <a:srgbClr val="FFFFFF"/>
          </a:solidFill>
          <a:ln w="12700">
            <a:solidFill>
              <a:srgbClr val="D5DFD8"/>
            </a:solidFill>
            <a:prstDash val="solid"/>
          </a:ln>
        </p:spPr>
        <p:txBody>
          <a:bodyPr/>
          <a:lstStyle/>
          <a:p>
            <a:endParaRPr lang="en-TH"/>
          </a:p>
        </p:txBody>
      </p:sp>
      <p:pic>
        <p:nvPicPr>
          <p:cNvPr id="5" name="Image 0" descr="figure 10"/>
          <p:cNvPicPr>
            <a:picLocks noChangeAspect="1"/>
          </p:cNvPicPr>
          <p:nvPr/>
        </p:nvPicPr>
        <p:blipFill>
          <a:blip r:embed="rId3"/>
          <a:stretch>
            <a:fillRect/>
          </a:stretch>
        </p:blipFill>
        <p:spPr>
          <a:xfrm>
            <a:off x="548640" y="1533266"/>
            <a:ext cx="5486400" cy="3242829"/>
          </a:xfrm>
          <a:prstGeom prst="rect">
            <a:avLst/>
          </a:prstGeom>
        </p:spPr>
      </p:pic>
      <p:sp>
        <p:nvSpPr>
          <p:cNvPr id="6" name="Shape 3"/>
          <p:cNvSpPr/>
          <p:nvPr/>
        </p:nvSpPr>
        <p:spPr>
          <a:xfrm>
            <a:off x="6637672" y="1389888"/>
            <a:ext cx="4738336" cy="3529584"/>
          </a:xfrm>
          <a:prstGeom prst="roundRect">
            <a:avLst>
              <a:gd name="adj" fmla="val 2073"/>
            </a:avLst>
          </a:prstGeom>
          <a:solidFill>
            <a:srgbClr val="FFFFFF"/>
          </a:solidFill>
          <a:ln w="12700">
            <a:solidFill>
              <a:srgbClr val="D5DFD8"/>
            </a:solidFill>
            <a:prstDash val="solid"/>
          </a:ln>
        </p:spPr>
        <p:txBody>
          <a:bodyPr/>
          <a:lstStyle/>
          <a:p>
            <a:endParaRPr lang="en-TH"/>
          </a:p>
        </p:txBody>
      </p:sp>
      <p:pic>
        <p:nvPicPr>
          <p:cNvPr id="7" name="Image 1" descr="figure 12"/>
          <p:cNvPicPr>
            <a:picLocks noChangeAspect="1"/>
          </p:cNvPicPr>
          <p:nvPr/>
        </p:nvPicPr>
        <p:blipFill>
          <a:blip r:embed="rId4"/>
          <a:stretch>
            <a:fillRect/>
          </a:stretch>
        </p:blipFill>
        <p:spPr>
          <a:xfrm>
            <a:off x="6710824" y="1463040"/>
            <a:ext cx="4592032" cy="3383280"/>
          </a:xfrm>
          <a:prstGeom prst="rect">
            <a:avLst/>
          </a:prstGeom>
        </p:spPr>
      </p:pic>
      <p:sp>
        <p:nvSpPr>
          <p:cNvPr id="8" name="Text 4"/>
          <p:cNvSpPr txBox="1"/>
          <p:nvPr/>
        </p:nvSpPr>
        <p:spPr>
          <a:xfrm>
            <a:off x="548640" y="5025207"/>
            <a:ext cx="5486400" cy="457200"/>
          </a:xfrm>
          <a:prstGeom prst="rect">
            <a:avLst/>
          </a:prstGeom>
          <a:noFill/>
          <a:ln/>
        </p:spPr>
        <p:txBody>
          <a:bodyPr wrap="square" lIns="0" tIns="0" rIns="0" bIns="0" rtlCol="0" anchor="t"/>
          <a:lstStyle/>
          <a:p>
            <a:pPr marL="0" indent="0" algn="ctr">
              <a:buNone/>
            </a:pPr>
            <a:r>
              <a:rPr lang="en-US" sz="1200" dirty="0">
                <a:solidFill>
                  <a:srgbClr val="6B7280"/>
                </a:solidFill>
                <a:latin typeface="Sarabun" pitchFamily="34" charset="0"/>
                <a:ea typeface="Sarabun" pitchFamily="34" charset="-122"/>
                <a:cs typeface="Sarabun" pitchFamily="34" charset="-120"/>
              </a:rPr>
              <a:t>รูปที่ 5.3 อัตราการผ่านการทดสอบ จำแนกตามกลยุทธ์และโมดูล</a:t>
            </a:r>
            <a:endParaRPr lang="en-US" sz="1200" dirty="0"/>
          </a:p>
        </p:txBody>
      </p:sp>
      <p:sp>
        <p:nvSpPr>
          <p:cNvPr id="9" name="Text 5"/>
          <p:cNvSpPr txBox="1"/>
          <p:nvPr/>
        </p:nvSpPr>
        <p:spPr>
          <a:xfrm>
            <a:off x="6400800" y="5025207"/>
            <a:ext cx="5212080" cy="457200"/>
          </a:xfrm>
          <a:prstGeom prst="rect">
            <a:avLst/>
          </a:prstGeom>
          <a:noFill/>
          <a:ln/>
        </p:spPr>
        <p:txBody>
          <a:bodyPr wrap="square" lIns="0" tIns="0" rIns="0" bIns="0" rtlCol="0" anchor="t"/>
          <a:lstStyle/>
          <a:p>
            <a:pPr marL="0" indent="0" algn="ctr">
              <a:buNone/>
            </a:pPr>
            <a:r>
              <a:rPr lang="en-US" sz="1200" dirty="0">
                <a:solidFill>
                  <a:srgbClr val="6B7280"/>
                </a:solidFill>
                <a:latin typeface="Sarabun" pitchFamily="34" charset="0"/>
                <a:ea typeface="Sarabun" pitchFamily="34" charset="-122"/>
                <a:cs typeface="Sarabun" pitchFamily="34" charset="-120"/>
              </a:rPr>
              <a:t>รูปที่ 5.5 จำนวนกรณีทดสอบที่ผ่านและไม่ผ่าน จำแนกตามกลยุทธ์</a:t>
            </a:r>
            <a:endParaRPr lang="en-US" sz="1200" dirty="0"/>
          </a:p>
        </p:txBody>
      </p:sp>
      <p:sp>
        <p:nvSpPr>
          <p:cNvPr id="10" name="card"/>
          <p:cNvSpPr/>
          <p:nvPr/>
        </p:nvSpPr>
        <p:spPr>
          <a:xfrm>
            <a:off x="548640" y="5440680"/>
            <a:ext cx="3566160" cy="777240"/>
          </a:xfrm>
          <a:prstGeom prst="roundRect">
            <a:avLst>
              <a:gd name="adj" fmla="val 14118"/>
            </a:avLst>
          </a:prstGeom>
          <a:solidFill>
            <a:srgbClr val="EEF3EF"/>
          </a:solidFill>
          <a:ln w="12700">
            <a:solidFill>
              <a:srgbClr val="EEF3EF"/>
            </a:solidFill>
            <a:prstDash val="solid"/>
          </a:ln>
        </p:spPr>
        <p:txBody>
          <a:bodyPr/>
          <a:lstStyle/>
          <a:p>
            <a:endParaRPr lang="en-TH"/>
          </a:p>
        </p:txBody>
      </p:sp>
      <p:sp>
        <p:nvSpPr>
          <p:cNvPr id="11" name="Shape 7"/>
          <p:cNvSpPr/>
          <p:nvPr/>
        </p:nvSpPr>
        <p:spPr>
          <a:xfrm>
            <a:off x="777240" y="5687568"/>
            <a:ext cx="731520" cy="292608"/>
          </a:xfrm>
          <a:prstGeom prst="roundRect">
            <a:avLst>
              <a:gd name="adj" fmla="val 50000"/>
            </a:avLst>
          </a:prstGeom>
          <a:solidFill>
            <a:srgbClr val="1FA971"/>
          </a:solidFill>
          <a:ln w="19050">
            <a:solidFill>
              <a:srgbClr val="FFFFFF"/>
            </a:solidFill>
            <a:prstDash val="solid"/>
          </a:ln>
        </p:spPr>
        <p:txBody>
          <a:bodyPr/>
          <a:lstStyle/>
          <a:p>
            <a:endParaRPr lang="en-TH"/>
          </a:p>
        </p:txBody>
      </p:sp>
      <p:sp>
        <p:nvSpPr>
          <p:cNvPr id="12" name="Text 8"/>
          <p:cNvSpPr txBox="1"/>
          <p:nvPr/>
        </p:nvSpPr>
        <p:spPr>
          <a:xfrm>
            <a:off x="777240" y="5687568"/>
            <a:ext cx="73152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SDD</a:t>
            </a:r>
            <a:endParaRPr lang="en-US" sz="1200" dirty="0"/>
          </a:p>
        </p:txBody>
      </p:sp>
      <p:sp>
        <p:nvSpPr>
          <p:cNvPr id="13" name="Text 9"/>
          <p:cNvSpPr txBox="1"/>
          <p:nvPr/>
        </p:nvSpPr>
        <p:spPr>
          <a:xfrm>
            <a:off x="1691640" y="5440680"/>
            <a:ext cx="2286000" cy="777240"/>
          </a:xfrm>
          <a:prstGeom prst="rect">
            <a:avLst/>
          </a:prstGeom>
          <a:noFill/>
          <a:ln/>
        </p:spPr>
        <p:txBody>
          <a:bodyPr wrap="square" lIns="0" tIns="0" rIns="0" bIns="0" rtlCol="0" anchor="ctr"/>
          <a:lstStyle/>
          <a:p>
            <a:pPr marL="0" indent="0">
              <a:buNone/>
            </a:pPr>
            <a:r>
              <a:rPr lang="en-US" sz="2000" b="1" dirty="0">
                <a:solidFill>
                  <a:srgbClr val="1C5739"/>
                </a:solidFill>
                <a:latin typeface="Sarabun" pitchFamily="34" charset="0"/>
                <a:ea typeface="Sarabun" pitchFamily="34" charset="-122"/>
                <a:cs typeface="Sarabun" pitchFamily="34" charset="-120"/>
              </a:rPr>
              <a:t>35/36  (97%)</a:t>
            </a:r>
            <a:endParaRPr lang="en-US" sz="2000" dirty="0"/>
          </a:p>
        </p:txBody>
      </p:sp>
      <p:sp>
        <p:nvSpPr>
          <p:cNvPr id="14" name="card"/>
          <p:cNvSpPr/>
          <p:nvPr/>
        </p:nvSpPr>
        <p:spPr>
          <a:xfrm>
            <a:off x="4315968" y="5440680"/>
            <a:ext cx="3566160" cy="777240"/>
          </a:xfrm>
          <a:prstGeom prst="roundRect">
            <a:avLst>
              <a:gd name="adj" fmla="val 14118"/>
            </a:avLst>
          </a:prstGeom>
          <a:solidFill>
            <a:srgbClr val="EEF3EF"/>
          </a:solidFill>
          <a:ln w="12700">
            <a:solidFill>
              <a:srgbClr val="EEF3EF"/>
            </a:solidFill>
            <a:prstDash val="solid"/>
          </a:ln>
        </p:spPr>
        <p:txBody>
          <a:bodyPr/>
          <a:lstStyle/>
          <a:p>
            <a:endParaRPr lang="en-TH"/>
          </a:p>
        </p:txBody>
      </p:sp>
      <p:sp>
        <p:nvSpPr>
          <p:cNvPr id="15" name="Shape 11"/>
          <p:cNvSpPr/>
          <p:nvPr/>
        </p:nvSpPr>
        <p:spPr>
          <a:xfrm>
            <a:off x="4544568" y="5687568"/>
            <a:ext cx="731520" cy="292608"/>
          </a:xfrm>
          <a:prstGeom prst="roundRect">
            <a:avLst>
              <a:gd name="adj" fmla="val 50000"/>
            </a:avLst>
          </a:prstGeom>
          <a:solidFill>
            <a:srgbClr val="E4572E"/>
          </a:solidFill>
          <a:ln w="19050">
            <a:solidFill>
              <a:srgbClr val="FFFFFF"/>
            </a:solidFill>
            <a:prstDash val="solid"/>
          </a:ln>
        </p:spPr>
        <p:txBody>
          <a:bodyPr/>
          <a:lstStyle/>
          <a:p>
            <a:endParaRPr lang="en-TH"/>
          </a:p>
        </p:txBody>
      </p:sp>
      <p:sp>
        <p:nvSpPr>
          <p:cNvPr id="16" name="Text 12"/>
          <p:cNvSpPr txBox="1"/>
          <p:nvPr/>
        </p:nvSpPr>
        <p:spPr>
          <a:xfrm>
            <a:off x="4544568" y="5687568"/>
            <a:ext cx="73152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BP</a:t>
            </a:r>
            <a:endParaRPr lang="en-US" sz="1200" dirty="0"/>
          </a:p>
        </p:txBody>
      </p:sp>
      <p:sp>
        <p:nvSpPr>
          <p:cNvPr id="17" name="Text 13"/>
          <p:cNvSpPr txBox="1"/>
          <p:nvPr/>
        </p:nvSpPr>
        <p:spPr>
          <a:xfrm>
            <a:off x="5458968" y="5440680"/>
            <a:ext cx="2286000" cy="777240"/>
          </a:xfrm>
          <a:prstGeom prst="rect">
            <a:avLst/>
          </a:prstGeom>
          <a:noFill/>
          <a:ln/>
        </p:spPr>
        <p:txBody>
          <a:bodyPr wrap="square" lIns="0" tIns="0" rIns="0" bIns="0" rtlCol="0" anchor="ctr"/>
          <a:lstStyle/>
          <a:p>
            <a:pPr marL="0" indent="0">
              <a:buNone/>
            </a:pPr>
            <a:r>
              <a:rPr lang="en-US" sz="2000" b="1" dirty="0">
                <a:solidFill>
                  <a:srgbClr val="1C5739"/>
                </a:solidFill>
                <a:latin typeface="Sarabun" pitchFamily="34" charset="0"/>
                <a:ea typeface="Sarabun" pitchFamily="34" charset="-122"/>
                <a:cs typeface="Sarabun" pitchFamily="34" charset="-120"/>
              </a:rPr>
              <a:t>27/36  (75%)</a:t>
            </a:r>
            <a:endParaRPr lang="en-US" sz="2000" dirty="0"/>
          </a:p>
        </p:txBody>
      </p:sp>
      <p:sp>
        <p:nvSpPr>
          <p:cNvPr id="18" name="card"/>
          <p:cNvSpPr/>
          <p:nvPr/>
        </p:nvSpPr>
        <p:spPr>
          <a:xfrm>
            <a:off x="8083296" y="5440680"/>
            <a:ext cx="3566160" cy="777240"/>
          </a:xfrm>
          <a:prstGeom prst="roundRect">
            <a:avLst>
              <a:gd name="adj" fmla="val 14118"/>
            </a:avLst>
          </a:prstGeom>
          <a:solidFill>
            <a:srgbClr val="EEF3EF"/>
          </a:solidFill>
          <a:ln w="12700">
            <a:solidFill>
              <a:srgbClr val="EEF3EF"/>
            </a:solidFill>
            <a:prstDash val="solid"/>
          </a:ln>
        </p:spPr>
        <p:txBody>
          <a:bodyPr/>
          <a:lstStyle/>
          <a:p>
            <a:endParaRPr lang="en-TH"/>
          </a:p>
        </p:txBody>
      </p:sp>
      <p:sp>
        <p:nvSpPr>
          <p:cNvPr id="19" name="Shape 15"/>
          <p:cNvSpPr/>
          <p:nvPr/>
        </p:nvSpPr>
        <p:spPr>
          <a:xfrm>
            <a:off x="8311896" y="5687568"/>
            <a:ext cx="731520" cy="292608"/>
          </a:xfrm>
          <a:prstGeom prst="roundRect">
            <a:avLst>
              <a:gd name="adj" fmla="val 50000"/>
            </a:avLst>
          </a:prstGeom>
          <a:solidFill>
            <a:srgbClr val="2F80ED"/>
          </a:solidFill>
          <a:ln w="19050">
            <a:solidFill>
              <a:srgbClr val="FFFFFF"/>
            </a:solidFill>
            <a:prstDash val="solid"/>
          </a:ln>
        </p:spPr>
        <p:txBody>
          <a:bodyPr/>
          <a:lstStyle/>
          <a:p>
            <a:endParaRPr lang="en-TH"/>
          </a:p>
        </p:txBody>
      </p:sp>
      <p:sp>
        <p:nvSpPr>
          <p:cNvPr id="20" name="Text 16"/>
          <p:cNvSpPr txBox="1"/>
          <p:nvPr/>
        </p:nvSpPr>
        <p:spPr>
          <a:xfrm>
            <a:off x="8311896" y="5687568"/>
            <a:ext cx="73152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CE</a:t>
            </a:r>
            <a:endParaRPr lang="en-US" sz="1200" dirty="0"/>
          </a:p>
        </p:txBody>
      </p:sp>
      <p:sp>
        <p:nvSpPr>
          <p:cNvPr id="21" name="Text 17"/>
          <p:cNvSpPr txBox="1"/>
          <p:nvPr/>
        </p:nvSpPr>
        <p:spPr>
          <a:xfrm>
            <a:off x="9226296" y="5440680"/>
            <a:ext cx="2286000" cy="777240"/>
          </a:xfrm>
          <a:prstGeom prst="rect">
            <a:avLst/>
          </a:prstGeom>
          <a:noFill/>
          <a:ln/>
        </p:spPr>
        <p:txBody>
          <a:bodyPr wrap="square" lIns="0" tIns="0" rIns="0" bIns="0" rtlCol="0" anchor="ctr"/>
          <a:lstStyle/>
          <a:p>
            <a:pPr marL="0" indent="0">
              <a:buNone/>
            </a:pPr>
            <a:r>
              <a:rPr lang="en-US" sz="2000" b="1" dirty="0">
                <a:solidFill>
                  <a:srgbClr val="1C5739"/>
                </a:solidFill>
                <a:latin typeface="Sarabun" pitchFamily="34" charset="0"/>
                <a:ea typeface="Sarabun" pitchFamily="34" charset="-122"/>
                <a:cs typeface="Sarabun" pitchFamily="34" charset="-120"/>
              </a:rPr>
              <a:t>24/36  (67%)</a:t>
            </a:r>
            <a:endParaRPr lang="en-US" sz="20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5  ผลลัพธ์</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อัตราการผ่านการทดสอบ จำแนกตามเวอร์ชัน</a:t>
            </a:r>
            <a:endParaRPr lang="en-US" sz="2800" dirty="0"/>
          </a:p>
        </p:txBody>
      </p:sp>
      <p:sp>
        <p:nvSpPr>
          <p:cNvPr id="4" name="Shape 2"/>
          <p:cNvSpPr/>
          <p:nvPr/>
        </p:nvSpPr>
        <p:spPr>
          <a:xfrm>
            <a:off x="1241603" y="1344168"/>
            <a:ext cx="9708490" cy="4352544"/>
          </a:xfrm>
          <a:prstGeom prst="roundRect">
            <a:avLst>
              <a:gd name="adj" fmla="val 1681"/>
            </a:avLst>
          </a:prstGeom>
          <a:solidFill>
            <a:srgbClr val="FFFFFF"/>
          </a:solidFill>
          <a:ln w="12700">
            <a:solidFill>
              <a:srgbClr val="D5DFD8"/>
            </a:solidFill>
            <a:prstDash val="solid"/>
          </a:ln>
        </p:spPr>
        <p:txBody>
          <a:bodyPr/>
          <a:lstStyle/>
          <a:p>
            <a:endParaRPr lang="en-TH"/>
          </a:p>
        </p:txBody>
      </p:sp>
      <p:pic>
        <p:nvPicPr>
          <p:cNvPr id="5" name="Image 0" descr="figure 11"/>
          <p:cNvPicPr>
            <a:picLocks noChangeAspect="1"/>
          </p:cNvPicPr>
          <p:nvPr/>
        </p:nvPicPr>
        <p:blipFill>
          <a:blip r:embed="rId3"/>
          <a:stretch>
            <a:fillRect/>
          </a:stretch>
        </p:blipFill>
        <p:spPr>
          <a:xfrm>
            <a:off x="1314755" y="1417320"/>
            <a:ext cx="9562186" cy="4206240"/>
          </a:xfrm>
          <a:prstGeom prst="rect">
            <a:avLst/>
          </a:prstGeom>
        </p:spPr>
      </p:pic>
      <p:sp>
        <p:nvSpPr>
          <p:cNvPr id="6" name="Text 3"/>
          <p:cNvSpPr txBox="1"/>
          <p:nvPr/>
        </p:nvSpPr>
        <p:spPr>
          <a:xfrm>
            <a:off x="548640" y="5760720"/>
            <a:ext cx="11094415" cy="457200"/>
          </a:xfrm>
          <a:prstGeom prst="rect">
            <a:avLst/>
          </a:prstGeom>
          <a:noFill/>
          <a:ln/>
        </p:spPr>
        <p:txBody>
          <a:bodyPr wrap="square" lIns="0" tIns="0" rIns="0" bIns="0" rtlCol="0" anchor="t"/>
          <a:lstStyle/>
          <a:p>
            <a:pPr marL="0" indent="0" algn="ctr">
              <a:buNone/>
            </a:pPr>
            <a:r>
              <a:rPr lang="en-US" sz="1200" dirty="0">
                <a:solidFill>
                  <a:srgbClr val="6B7280"/>
                </a:solidFill>
                <a:latin typeface="Sarabun" pitchFamily="34" charset="0"/>
                <a:ea typeface="Sarabun" pitchFamily="34" charset="-122"/>
                <a:cs typeface="Sarabun" pitchFamily="34" charset="-120"/>
              </a:rPr>
              <a:t>รูปที่ 5.4 อัตราการผ่านการทดสอบเชิงฟังก์ชัน จำแนกตามเวอร์ชันทั้ง 18 เวอร์ชัน</a:t>
            </a:r>
            <a:endParaRPr lang="en-US" sz="1200" dirty="0"/>
          </a:p>
        </p:txBody>
      </p:sp>
      <p:sp>
        <p:nvSpPr>
          <p:cNvPr id="7" name="Text 4"/>
          <p:cNvSpPr txBox="1"/>
          <p:nvPr/>
        </p:nvSpPr>
        <p:spPr>
          <a:xfrm>
            <a:off x="548640" y="6035040"/>
            <a:ext cx="11094415" cy="320040"/>
          </a:xfrm>
          <a:prstGeom prst="rect">
            <a:avLst/>
          </a:prstGeom>
          <a:noFill/>
          <a:ln/>
        </p:spPr>
        <p:txBody>
          <a:bodyPr wrap="square" lIns="0" tIns="0" rIns="0" bIns="0" rtlCol="0" anchor="t"/>
          <a:lstStyle/>
          <a:p>
            <a:pPr marL="0" indent="0" algn="ctr">
              <a:buNone/>
            </a:pPr>
            <a:r>
              <a:rPr lang="en-US" sz="1400" dirty="0">
                <a:solidFill>
                  <a:srgbClr val="6B7280"/>
                </a:solidFill>
                <a:latin typeface="Sarabun" pitchFamily="34" charset="0"/>
                <a:ea typeface="Sarabun" pitchFamily="34" charset="-122"/>
                <a:cs typeface="Sarabun" pitchFamily="34" charset="-120"/>
              </a:rPr>
              <a:t>BP และ CE แกว่งมากระหว่างรอบการทดลอง ขณะที่ SDD ผ่านเกือบเต็มทุกเวอร์ชัน</a:t>
            </a:r>
            <a:endParaRPr lang="en-US" sz="14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5  ผลลัพธ์</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สาเหตุของกรณีทดสอบที่ไม่ผ่าน (22 กรณี)</a:t>
            </a:r>
            <a:endParaRPr lang="en-US" sz="2800" dirty="0"/>
          </a:p>
        </p:txBody>
      </p:sp>
      <p:sp>
        <p:nvSpPr>
          <p:cNvPr id="4" name="card"/>
          <p:cNvSpPr/>
          <p:nvPr/>
        </p:nvSpPr>
        <p:spPr>
          <a:xfrm>
            <a:off x="548640" y="1554480"/>
            <a:ext cx="3291840" cy="4480560"/>
          </a:xfrm>
          <a:prstGeom prst="roundRect">
            <a:avLst>
              <a:gd name="adj" fmla="val 3333"/>
            </a:avLst>
          </a:prstGeom>
          <a:solidFill>
            <a:srgbClr val="1C5739"/>
          </a:solidFill>
          <a:ln w="12700">
            <a:solidFill>
              <a:srgbClr val="1C5739"/>
            </a:solidFill>
            <a:prstDash val="solid"/>
          </a:ln>
        </p:spPr>
        <p:txBody>
          <a:bodyPr/>
          <a:lstStyle/>
          <a:p>
            <a:endParaRPr lang="en-TH"/>
          </a:p>
        </p:txBody>
      </p:sp>
      <p:sp>
        <p:nvSpPr>
          <p:cNvPr id="5" name="Text 3"/>
          <p:cNvSpPr txBox="1"/>
          <p:nvPr/>
        </p:nvSpPr>
        <p:spPr>
          <a:xfrm>
            <a:off x="822960" y="1828800"/>
            <a:ext cx="2743200" cy="1005840"/>
          </a:xfrm>
          <a:prstGeom prst="rect">
            <a:avLst/>
          </a:prstGeom>
          <a:noFill/>
          <a:ln/>
        </p:spPr>
        <p:txBody>
          <a:bodyPr wrap="square" lIns="0" tIns="0" rIns="0" bIns="0" rtlCol="0" anchor="ctr"/>
          <a:lstStyle/>
          <a:p>
            <a:pPr marL="0" indent="0">
              <a:buNone/>
            </a:pPr>
            <a:r>
              <a:rPr lang="en-US" sz="6600" b="1" dirty="0">
                <a:solidFill>
                  <a:srgbClr val="C5CF2E"/>
                </a:solidFill>
                <a:latin typeface="Sarabun" pitchFamily="34" charset="0"/>
                <a:ea typeface="Sarabun" pitchFamily="34" charset="-122"/>
                <a:cs typeface="Sarabun" pitchFamily="34" charset="-120"/>
              </a:rPr>
              <a:t>86%</a:t>
            </a:r>
            <a:endParaRPr lang="en-US" sz="6600" dirty="0"/>
          </a:p>
        </p:txBody>
      </p:sp>
      <p:sp>
        <p:nvSpPr>
          <p:cNvPr id="6" name="Text 4"/>
          <p:cNvSpPr txBox="1"/>
          <p:nvPr/>
        </p:nvSpPr>
        <p:spPr>
          <a:xfrm>
            <a:off x="822960" y="3017520"/>
            <a:ext cx="2743200" cy="2011680"/>
          </a:xfrm>
          <a:prstGeom prst="rect">
            <a:avLst/>
          </a:prstGeom>
          <a:noFill/>
          <a:ln/>
        </p:spPr>
        <p:txBody>
          <a:bodyPr wrap="square" lIns="0" tIns="0" rIns="0" bIns="0" rtlCol="0" anchor="t"/>
          <a:lstStyle/>
          <a:p>
            <a:pPr marL="0" indent="0">
              <a:buNone/>
            </a:pPr>
            <a:r>
              <a:rPr lang="en-US" sz="1600" dirty="0">
                <a:solidFill>
                  <a:srgbClr val="FFFFFF"/>
                </a:solidFill>
                <a:latin typeface="Sarabun" pitchFamily="34" charset="0"/>
                <a:ea typeface="Sarabun" pitchFamily="34" charset="-122"/>
                <a:cs typeface="Sarabun" pitchFamily="34" charset="-120"/>
              </a:rPr>
              <a:t>เป็นการละเว้นการพัฒนาฟีเจอร์ที่ไม่ได้ระบุในบริบทนำเข้า ไม่ใช่ความผิดพลาดเชิงตรรกะ</a:t>
            </a:r>
            <a:endParaRPr lang="en-US" sz="1600" dirty="0"/>
          </a:p>
        </p:txBody>
      </p:sp>
      <p:sp>
        <p:nvSpPr>
          <p:cNvPr id="7" name="Text 5"/>
          <p:cNvSpPr txBox="1"/>
          <p:nvPr/>
        </p:nvSpPr>
        <p:spPr>
          <a:xfrm>
            <a:off x="822960" y="5212080"/>
            <a:ext cx="2743200" cy="365760"/>
          </a:xfrm>
          <a:prstGeom prst="rect">
            <a:avLst/>
          </a:prstGeom>
          <a:noFill/>
          <a:ln/>
        </p:spPr>
        <p:txBody>
          <a:bodyPr wrap="square" lIns="0" tIns="0" rIns="0" bIns="0" rtlCol="0" anchor="t"/>
          <a:lstStyle/>
          <a:p>
            <a:pPr marL="0" indent="0">
              <a:buNone/>
            </a:pPr>
            <a:r>
              <a:rPr lang="en-US" sz="1400" dirty="0">
                <a:solidFill>
                  <a:srgbClr val="DCE8DF"/>
                </a:solidFill>
                <a:latin typeface="Sarabun" pitchFamily="34" charset="0"/>
                <a:ea typeface="Sarabun" pitchFamily="34" charset="-122"/>
                <a:cs typeface="Sarabun" pitchFamily="34" charset="-120"/>
              </a:rPr>
              <a:t>19 จาก 22 กรณี</a:t>
            </a:r>
            <a:endParaRPr lang="en-US" sz="1400" dirty="0"/>
          </a:p>
        </p:txBody>
      </p:sp>
      <p:graphicFrame>
        <p:nvGraphicFramePr>
          <p:cNvPr id="23" name="Table 0"/>
          <p:cNvGraphicFramePr>
            <a:graphicFrameLocks noGrp="1"/>
          </p:cNvGraphicFramePr>
          <p:nvPr>
            <p:extLst>
              <p:ext uri="{D42A27DB-BD31-4B8C-83A1-F6EECF244321}">
                <p14:modId xmlns:p14="http://schemas.microsoft.com/office/powerpoint/2010/main" val="838777036"/>
              </p:ext>
            </p:extLst>
          </p:nvPr>
        </p:nvGraphicFramePr>
        <p:xfrm>
          <a:off x="4114800" y="1554480"/>
          <a:ext cx="7528255" cy="3733800"/>
        </p:xfrm>
        <a:graphic>
          <a:graphicData uri="http://schemas.openxmlformats.org/drawingml/2006/table">
            <a:tbl>
              <a:tblPr/>
              <a:tblGrid>
                <a:gridCol w="21031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773375">
                  <a:extLst>
                    <a:ext uri="{9D8B030D-6E8A-4147-A177-3AD203B41FA5}">
                      <a16:colId xmlns:a16="http://schemas.microsoft.com/office/drawing/2014/main" val="20003"/>
                    </a:ext>
                  </a:extLst>
                </a:gridCol>
              </a:tblGrid>
              <a:tr h="411480">
                <a:tc>
                  <a:txBody>
                    <a:bodyPr/>
                    <a:lstStyle/>
                    <a:p>
                      <a:pPr marL="0" indent="0" algn="ctr">
                        <a:buNone/>
                      </a:pPr>
                      <a:r>
                        <a:rPr lang="en-US" sz="1300" b="1" dirty="0">
                          <a:solidFill>
                            <a:srgbClr val="FFFFFF"/>
                          </a:solidFill>
                          <a:latin typeface="Sarabun" pitchFamily="34" charset="0"/>
                          <a:ea typeface="Sarabun" pitchFamily="34" charset="-122"/>
                          <a:cs typeface="Sarabun" pitchFamily="34" charset="-120"/>
                        </a:rPr>
                        <a:t>สาเหตุ</a:t>
                      </a:r>
                      <a:endParaRPr lang="en-US" sz="13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tc>
                  <a:txBody>
                    <a:bodyPr/>
                    <a:lstStyle/>
                    <a:p>
                      <a:pPr marL="0" indent="0" algn="ctr">
                        <a:buNone/>
                      </a:pPr>
                      <a:r>
                        <a:rPr lang="en-US" sz="1300" b="1" dirty="0">
                          <a:solidFill>
                            <a:srgbClr val="FFFFFF"/>
                          </a:solidFill>
                          <a:latin typeface="Sarabun" pitchFamily="34" charset="0"/>
                          <a:ea typeface="Sarabun" pitchFamily="34" charset="-122"/>
                          <a:cs typeface="Sarabun" pitchFamily="34" charset="-120"/>
                        </a:rPr>
                        <a:t>กรณี</a:t>
                      </a:r>
                      <a:endParaRPr lang="en-US" sz="13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tc>
                  <a:txBody>
                    <a:bodyPr/>
                    <a:lstStyle/>
                    <a:p>
                      <a:pPr marL="0" indent="0" algn="ctr">
                        <a:buNone/>
                      </a:pPr>
                      <a:r>
                        <a:rPr lang="en-US" sz="1300" b="1" dirty="0">
                          <a:solidFill>
                            <a:srgbClr val="FFFFFF"/>
                          </a:solidFill>
                          <a:latin typeface="Sarabun" pitchFamily="34" charset="0"/>
                          <a:ea typeface="Sarabun" pitchFamily="34" charset="-122"/>
                          <a:cs typeface="Sarabun" pitchFamily="34" charset="-120"/>
                        </a:rPr>
                        <a:t>พบใน</a:t>
                      </a:r>
                      <a:endParaRPr lang="en-US" sz="13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tc>
                  <a:txBody>
                    <a:bodyPr/>
                    <a:lstStyle/>
                    <a:p>
                      <a:pPr marL="0" indent="0" algn="l">
                        <a:buNone/>
                      </a:pPr>
                      <a:r>
                        <a:rPr lang="en-US" sz="1300" b="1" dirty="0">
                          <a:solidFill>
                            <a:srgbClr val="FFFFFF"/>
                          </a:solidFill>
                          <a:latin typeface="Sarabun" pitchFamily="34" charset="0"/>
                          <a:ea typeface="Sarabun" pitchFamily="34" charset="-122"/>
                          <a:cs typeface="Sarabun" pitchFamily="34" charset="-120"/>
                        </a:rPr>
                        <a:t>ลักษณะของปัญหา</a:t>
                      </a:r>
                      <a:endParaRPr lang="en-US" sz="13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extLst>
                  <a:ext uri="{0D108BD9-81ED-4DB2-BD59-A6C34878D82A}">
                    <a16:rowId xmlns:a16="http://schemas.microsoft.com/office/drawing/2014/main" val="10000"/>
                  </a:ext>
                </a:extLst>
              </a:tr>
              <a:tr h="1188720">
                <a:tc>
                  <a:txBody>
                    <a:bodyPr/>
                    <a:lstStyle/>
                    <a:p>
                      <a:pPr marL="0" indent="0">
                        <a:buNone/>
                      </a:pPr>
                      <a:r>
                        <a:rPr lang="en-US" sz="1300" b="1" dirty="0">
                          <a:solidFill>
                            <a:srgbClr val="1F2937"/>
                          </a:solidFill>
                          <a:latin typeface="Sarabun" pitchFamily="34" charset="0"/>
                          <a:ea typeface="Sarabun" pitchFamily="34" charset="-122"/>
                          <a:cs typeface="Sarabun" pitchFamily="34" charset="-120"/>
                        </a:rPr>
                        <a:t>1. การละเว้นการพัฒนาฟีเจอร์</a:t>
                      </a:r>
                      <a:endParaRPr lang="en-US" sz="13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300" dirty="0">
                          <a:solidFill>
                            <a:srgbClr val="1F2937"/>
                          </a:solidFill>
                          <a:latin typeface="Sarabun" pitchFamily="34" charset="0"/>
                          <a:ea typeface="Sarabun" pitchFamily="34" charset="-122"/>
                          <a:cs typeface="Sarabun" pitchFamily="34" charset="-120"/>
                        </a:rPr>
                        <a:t>19 (86%)</a:t>
                      </a:r>
                      <a:endParaRPr lang="en-US" sz="13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300" dirty="0">
                          <a:solidFill>
                            <a:srgbClr val="1F2937"/>
                          </a:solidFill>
                          <a:latin typeface="Sarabun" pitchFamily="34" charset="0"/>
                          <a:ea typeface="Sarabun" pitchFamily="34" charset="-122"/>
                          <a:cs typeface="Sarabun" pitchFamily="34" charset="-120"/>
                        </a:rPr>
                        <a:t>BP 7, CE 12</a:t>
                      </a:r>
                      <a:endParaRPr lang="en-US" sz="1300" dirty="0">
                        <a:latin typeface="Sarabun" charset="0"/>
                        <a:ea typeface="Sarabun" charset="0"/>
                        <a:cs typeface="Sarabun" charset="0"/>
                      </a:endParaRPr>
                    </a:p>
                    <a:p>
                      <a:pPr marL="0" indent="0" algn="ctr">
                        <a:buNone/>
                      </a:pPr>
                      <a:r>
                        <a:rPr lang="en-US" sz="1300" dirty="0">
                          <a:solidFill>
                            <a:srgbClr val="1F2937"/>
                          </a:solidFill>
                          <a:latin typeface="Sarabun" pitchFamily="34" charset="0"/>
                          <a:ea typeface="Sarabun" pitchFamily="34" charset="-122"/>
                          <a:cs typeface="Sarabun" pitchFamily="34" charset="-120"/>
                        </a:rPr>
                        <a:t>(PDBP02, IMCE02, SCCE02 ฯลฯ)</a:t>
                      </a:r>
                      <a:endParaRPr lang="en-US" sz="13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nSpc>
                          <a:spcPct val="150000"/>
                        </a:lnSpc>
                        <a:buNone/>
                      </a:pPr>
                      <a:r>
                        <a:rPr lang="en-US" sz="1300" dirty="0">
                          <a:solidFill>
                            <a:srgbClr val="1F2937"/>
                          </a:solidFill>
                          <a:latin typeface="Sarabun" pitchFamily="34" charset="0"/>
                          <a:ea typeface="Sarabun" pitchFamily="34" charset="-122"/>
                          <a:cs typeface="Sarabun" pitchFamily="34" charset="-120"/>
                        </a:rPr>
                        <a:t>ไม่ปรากฏ Endpoint API หรือฟิลด์ข้อมูลที่จำเป็น ทำให้ทดสอบไม่ได้ตั้งแต่ต้น</a:t>
                      </a:r>
                      <a:endParaRPr lang="en-US" sz="13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extLst>
                  <a:ext uri="{0D108BD9-81ED-4DB2-BD59-A6C34878D82A}">
                    <a16:rowId xmlns:a16="http://schemas.microsoft.com/office/drawing/2014/main" val="10001"/>
                  </a:ext>
                </a:extLst>
              </a:tr>
              <a:tr h="822960">
                <a:tc>
                  <a:txBody>
                    <a:bodyPr/>
                    <a:lstStyle/>
                    <a:p>
                      <a:pPr marL="0" indent="0">
                        <a:buNone/>
                      </a:pPr>
                      <a:r>
                        <a:rPr lang="en-US" sz="1300" b="1" dirty="0">
                          <a:solidFill>
                            <a:srgbClr val="1F2937"/>
                          </a:solidFill>
                          <a:latin typeface="Sarabun" pitchFamily="34" charset="0"/>
                          <a:ea typeface="Sarabun" pitchFamily="34" charset="-122"/>
                          <a:cs typeface="Sarabun" pitchFamily="34" charset="-120"/>
                        </a:rPr>
                        <a:t>2. ตีความเงื่อนไขขอบเขตคลาดเคลื่อน</a:t>
                      </a:r>
                      <a:endParaRPr lang="en-US" sz="13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300" dirty="0">
                          <a:solidFill>
                            <a:srgbClr val="1F2937"/>
                          </a:solidFill>
                          <a:latin typeface="Sarabun" pitchFamily="34" charset="0"/>
                          <a:ea typeface="Sarabun" pitchFamily="34" charset="-122"/>
                          <a:cs typeface="Sarabun" pitchFamily="34" charset="-120"/>
                        </a:rPr>
                        <a:t>2 (9%)</a:t>
                      </a:r>
                      <a:endParaRPr lang="en-US" sz="13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300" dirty="0">
                          <a:solidFill>
                            <a:srgbClr val="1F2937"/>
                          </a:solidFill>
                          <a:latin typeface="Sarabun" pitchFamily="34" charset="0"/>
                          <a:ea typeface="Sarabun" pitchFamily="34" charset="-122"/>
                          <a:cs typeface="Sarabun" pitchFamily="34" charset="-120"/>
                        </a:rPr>
                        <a:t>IMBP01, IMBP02</a:t>
                      </a:r>
                      <a:endParaRPr lang="en-US" sz="13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nSpc>
                          <a:spcPct val="150000"/>
                        </a:lnSpc>
                        <a:buNone/>
                      </a:pPr>
                      <a:r>
                        <a:rPr lang="en-US" sz="1300" dirty="0">
                          <a:solidFill>
                            <a:srgbClr val="1F2937"/>
                          </a:solidFill>
                          <a:latin typeface="Sarabun" pitchFamily="34" charset="0"/>
                          <a:ea typeface="Sarabun" pitchFamily="34" charset="-122"/>
                          <a:cs typeface="Sarabun" pitchFamily="34" charset="-120"/>
                        </a:rPr>
                        <a:t>ใช้ stock &lt; 5 ขณะที่เกณฑ์ทดสอบคือ stock ≤ 5</a:t>
                      </a:r>
                      <a:endParaRPr lang="en-US" sz="13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extLst>
                  <a:ext uri="{0D108BD9-81ED-4DB2-BD59-A6C34878D82A}">
                    <a16:rowId xmlns:a16="http://schemas.microsoft.com/office/drawing/2014/main" val="10002"/>
                  </a:ext>
                </a:extLst>
              </a:tr>
              <a:tr h="822960">
                <a:tc>
                  <a:txBody>
                    <a:bodyPr/>
                    <a:lstStyle/>
                    <a:p>
                      <a:pPr marL="0" indent="0">
                        <a:buNone/>
                      </a:pPr>
                      <a:r>
                        <a:rPr lang="en-US" sz="1300" b="1" dirty="0">
                          <a:solidFill>
                            <a:srgbClr val="1F2937"/>
                          </a:solidFill>
                          <a:latin typeface="Sarabun" pitchFamily="34" charset="0"/>
                          <a:ea typeface="Sarabun" pitchFamily="34" charset="-122"/>
                          <a:cs typeface="Sarabun" pitchFamily="34" charset="-120"/>
                        </a:rPr>
                        <a:t>3. ข้อกำหนดเริ่มต้นไม่ชัดเจน</a:t>
                      </a:r>
                      <a:endParaRPr lang="en-US" sz="13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300" dirty="0">
                          <a:solidFill>
                            <a:srgbClr val="1F2937"/>
                          </a:solidFill>
                          <a:latin typeface="Sarabun" pitchFamily="34" charset="0"/>
                          <a:ea typeface="Sarabun" pitchFamily="34" charset="-122"/>
                          <a:cs typeface="Sarabun" pitchFamily="34" charset="-120"/>
                        </a:rPr>
                        <a:t>1 (5%)</a:t>
                      </a:r>
                      <a:endParaRPr lang="en-US" sz="13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300" dirty="0">
                          <a:solidFill>
                            <a:srgbClr val="1F2937"/>
                          </a:solidFill>
                          <a:latin typeface="Sarabun" pitchFamily="34" charset="0"/>
                          <a:ea typeface="Sarabun" pitchFamily="34" charset="-122"/>
                          <a:cs typeface="Sarabun" pitchFamily="34" charset="-120"/>
                        </a:rPr>
                        <a:t>PDSD02</a:t>
                      </a:r>
                      <a:endParaRPr lang="en-US" sz="13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nSpc>
                          <a:spcPct val="150000"/>
                        </a:lnSpc>
                        <a:buNone/>
                      </a:pPr>
                      <a:r>
                        <a:rPr lang="en-US" sz="1300" dirty="0">
                          <a:solidFill>
                            <a:srgbClr val="1F2937"/>
                          </a:solidFill>
                          <a:latin typeface="Sarabun" pitchFamily="34" charset="0"/>
                          <a:ea typeface="Sarabun" pitchFamily="34" charset="-122"/>
                          <a:cs typeface="Sarabun" pitchFamily="34" charset="-120"/>
                        </a:rPr>
                        <a:t>ทำฟีเจอร์ครบ แต่ข้อมูลทดสอบมีโปรโมชันอัตโนมัติซ้อนอยู่</a:t>
                      </a:r>
                      <a:endParaRPr lang="en-US" sz="13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1F2937"/>
                          </a:solidFill>
                          <a:latin typeface="Sarabun" pitchFamily="34" charset="0"/>
                          <a:ea typeface="Sarabun" pitchFamily="34" charset="-122"/>
                          <a:cs typeface="Sarabun" pitchFamily="34" charset="-120"/>
                        </a:rPr>
                        <a:t>รวม</a:t>
                      </a:r>
                      <a:endParaRPr lang="en-US" sz="13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EF3EF"/>
                    </a:solidFill>
                  </a:tcPr>
                </a:tc>
                <a:tc>
                  <a:txBody>
                    <a:bodyPr/>
                    <a:lstStyle/>
                    <a:p>
                      <a:pPr marL="0" indent="0" algn="ctr">
                        <a:buNone/>
                      </a:pPr>
                      <a:r>
                        <a:rPr lang="en-US" sz="1300" b="1" dirty="0">
                          <a:solidFill>
                            <a:srgbClr val="1F2937"/>
                          </a:solidFill>
                          <a:latin typeface="Sarabun" pitchFamily="34" charset="0"/>
                          <a:ea typeface="Sarabun" pitchFamily="34" charset="-122"/>
                          <a:cs typeface="Sarabun" pitchFamily="34" charset="-120"/>
                        </a:rPr>
                        <a:t>22 (100%)</a:t>
                      </a:r>
                      <a:endParaRPr lang="en-US" sz="13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EF3EF"/>
                    </a:solidFill>
                  </a:tcPr>
                </a:tc>
                <a:tc>
                  <a:txBody>
                    <a:bodyPr/>
                    <a:lstStyle/>
                    <a:p>
                      <a:pPr marL="0" indent="0">
                        <a:buNone/>
                      </a:pPr>
                      <a:endParaRPr lang="en-US" sz="13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EF3EF"/>
                    </a:solidFill>
                  </a:tcPr>
                </a:tc>
                <a:tc>
                  <a:txBody>
                    <a:bodyPr/>
                    <a:lstStyle/>
                    <a:p>
                      <a:pPr marL="0" indent="0">
                        <a:buNone/>
                      </a:pPr>
                      <a:endParaRPr lang="en-US" sz="13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EF3EF"/>
                    </a:solidFill>
                  </a:tcPr>
                </a:tc>
                <a:extLst>
                  <a:ext uri="{0D108BD9-81ED-4DB2-BD59-A6C34878D82A}">
                    <a16:rowId xmlns:a16="http://schemas.microsoft.com/office/drawing/2014/main" val="10004"/>
                  </a:ext>
                </a:extLst>
              </a:tr>
            </a:tbl>
          </a:graphicData>
        </a:graphic>
      </p:graphicFrame>
      <p:sp>
        <p:nvSpPr>
          <p:cNvPr id="9" name="Text 6"/>
          <p:cNvSpPr txBox="1"/>
          <p:nvPr/>
        </p:nvSpPr>
        <p:spPr>
          <a:xfrm>
            <a:off x="4114800" y="5669280"/>
            <a:ext cx="7528255" cy="457200"/>
          </a:xfrm>
          <a:prstGeom prst="rect">
            <a:avLst/>
          </a:prstGeom>
          <a:noFill/>
          <a:ln/>
        </p:spPr>
        <p:txBody>
          <a:bodyPr wrap="square" lIns="0" tIns="0" rIns="0" bIns="0" rtlCol="0" anchor="t"/>
          <a:lstStyle/>
          <a:p>
            <a:pPr marL="0" indent="0" algn="l">
              <a:buNone/>
            </a:pPr>
            <a:r>
              <a:rPr lang="en-US" sz="1200" dirty="0">
                <a:solidFill>
                  <a:srgbClr val="6B7280"/>
                </a:solidFill>
                <a:latin typeface="Sarabun" pitchFamily="34" charset="0"/>
                <a:ea typeface="Sarabun" pitchFamily="34" charset="-122"/>
                <a:cs typeface="Sarabun" pitchFamily="34" charset="-120"/>
              </a:rPr>
              <a:t>ตารางที่ 5.1 สาเหตุของกรณีทดสอบเชิงฟังก์ชันที่ไม่ผ่าน</a:t>
            </a:r>
            <a:endParaRPr lang="en-US" sz="12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5  ผลลัพธ์</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SonarQube: ค่าเฉลี่ยใน 5 มิติ จำแนกตามกลยุทธ์</a:t>
            </a:r>
            <a:endParaRPr lang="en-US" sz="2800" dirty="0"/>
          </a:p>
        </p:txBody>
      </p:sp>
      <p:sp>
        <p:nvSpPr>
          <p:cNvPr id="4" name="Shape 2"/>
          <p:cNvSpPr/>
          <p:nvPr/>
        </p:nvSpPr>
        <p:spPr>
          <a:xfrm>
            <a:off x="475488" y="1445079"/>
            <a:ext cx="7187184" cy="4150722"/>
          </a:xfrm>
          <a:prstGeom prst="roundRect">
            <a:avLst>
              <a:gd name="adj" fmla="val 1762"/>
            </a:avLst>
          </a:prstGeom>
          <a:solidFill>
            <a:srgbClr val="FFFFFF"/>
          </a:solidFill>
          <a:ln w="12700">
            <a:solidFill>
              <a:srgbClr val="D5DFD8"/>
            </a:solidFill>
            <a:prstDash val="solid"/>
          </a:ln>
        </p:spPr>
        <p:txBody>
          <a:bodyPr/>
          <a:lstStyle/>
          <a:p>
            <a:endParaRPr lang="en-TH"/>
          </a:p>
        </p:txBody>
      </p:sp>
      <p:pic>
        <p:nvPicPr>
          <p:cNvPr id="5" name="Image 0" descr="figure 14"/>
          <p:cNvPicPr>
            <a:picLocks noChangeAspect="1"/>
          </p:cNvPicPr>
          <p:nvPr/>
        </p:nvPicPr>
        <p:blipFill>
          <a:blip r:embed="rId3"/>
          <a:stretch>
            <a:fillRect/>
          </a:stretch>
        </p:blipFill>
        <p:spPr>
          <a:xfrm>
            <a:off x="548640" y="1518231"/>
            <a:ext cx="7040880" cy="4004418"/>
          </a:xfrm>
          <a:prstGeom prst="rect">
            <a:avLst/>
          </a:prstGeom>
        </p:spPr>
      </p:pic>
      <p:sp>
        <p:nvSpPr>
          <p:cNvPr id="6" name="Text 3"/>
          <p:cNvSpPr txBox="1"/>
          <p:nvPr/>
        </p:nvSpPr>
        <p:spPr>
          <a:xfrm>
            <a:off x="548640" y="5669280"/>
            <a:ext cx="7040880" cy="457200"/>
          </a:xfrm>
          <a:prstGeom prst="rect">
            <a:avLst/>
          </a:prstGeom>
          <a:noFill/>
          <a:ln/>
        </p:spPr>
        <p:txBody>
          <a:bodyPr wrap="square" lIns="0" tIns="0" rIns="0" bIns="0" rtlCol="0" anchor="t"/>
          <a:lstStyle/>
          <a:p>
            <a:pPr marL="0" indent="0" algn="ctr">
              <a:buNone/>
            </a:pPr>
            <a:r>
              <a:rPr lang="en-US" sz="1200" dirty="0">
                <a:solidFill>
                  <a:srgbClr val="6B7280"/>
                </a:solidFill>
                <a:latin typeface="Sarabun" pitchFamily="34" charset="0"/>
                <a:ea typeface="Sarabun" pitchFamily="34" charset="-122"/>
                <a:cs typeface="Sarabun" pitchFamily="34" charset="-120"/>
              </a:rPr>
              <a:t>รูปที่ 5.7 ค่าเฉลี่ยผลการวิเคราะห์ SonarQube ใน 5 มิติคุณภาพ (ยิ่งต่ำยิ่งดี)</a:t>
            </a:r>
            <a:endParaRPr lang="en-US" sz="1200" dirty="0"/>
          </a:p>
        </p:txBody>
      </p:sp>
      <p:sp>
        <p:nvSpPr>
          <p:cNvPr id="7" name="card"/>
          <p:cNvSpPr/>
          <p:nvPr/>
        </p:nvSpPr>
        <p:spPr>
          <a:xfrm>
            <a:off x="7863840" y="1508760"/>
            <a:ext cx="3776472" cy="4526280"/>
          </a:xfrm>
          <a:prstGeom prst="roundRect">
            <a:avLst>
              <a:gd name="adj" fmla="val 2906"/>
            </a:avLst>
          </a:prstGeom>
          <a:solidFill>
            <a:srgbClr val="EEF3EF"/>
          </a:solidFill>
          <a:ln w="12700">
            <a:solidFill>
              <a:srgbClr val="EEF3EF"/>
            </a:solidFill>
            <a:prstDash val="solid"/>
          </a:ln>
        </p:spPr>
        <p:txBody>
          <a:bodyPr/>
          <a:lstStyle/>
          <a:p>
            <a:endParaRPr lang="en-TH"/>
          </a:p>
        </p:txBody>
      </p:sp>
      <p:sp>
        <p:nvSpPr>
          <p:cNvPr id="8" name="Text 5"/>
          <p:cNvSpPr txBox="1"/>
          <p:nvPr/>
        </p:nvSpPr>
        <p:spPr>
          <a:xfrm>
            <a:off x="8138160" y="1691640"/>
            <a:ext cx="3200400" cy="365760"/>
          </a:xfrm>
          <a:prstGeom prst="rect">
            <a:avLst/>
          </a:prstGeom>
          <a:noFill/>
          <a:ln/>
        </p:spPr>
        <p:txBody>
          <a:bodyPr wrap="square" lIns="0" tIns="0" rIns="0" bIns="0" rtlCol="0" anchor="t"/>
          <a:lstStyle/>
          <a:p>
            <a:pPr marL="0" indent="0">
              <a:buNone/>
            </a:pPr>
            <a:r>
              <a:rPr lang="en-US" sz="1700" b="1" dirty="0">
                <a:solidFill>
                  <a:srgbClr val="1C5739"/>
                </a:solidFill>
                <a:latin typeface="Sarabun" pitchFamily="34" charset="0"/>
                <a:ea typeface="Sarabun" pitchFamily="34" charset="-122"/>
                <a:cs typeface="Sarabun" pitchFamily="34" charset="-120"/>
              </a:rPr>
              <a:t>ดีที่สุดในแต่ละมิติ</a:t>
            </a:r>
            <a:endParaRPr lang="en-US" sz="1700" dirty="0"/>
          </a:p>
        </p:txBody>
      </p:sp>
      <p:sp>
        <p:nvSpPr>
          <p:cNvPr id="9" name="Text 6"/>
          <p:cNvSpPr txBox="1"/>
          <p:nvPr/>
        </p:nvSpPr>
        <p:spPr>
          <a:xfrm>
            <a:off x="8138160" y="2240280"/>
            <a:ext cx="1920240" cy="548640"/>
          </a:xfrm>
          <a:prstGeom prst="rect">
            <a:avLst/>
          </a:prstGeom>
          <a:noFill/>
          <a:ln/>
        </p:spPr>
        <p:txBody>
          <a:bodyPr wrap="square" lIns="0" tIns="0" rIns="0" bIns="0" rtlCol="0" anchor="ctr"/>
          <a:lstStyle/>
          <a:p>
            <a:pPr marL="0" indent="0">
              <a:buNone/>
            </a:pPr>
            <a:r>
              <a:rPr lang="en-US" sz="1400" dirty="0">
                <a:solidFill>
                  <a:srgbClr val="1F2937"/>
                </a:solidFill>
                <a:latin typeface="Sarabun" pitchFamily="34" charset="0"/>
                <a:ea typeface="Sarabun" pitchFamily="34" charset="-122"/>
                <a:cs typeface="Sarabun" pitchFamily="34" charset="-120"/>
              </a:rPr>
              <a:t>Security (Open)</a:t>
            </a:r>
            <a:endParaRPr lang="en-US" sz="1400" dirty="0"/>
          </a:p>
        </p:txBody>
      </p:sp>
      <p:sp>
        <p:nvSpPr>
          <p:cNvPr id="10" name="Shape 7"/>
          <p:cNvSpPr/>
          <p:nvPr/>
        </p:nvSpPr>
        <p:spPr>
          <a:xfrm>
            <a:off x="10058400" y="2368296"/>
            <a:ext cx="594360" cy="292608"/>
          </a:xfrm>
          <a:prstGeom prst="roundRect">
            <a:avLst>
              <a:gd name="adj" fmla="val 50000"/>
            </a:avLst>
          </a:prstGeom>
          <a:solidFill>
            <a:srgbClr val="1FA971"/>
          </a:solidFill>
          <a:ln w="19050">
            <a:solidFill>
              <a:srgbClr val="FFFFFF"/>
            </a:solidFill>
            <a:prstDash val="solid"/>
          </a:ln>
        </p:spPr>
        <p:txBody>
          <a:bodyPr/>
          <a:lstStyle/>
          <a:p>
            <a:endParaRPr lang="en-TH"/>
          </a:p>
        </p:txBody>
      </p:sp>
      <p:sp>
        <p:nvSpPr>
          <p:cNvPr id="11" name="Text 8"/>
          <p:cNvSpPr txBox="1"/>
          <p:nvPr/>
        </p:nvSpPr>
        <p:spPr>
          <a:xfrm>
            <a:off x="10058400" y="2368296"/>
            <a:ext cx="59436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SDD</a:t>
            </a:r>
            <a:endParaRPr lang="en-US" sz="1200" dirty="0"/>
          </a:p>
        </p:txBody>
      </p:sp>
      <p:sp>
        <p:nvSpPr>
          <p:cNvPr id="12" name="Text 9"/>
          <p:cNvSpPr txBox="1"/>
          <p:nvPr/>
        </p:nvSpPr>
        <p:spPr>
          <a:xfrm>
            <a:off x="10744200" y="2240280"/>
            <a:ext cx="822960" cy="548640"/>
          </a:xfrm>
          <a:prstGeom prst="rect">
            <a:avLst/>
          </a:prstGeom>
          <a:noFill/>
          <a:ln/>
        </p:spPr>
        <p:txBody>
          <a:bodyPr wrap="square" lIns="0" tIns="0" rIns="0" bIns="0" rtlCol="0" anchor="ctr"/>
          <a:lstStyle/>
          <a:p>
            <a:pPr marL="0" indent="0" algn="r">
              <a:buNone/>
            </a:pPr>
            <a:r>
              <a:rPr lang="en-US" sz="1500" b="1" dirty="0">
                <a:solidFill>
                  <a:srgbClr val="1C5739"/>
                </a:solidFill>
                <a:latin typeface="Sarabun" pitchFamily="34" charset="0"/>
                <a:ea typeface="Sarabun" pitchFamily="34" charset="-122"/>
                <a:cs typeface="Sarabun" pitchFamily="34" charset="-120"/>
              </a:rPr>
              <a:t>4.33</a:t>
            </a:r>
            <a:endParaRPr lang="en-US" sz="1500" dirty="0"/>
          </a:p>
        </p:txBody>
      </p:sp>
      <p:sp>
        <p:nvSpPr>
          <p:cNvPr id="13" name="Text 10"/>
          <p:cNvSpPr txBox="1"/>
          <p:nvPr/>
        </p:nvSpPr>
        <p:spPr>
          <a:xfrm>
            <a:off x="8138160" y="2990088"/>
            <a:ext cx="1920240" cy="548640"/>
          </a:xfrm>
          <a:prstGeom prst="rect">
            <a:avLst/>
          </a:prstGeom>
          <a:noFill/>
          <a:ln/>
        </p:spPr>
        <p:txBody>
          <a:bodyPr wrap="square" lIns="0" tIns="0" rIns="0" bIns="0" rtlCol="0" anchor="ctr"/>
          <a:lstStyle/>
          <a:p>
            <a:pPr marL="0" indent="0">
              <a:buNone/>
            </a:pPr>
            <a:r>
              <a:rPr lang="en-US" sz="1400" dirty="0">
                <a:solidFill>
                  <a:srgbClr val="1F2937"/>
                </a:solidFill>
                <a:latin typeface="Sarabun" pitchFamily="34" charset="0"/>
                <a:ea typeface="Sarabun" pitchFamily="34" charset="-122"/>
                <a:cs typeface="Sarabun" pitchFamily="34" charset="-120"/>
              </a:rPr>
              <a:t>Security Hotspots</a:t>
            </a:r>
            <a:endParaRPr lang="en-US" sz="1400" dirty="0"/>
          </a:p>
        </p:txBody>
      </p:sp>
      <p:sp>
        <p:nvSpPr>
          <p:cNvPr id="14" name="Shape 11"/>
          <p:cNvSpPr/>
          <p:nvPr/>
        </p:nvSpPr>
        <p:spPr>
          <a:xfrm>
            <a:off x="10058400" y="3118104"/>
            <a:ext cx="594360" cy="292608"/>
          </a:xfrm>
          <a:prstGeom prst="roundRect">
            <a:avLst>
              <a:gd name="adj" fmla="val 50000"/>
            </a:avLst>
          </a:prstGeom>
          <a:solidFill>
            <a:srgbClr val="E4572E"/>
          </a:solidFill>
          <a:ln w="19050">
            <a:solidFill>
              <a:srgbClr val="FFFFFF"/>
            </a:solidFill>
            <a:prstDash val="solid"/>
          </a:ln>
        </p:spPr>
        <p:txBody>
          <a:bodyPr/>
          <a:lstStyle/>
          <a:p>
            <a:endParaRPr lang="en-TH"/>
          </a:p>
        </p:txBody>
      </p:sp>
      <p:sp>
        <p:nvSpPr>
          <p:cNvPr id="15" name="Text 12"/>
          <p:cNvSpPr txBox="1"/>
          <p:nvPr/>
        </p:nvSpPr>
        <p:spPr>
          <a:xfrm>
            <a:off x="10058400" y="3118104"/>
            <a:ext cx="59436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BP</a:t>
            </a:r>
            <a:endParaRPr lang="en-US" sz="1200" dirty="0"/>
          </a:p>
        </p:txBody>
      </p:sp>
      <p:sp>
        <p:nvSpPr>
          <p:cNvPr id="16" name="Text 13"/>
          <p:cNvSpPr txBox="1"/>
          <p:nvPr/>
        </p:nvSpPr>
        <p:spPr>
          <a:xfrm>
            <a:off x="10744200" y="2990088"/>
            <a:ext cx="822960" cy="548640"/>
          </a:xfrm>
          <a:prstGeom prst="rect">
            <a:avLst/>
          </a:prstGeom>
          <a:noFill/>
          <a:ln/>
        </p:spPr>
        <p:txBody>
          <a:bodyPr wrap="square" lIns="0" tIns="0" rIns="0" bIns="0" rtlCol="0" anchor="ctr"/>
          <a:lstStyle/>
          <a:p>
            <a:pPr marL="0" indent="0" algn="r">
              <a:buNone/>
            </a:pPr>
            <a:r>
              <a:rPr lang="en-US" sz="1500" b="1" dirty="0">
                <a:solidFill>
                  <a:srgbClr val="1C5739"/>
                </a:solidFill>
                <a:latin typeface="Sarabun" pitchFamily="34" charset="0"/>
                <a:ea typeface="Sarabun" pitchFamily="34" charset="-122"/>
                <a:cs typeface="Sarabun" pitchFamily="34" charset="-120"/>
              </a:rPr>
              <a:t>1.33</a:t>
            </a:r>
            <a:endParaRPr lang="en-US" sz="1500" dirty="0"/>
          </a:p>
        </p:txBody>
      </p:sp>
      <p:sp>
        <p:nvSpPr>
          <p:cNvPr id="17" name="Text 14"/>
          <p:cNvSpPr txBox="1"/>
          <p:nvPr/>
        </p:nvSpPr>
        <p:spPr>
          <a:xfrm>
            <a:off x="8138160" y="3739896"/>
            <a:ext cx="1920240" cy="548640"/>
          </a:xfrm>
          <a:prstGeom prst="rect">
            <a:avLst/>
          </a:prstGeom>
          <a:noFill/>
          <a:ln/>
        </p:spPr>
        <p:txBody>
          <a:bodyPr wrap="square" lIns="0" tIns="0" rIns="0" bIns="0" rtlCol="0" anchor="ctr"/>
          <a:lstStyle/>
          <a:p>
            <a:pPr marL="0" indent="0">
              <a:buNone/>
            </a:pPr>
            <a:r>
              <a:rPr lang="en-US" sz="1400" dirty="0">
                <a:solidFill>
                  <a:srgbClr val="1F2937"/>
                </a:solidFill>
                <a:latin typeface="Sarabun" pitchFamily="34" charset="0"/>
                <a:ea typeface="Sarabun" pitchFamily="34" charset="-122"/>
                <a:cs typeface="Sarabun" pitchFamily="34" charset="-120"/>
              </a:rPr>
              <a:t>Reliability</a:t>
            </a:r>
            <a:endParaRPr lang="en-US" sz="1400" dirty="0"/>
          </a:p>
        </p:txBody>
      </p:sp>
      <p:sp>
        <p:nvSpPr>
          <p:cNvPr id="18" name="Shape 15"/>
          <p:cNvSpPr/>
          <p:nvPr/>
        </p:nvSpPr>
        <p:spPr>
          <a:xfrm>
            <a:off x="10058400" y="3867912"/>
            <a:ext cx="594360" cy="292608"/>
          </a:xfrm>
          <a:prstGeom prst="roundRect">
            <a:avLst>
              <a:gd name="adj" fmla="val 50000"/>
            </a:avLst>
          </a:prstGeom>
          <a:solidFill>
            <a:srgbClr val="E4572E"/>
          </a:solidFill>
          <a:ln w="19050">
            <a:solidFill>
              <a:srgbClr val="FFFFFF"/>
            </a:solidFill>
            <a:prstDash val="solid"/>
          </a:ln>
        </p:spPr>
        <p:txBody>
          <a:bodyPr/>
          <a:lstStyle/>
          <a:p>
            <a:endParaRPr lang="en-TH"/>
          </a:p>
        </p:txBody>
      </p:sp>
      <p:sp>
        <p:nvSpPr>
          <p:cNvPr id="19" name="Text 16"/>
          <p:cNvSpPr txBox="1"/>
          <p:nvPr/>
        </p:nvSpPr>
        <p:spPr>
          <a:xfrm>
            <a:off x="10058400" y="3867912"/>
            <a:ext cx="59436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BP</a:t>
            </a:r>
            <a:endParaRPr lang="en-US" sz="1200" dirty="0"/>
          </a:p>
        </p:txBody>
      </p:sp>
      <p:sp>
        <p:nvSpPr>
          <p:cNvPr id="20" name="Text 17"/>
          <p:cNvSpPr txBox="1"/>
          <p:nvPr/>
        </p:nvSpPr>
        <p:spPr>
          <a:xfrm>
            <a:off x="10744200" y="3739896"/>
            <a:ext cx="822960" cy="548640"/>
          </a:xfrm>
          <a:prstGeom prst="rect">
            <a:avLst/>
          </a:prstGeom>
          <a:noFill/>
          <a:ln/>
        </p:spPr>
        <p:txBody>
          <a:bodyPr wrap="square" lIns="0" tIns="0" rIns="0" bIns="0" rtlCol="0" anchor="ctr"/>
          <a:lstStyle/>
          <a:p>
            <a:pPr marL="0" indent="0" algn="r">
              <a:buNone/>
            </a:pPr>
            <a:r>
              <a:rPr lang="en-US" sz="1500" b="1" dirty="0">
                <a:solidFill>
                  <a:srgbClr val="1C5739"/>
                </a:solidFill>
                <a:latin typeface="Sarabun" pitchFamily="34" charset="0"/>
                <a:ea typeface="Sarabun" pitchFamily="34" charset="-122"/>
                <a:cs typeface="Sarabun" pitchFamily="34" charset="-120"/>
              </a:rPr>
              <a:t>3.17</a:t>
            </a:r>
            <a:endParaRPr lang="en-US" sz="1500" dirty="0"/>
          </a:p>
        </p:txBody>
      </p:sp>
      <p:sp>
        <p:nvSpPr>
          <p:cNvPr id="21" name="Text 18"/>
          <p:cNvSpPr txBox="1"/>
          <p:nvPr/>
        </p:nvSpPr>
        <p:spPr>
          <a:xfrm>
            <a:off x="8138160" y="4489704"/>
            <a:ext cx="1920240" cy="548640"/>
          </a:xfrm>
          <a:prstGeom prst="rect">
            <a:avLst/>
          </a:prstGeom>
          <a:noFill/>
          <a:ln/>
        </p:spPr>
        <p:txBody>
          <a:bodyPr wrap="square" lIns="0" tIns="0" rIns="0" bIns="0" rtlCol="0" anchor="ctr"/>
          <a:lstStyle/>
          <a:p>
            <a:pPr marL="0" indent="0">
              <a:buNone/>
            </a:pPr>
            <a:r>
              <a:rPr lang="en-US" sz="1400" dirty="0">
                <a:solidFill>
                  <a:srgbClr val="1F2937"/>
                </a:solidFill>
                <a:latin typeface="Sarabun" pitchFamily="34" charset="0"/>
                <a:ea typeface="Sarabun" pitchFamily="34" charset="-122"/>
                <a:cs typeface="Sarabun" pitchFamily="34" charset="-120"/>
              </a:rPr>
              <a:t>Maintainability</a:t>
            </a:r>
            <a:endParaRPr lang="en-US" sz="1400" dirty="0"/>
          </a:p>
        </p:txBody>
      </p:sp>
      <p:sp>
        <p:nvSpPr>
          <p:cNvPr id="22" name="Shape 19"/>
          <p:cNvSpPr/>
          <p:nvPr/>
        </p:nvSpPr>
        <p:spPr>
          <a:xfrm>
            <a:off x="10058400" y="4617720"/>
            <a:ext cx="594360" cy="292608"/>
          </a:xfrm>
          <a:prstGeom prst="roundRect">
            <a:avLst>
              <a:gd name="adj" fmla="val 50000"/>
            </a:avLst>
          </a:prstGeom>
          <a:solidFill>
            <a:srgbClr val="E4572E"/>
          </a:solidFill>
          <a:ln w="19050">
            <a:solidFill>
              <a:srgbClr val="FFFFFF"/>
            </a:solidFill>
            <a:prstDash val="solid"/>
          </a:ln>
        </p:spPr>
        <p:txBody>
          <a:bodyPr/>
          <a:lstStyle/>
          <a:p>
            <a:endParaRPr lang="en-TH"/>
          </a:p>
        </p:txBody>
      </p:sp>
      <p:sp>
        <p:nvSpPr>
          <p:cNvPr id="23" name="Text 20"/>
          <p:cNvSpPr txBox="1"/>
          <p:nvPr/>
        </p:nvSpPr>
        <p:spPr>
          <a:xfrm>
            <a:off x="10058400" y="4617720"/>
            <a:ext cx="59436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BP</a:t>
            </a:r>
            <a:endParaRPr lang="en-US" sz="1200" dirty="0"/>
          </a:p>
        </p:txBody>
      </p:sp>
      <p:sp>
        <p:nvSpPr>
          <p:cNvPr id="24" name="Text 21"/>
          <p:cNvSpPr txBox="1"/>
          <p:nvPr/>
        </p:nvSpPr>
        <p:spPr>
          <a:xfrm>
            <a:off x="10744200" y="4489704"/>
            <a:ext cx="822960" cy="548640"/>
          </a:xfrm>
          <a:prstGeom prst="rect">
            <a:avLst/>
          </a:prstGeom>
          <a:noFill/>
          <a:ln/>
        </p:spPr>
        <p:txBody>
          <a:bodyPr wrap="square" lIns="0" tIns="0" rIns="0" bIns="0" rtlCol="0" anchor="ctr"/>
          <a:lstStyle/>
          <a:p>
            <a:pPr marL="0" indent="0" algn="r">
              <a:buNone/>
            </a:pPr>
            <a:r>
              <a:rPr lang="en-US" sz="1500" b="1" dirty="0">
                <a:solidFill>
                  <a:srgbClr val="1C5739"/>
                </a:solidFill>
                <a:latin typeface="Sarabun" pitchFamily="34" charset="0"/>
                <a:ea typeface="Sarabun" pitchFamily="34" charset="-122"/>
                <a:cs typeface="Sarabun" pitchFamily="34" charset="-120"/>
              </a:rPr>
              <a:t>6.83</a:t>
            </a:r>
            <a:endParaRPr lang="en-US" sz="1500" dirty="0"/>
          </a:p>
        </p:txBody>
      </p:sp>
      <p:sp>
        <p:nvSpPr>
          <p:cNvPr id="25" name="Text 22"/>
          <p:cNvSpPr txBox="1"/>
          <p:nvPr/>
        </p:nvSpPr>
        <p:spPr>
          <a:xfrm>
            <a:off x="8138160" y="5239512"/>
            <a:ext cx="1920240" cy="548640"/>
          </a:xfrm>
          <a:prstGeom prst="rect">
            <a:avLst/>
          </a:prstGeom>
          <a:noFill/>
          <a:ln/>
        </p:spPr>
        <p:txBody>
          <a:bodyPr wrap="square" lIns="0" tIns="0" rIns="0" bIns="0" rtlCol="0" anchor="ctr"/>
          <a:lstStyle/>
          <a:p>
            <a:pPr marL="0" indent="0">
              <a:buNone/>
            </a:pPr>
            <a:r>
              <a:rPr lang="en-US" sz="1400" dirty="0">
                <a:solidFill>
                  <a:srgbClr val="1F2937"/>
                </a:solidFill>
                <a:latin typeface="Sarabun" pitchFamily="34" charset="0"/>
                <a:ea typeface="Sarabun" pitchFamily="34" charset="-122"/>
                <a:cs typeface="Sarabun" pitchFamily="34" charset="-120"/>
              </a:rPr>
              <a:t>Duplications</a:t>
            </a:r>
            <a:endParaRPr lang="en-US" sz="1400" dirty="0"/>
          </a:p>
        </p:txBody>
      </p:sp>
      <p:sp>
        <p:nvSpPr>
          <p:cNvPr id="26" name="Shape 23"/>
          <p:cNvSpPr/>
          <p:nvPr/>
        </p:nvSpPr>
        <p:spPr>
          <a:xfrm>
            <a:off x="10058400" y="5367528"/>
            <a:ext cx="594360" cy="292608"/>
          </a:xfrm>
          <a:prstGeom prst="roundRect">
            <a:avLst>
              <a:gd name="adj" fmla="val 50000"/>
            </a:avLst>
          </a:prstGeom>
          <a:solidFill>
            <a:srgbClr val="2F80ED"/>
          </a:solidFill>
          <a:ln w="19050">
            <a:solidFill>
              <a:srgbClr val="FFFFFF"/>
            </a:solidFill>
            <a:prstDash val="solid"/>
          </a:ln>
        </p:spPr>
        <p:txBody>
          <a:bodyPr/>
          <a:lstStyle/>
          <a:p>
            <a:endParaRPr lang="en-TH"/>
          </a:p>
        </p:txBody>
      </p:sp>
      <p:sp>
        <p:nvSpPr>
          <p:cNvPr id="27" name="Text 24"/>
          <p:cNvSpPr txBox="1"/>
          <p:nvPr/>
        </p:nvSpPr>
        <p:spPr>
          <a:xfrm>
            <a:off x="10058400" y="5367528"/>
            <a:ext cx="59436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CE</a:t>
            </a:r>
            <a:endParaRPr lang="en-US" sz="1200" dirty="0"/>
          </a:p>
        </p:txBody>
      </p:sp>
      <p:sp>
        <p:nvSpPr>
          <p:cNvPr id="28" name="Text 25"/>
          <p:cNvSpPr txBox="1"/>
          <p:nvPr/>
        </p:nvSpPr>
        <p:spPr>
          <a:xfrm>
            <a:off x="10744200" y="5239512"/>
            <a:ext cx="822960" cy="548640"/>
          </a:xfrm>
          <a:prstGeom prst="rect">
            <a:avLst/>
          </a:prstGeom>
          <a:noFill/>
          <a:ln/>
        </p:spPr>
        <p:txBody>
          <a:bodyPr wrap="square" lIns="0" tIns="0" rIns="0" bIns="0" rtlCol="0" anchor="ctr"/>
          <a:lstStyle/>
          <a:p>
            <a:pPr marL="0" indent="0" algn="r">
              <a:buNone/>
            </a:pPr>
            <a:r>
              <a:rPr lang="en-US" sz="1500" b="1" dirty="0">
                <a:solidFill>
                  <a:srgbClr val="1C5739"/>
                </a:solidFill>
                <a:latin typeface="Sarabun" pitchFamily="34" charset="0"/>
                <a:ea typeface="Sarabun" pitchFamily="34" charset="-122"/>
                <a:cs typeface="Sarabun" pitchFamily="34" charset="-120"/>
              </a:rPr>
              <a:t>1.53%</a:t>
            </a:r>
            <a:endParaRPr lang="en-US" sz="1500" dirty="0"/>
          </a:p>
        </p:txBody>
      </p:sp>
      <p:sp>
        <p:nvSpPr>
          <p:cNvPr id="29"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5  ผลลัพธ์</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SonarQube: ผลรายเวอร์ชัน 18 เวอร์ชัน</a:t>
            </a:r>
            <a:endParaRPr lang="en-US" sz="2800" dirty="0"/>
          </a:p>
        </p:txBody>
      </p:sp>
      <p:sp>
        <p:nvSpPr>
          <p:cNvPr id="4" name="Shape 2"/>
          <p:cNvSpPr/>
          <p:nvPr/>
        </p:nvSpPr>
        <p:spPr>
          <a:xfrm>
            <a:off x="475488" y="1628629"/>
            <a:ext cx="11240719" cy="3600743"/>
          </a:xfrm>
          <a:prstGeom prst="roundRect">
            <a:avLst>
              <a:gd name="adj" fmla="val 2032"/>
            </a:avLst>
          </a:prstGeom>
          <a:solidFill>
            <a:srgbClr val="FFFFFF"/>
          </a:solidFill>
          <a:ln w="12700">
            <a:solidFill>
              <a:srgbClr val="D5DFD8"/>
            </a:solidFill>
            <a:prstDash val="solid"/>
          </a:ln>
        </p:spPr>
        <p:txBody>
          <a:bodyPr/>
          <a:lstStyle/>
          <a:p>
            <a:endParaRPr lang="en-TH"/>
          </a:p>
        </p:txBody>
      </p:sp>
      <p:pic>
        <p:nvPicPr>
          <p:cNvPr id="5" name="Image 0" descr="figure 13"/>
          <p:cNvPicPr>
            <a:picLocks noChangeAspect="1"/>
          </p:cNvPicPr>
          <p:nvPr/>
        </p:nvPicPr>
        <p:blipFill>
          <a:blip r:embed="rId3"/>
          <a:stretch>
            <a:fillRect/>
          </a:stretch>
        </p:blipFill>
        <p:spPr>
          <a:xfrm>
            <a:off x="548640" y="1701781"/>
            <a:ext cx="11094415" cy="3454439"/>
          </a:xfrm>
          <a:prstGeom prst="rect">
            <a:avLst/>
          </a:prstGeom>
        </p:spPr>
      </p:pic>
      <p:sp>
        <p:nvSpPr>
          <p:cNvPr id="6" name="Text 3"/>
          <p:cNvSpPr txBox="1"/>
          <p:nvPr/>
        </p:nvSpPr>
        <p:spPr>
          <a:xfrm>
            <a:off x="548640" y="5349240"/>
            <a:ext cx="11094415" cy="457200"/>
          </a:xfrm>
          <a:prstGeom prst="rect">
            <a:avLst/>
          </a:prstGeom>
          <a:noFill/>
          <a:ln/>
        </p:spPr>
        <p:txBody>
          <a:bodyPr wrap="square" lIns="0" tIns="0" rIns="0" bIns="0" rtlCol="0" anchor="t"/>
          <a:lstStyle/>
          <a:p>
            <a:pPr marL="0" indent="0" algn="ctr">
              <a:buNone/>
            </a:pPr>
            <a:r>
              <a:rPr lang="en-US" sz="1200" dirty="0">
                <a:solidFill>
                  <a:srgbClr val="6B7280"/>
                </a:solidFill>
                <a:latin typeface="Sarabun" pitchFamily="34" charset="0"/>
                <a:ea typeface="Sarabun" pitchFamily="34" charset="-122"/>
                <a:cs typeface="Sarabun" pitchFamily="34" charset="-120"/>
              </a:rPr>
              <a:t>รูปที่ 5.6 ผลการวิเคราะห์ SonarQube จำแนกตามเวอร์ชันทั้ง 18 เวอร์ชัน</a:t>
            </a:r>
            <a:endParaRPr lang="en-US" sz="1200" dirty="0"/>
          </a:p>
        </p:txBody>
      </p:sp>
      <p:sp>
        <p:nvSpPr>
          <p:cNvPr id="7" name="card"/>
          <p:cNvSpPr/>
          <p:nvPr/>
        </p:nvSpPr>
        <p:spPr>
          <a:xfrm>
            <a:off x="548640" y="5669280"/>
            <a:ext cx="11094415" cy="640080"/>
          </a:xfrm>
          <a:prstGeom prst="roundRect">
            <a:avLst>
              <a:gd name="adj" fmla="val 17143"/>
            </a:avLst>
          </a:prstGeom>
          <a:solidFill>
            <a:srgbClr val="EEF3EF"/>
          </a:solidFill>
          <a:ln w="12700">
            <a:solidFill>
              <a:srgbClr val="EEF3EF"/>
            </a:solidFill>
            <a:prstDash val="solid"/>
          </a:ln>
        </p:spPr>
        <p:txBody>
          <a:bodyPr/>
          <a:lstStyle/>
          <a:p>
            <a:endParaRPr lang="en-TH"/>
          </a:p>
        </p:txBody>
      </p:sp>
      <p:sp>
        <p:nvSpPr>
          <p:cNvPr id="8" name="Text 5"/>
          <p:cNvSpPr txBox="1"/>
          <p:nvPr/>
        </p:nvSpPr>
        <p:spPr>
          <a:xfrm>
            <a:off x="868680" y="5669280"/>
            <a:ext cx="10454335" cy="640080"/>
          </a:xfrm>
          <a:prstGeom prst="rect">
            <a:avLst/>
          </a:prstGeom>
          <a:noFill/>
          <a:ln/>
        </p:spPr>
        <p:txBody>
          <a:bodyPr wrap="square" lIns="0" tIns="0" rIns="0" bIns="0" rtlCol="0" anchor="ctr"/>
          <a:lstStyle/>
          <a:p>
            <a:pPr marL="0" indent="0">
              <a:buNone/>
            </a:pPr>
            <a:r>
              <a:rPr lang="en-US" sz="1500" dirty="0">
                <a:solidFill>
                  <a:srgbClr val="1C5739"/>
                </a:solidFill>
                <a:latin typeface="Sarabun" pitchFamily="34" charset="0"/>
                <a:ea typeface="Sarabun" pitchFamily="34" charset="-122"/>
                <a:cs typeface="Sarabun" pitchFamily="34" charset="-120"/>
              </a:rPr>
              <a:t>SDD ให้ผลดีสุดด้านปัญหาความปลอดภัย แต่มีความซ้ำซ้อนของซอร์สโค้ดสูงสุด (6.27%)</a:t>
            </a:r>
            <a:endParaRPr lang="en-US" sz="15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5  ผลลัพธ์</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CodeQL (SAST): การแจ้งเตือนด้านความปลอดภัย</a:t>
            </a:r>
            <a:endParaRPr lang="en-US" sz="2800" dirty="0"/>
          </a:p>
        </p:txBody>
      </p:sp>
      <p:sp>
        <p:nvSpPr>
          <p:cNvPr id="4" name="Shape 2"/>
          <p:cNvSpPr/>
          <p:nvPr/>
        </p:nvSpPr>
        <p:spPr>
          <a:xfrm>
            <a:off x="475488" y="1464243"/>
            <a:ext cx="6547104" cy="3106554"/>
          </a:xfrm>
          <a:prstGeom prst="roundRect">
            <a:avLst>
              <a:gd name="adj" fmla="val 2355"/>
            </a:avLst>
          </a:prstGeom>
          <a:solidFill>
            <a:srgbClr val="FFFFFF"/>
          </a:solidFill>
          <a:ln w="12700">
            <a:solidFill>
              <a:srgbClr val="D5DFD8"/>
            </a:solidFill>
            <a:prstDash val="solid"/>
          </a:ln>
        </p:spPr>
        <p:txBody>
          <a:bodyPr/>
          <a:lstStyle/>
          <a:p>
            <a:endParaRPr lang="en-TH"/>
          </a:p>
        </p:txBody>
      </p:sp>
      <p:pic>
        <p:nvPicPr>
          <p:cNvPr id="5" name="Image 0" descr="figure 15"/>
          <p:cNvPicPr>
            <a:picLocks noChangeAspect="1"/>
          </p:cNvPicPr>
          <p:nvPr/>
        </p:nvPicPr>
        <p:blipFill>
          <a:blip r:embed="rId3"/>
          <a:stretch>
            <a:fillRect/>
          </a:stretch>
        </p:blipFill>
        <p:spPr>
          <a:xfrm>
            <a:off x="548640" y="1537395"/>
            <a:ext cx="6400800" cy="2960250"/>
          </a:xfrm>
          <a:prstGeom prst="rect">
            <a:avLst/>
          </a:prstGeom>
        </p:spPr>
      </p:pic>
      <p:sp>
        <p:nvSpPr>
          <p:cNvPr id="6" name="Text 3"/>
          <p:cNvSpPr txBox="1"/>
          <p:nvPr/>
        </p:nvSpPr>
        <p:spPr>
          <a:xfrm>
            <a:off x="548640" y="4572000"/>
            <a:ext cx="6400800" cy="457200"/>
          </a:xfrm>
          <a:prstGeom prst="rect">
            <a:avLst/>
          </a:prstGeom>
          <a:noFill/>
          <a:ln/>
        </p:spPr>
        <p:txBody>
          <a:bodyPr wrap="square" lIns="0" tIns="0" rIns="0" bIns="0" rtlCol="0" anchor="t"/>
          <a:lstStyle/>
          <a:p>
            <a:pPr marL="0" indent="0" algn="ctr">
              <a:buNone/>
            </a:pPr>
            <a:r>
              <a:rPr lang="en-US" sz="1200" dirty="0">
                <a:solidFill>
                  <a:srgbClr val="6B7280"/>
                </a:solidFill>
                <a:latin typeface="Sarabun" pitchFamily="34" charset="0"/>
                <a:ea typeface="Sarabun" pitchFamily="34" charset="-122"/>
                <a:cs typeface="Sarabun" pitchFamily="34" charset="-120"/>
              </a:rPr>
              <a:t>รูปที่ 5.8 จำนวนการแจ้งเตือนจาก CodeQL จำแนกตามเวอร์ชัน</a:t>
            </a:r>
            <a:endParaRPr lang="en-US" sz="1200" dirty="0"/>
          </a:p>
        </p:txBody>
      </p:sp>
      <p:sp>
        <p:nvSpPr>
          <p:cNvPr id="7" name="Shape 4"/>
          <p:cNvSpPr/>
          <p:nvPr/>
        </p:nvSpPr>
        <p:spPr>
          <a:xfrm>
            <a:off x="7251432" y="1435608"/>
            <a:ext cx="4425215" cy="3163824"/>
          </a:xfrm>
          <a:prstGeom prst="roundRect">
            <a:avLst>
              <a:gd name="adj" fmla="val 2312"/>
            </a:avLst>
          </a:prstGeom>
          <a:solidFill>
            <a:srgbClr val="FFFFFF"/>
          </a:solidFill>
          <a:ln w="12700">
            <a:solidFill>
              <a:srgbClr val="D5DFD8"/>
            </a:solidFill>
            <a:prstDash val="solid"/>
          </a:ln>
        </p:spPr>
        <p:txBody>
          <a:bodyPr/>
          <a:lstStyle/>
          <a:p>
            <a:endParaRPr lang="en-TH"/>
          </a:p>
        </p:txBody>
      </p:sp>
      <p:pic>
        <p:nvPicPr>
          <p:cNvPr id="8" name="Image 1" descr="figure 16"/>
          <p:cNvPicPr>
            <a:picLocks noChangeAspect="1"/>
          </p:cNvPicPr>
          <p:nvPr/>
        </p:nvPicPr>
        <p:blipFill>
          <a:blip r:embed="rId4"/>
          <a:stretch>
            <a:fillRect/>
          </a:stretch>
        </p:blipFill>
        <p:spPr>
          <a:xfrm>
            <a:off x="7324584" y="1508760"/>
            <a:ext cx="4278911" cy="3017520"/>
          </a:xfrm>
          <a:prstGeom prst="rect">
            <a:avLst/>
          </a:prstGeom>
        </p:spPr>
      </p:pic>
      <p:sp>
        <p:nvSpPr>
          <p:cNvPr id="9" name="Text 5"/>
          <p:cNvSpPr txBox="1"/>
          <p:nvPr/>
        </p:nvSpPr>
        <p:spPr>
          <a:xfrm>
            <a:off x="7315200" y="4572000"/>
            <a:ext cx="4297680" cy="457200"/>
          </a:xfrm>
          <a:prstGeom prst="rect">
            <a:avLst/>
          </a:prstGeom>
          <a:noFill/>
          <a:ln/>
        </p:spPr>
        <p:txBody>
          <a:bodyPr wrap="square" lIns="0" tIns="0" rIns="0" bIns="0" rtlCol="0" anchor="t"/>
          <a:lstStyle/>
          <a:p>
            <a:pPr marL="0" indent="0" algn="ctr">
              <a:buNone/>
            </a:pPr>
            <a:r>
              <a:rPr lang="en-US" sz="1200" dirty="0">
                <a:solidFill>
                  <a:srgbClr val="6B7280"/>
                </a:solidFill>
                <a:latin typeface="Sarabun" pitchFamily="34" charset="0"/>
                <a:ea typeface="Sarabun" pitchFamily="34" charset="-122"/>
                <a:cs typeface="Sarabun" pitchFamily="34" charset="-120"/>
              </a:rPr>
              <a:t>รูปที่ 5.9 จำแนกตามกลยุทธ์และระดับความรุนแรง</a:t>
            </a:r>
            <a:endParaRPr lang="en-US" sz="1200" dirty="0"/>
          </a:p>
        </p:txBody>
      </p:sp>
      <p:sp>
        <p:nvSpPr>
          <p:cNvPr id="10" name="card"/>
          <p:cNvSpPr/>
          <p:nvPr/>
        </p:nvSpPr>
        <p:spPr>
          <a:xfrm>
            <a:off x="548640" y="5166360"/>
            <a:ext cx="2011680" cy="1097280"/>
          </a:xfrm>
          <a:prstGeom prst="roundRect">
            <a:avLst>
              <a:gd name="adj" fmla="val 10000"/>
            </a:avLst>
          </a:prstGeom>
          <a:solidFill>
            <a:srgbClr val="EEF3EF"/>
          </a:solidFill>
          <a:ln w="12700">
            <a:solidFill>
              <a:srgbClr val="EEF3EF"/>
            </a:solidFill>
            <a:prstDash val="solid"/>
          </a:ln>
        </p:spPr>
        <p:txBody>
          <a:bodyPr/>
          <a:lstStyle/>
          <a:p>
            <a:endParaRPr lang="en-TH"/>
          </a:p>
        </p:txBody>
      </p:sp>
      <p:sp>
        <p:nvSpPr>
          <p:cNvPr id="11" name="Shape 7"/>
          <p:cNvSpPr/>
          <p:nvPr/>
        </p:nvSpPr>
        <p:spPr>
          <a:xfrm>
            <a:off x="777240" y="5303520"/>
            <a:ext cx="685800" cy="292608"/>
          </a:xfrm>
          <a:prstGeom prst="roundRect">
            <a:avLst>
              <a:gd name="adj" fmla="val 50000"/>
            </a:avLst>
          </a:prstGeom>
          <a:solidFill>
            <a:srgbClr val="1FA971"/>
          </a:solidFill>
          <a:ln w="19050">
            <a:solidFill>
              <a:srgbClr val="FFFFFF"/>
            </a:solidFill>
            <a:prstDash val="solid"/>
          </a:ln>
        </p:spPr>
        <p:txBody>
          <a:bodyPr/>
          <a:lstStyle/>
          <a:p>
            <a:endParaRPr lang="en-TH"/>
          </a:p>
        </p:txBody>
      </p:sp>
      <p:sp>
        <p:nvSpPr>
          <p:cNvPr id="12" name="Text 8"/>
          <p:cNvSpPr txBox="1"/>
          <p:nvPr/>
        </p:nvSpPr>
        <p:spPr>
          <a:xfrm>
            <a:off x="777240" y="5303520"/>
            <a:ext cx="68580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SDD</a:t>
            </a:r>
            <a:endParaRPr lang="en-US" sz="1200" dirty="0"/>
          </a:p>
        </p:txBody>
      </p:sp>
      <p:sp>
        <p:nvSpPr>
          <p:cNvPr id="13" name="Text 9"/>
          <p:cNvSpPr txBox="1"/>
          <p:nvPr/>
        </p:nvSpPr>
        <p:spPr>
          <a:xfrm>
            <a:off x="777240" y="5669280"/>
            <a:ext cx="1737360" cy="457200"/>
          </a:xfrm>
          <a:prstGeom prst="rect">
            <a:avLst/>
          </a:prstGeom>
          <a:noFill/>
          <a:ln/>
        </p:spPr>
        <p:txBody>
          <a:bodyPr wrap="square" lIns="0" tIns="0" rIns="0" bIns="0" rtlCol="0" anchor="t"/>
          <a:lstStyle/>
          <a:p>
            <a:pPr marL="0" indent="0">
              <a:buNone/>
            </a:pPr>
            <a:r>
              <a:rPr lang="en-US" sz="1800" b="1" dirty="0">
                <a:solidFill>
                  <a:srgbClr val="1C5739"/>
                </a:solidFill>
                <a:latin typeface="Sarabun" pitchFamily="34" charset="0"/>
                <a:ea typeface="Sarabun" pitchFamily="34" charset="-122"/>
                <a:cs typeface="Sarabun" pitchFamily="34" charset="-120"/>
              </a:rPr>
              <a:t>3 แจ้งเตือน</a:t>
            </a:r>
            <a:endParaRPr lang="en-US" sz="1800" dirty="0"/>
          </a:p>
        </p:txBody>
      </p:sp>
      <p:sp>
        <p:nvSpPr>
          <p:cNvPr id="14" name="card"/>
          <p:cNvSpPr/>
          <p:nvPr/>
        </p:nvSpPr>
        <p:spPr>
          <a:xfrm>
            <a:off x="2743200" y="5166360"/>
            <a:ext cx="2011680" cy="1097280"/>
          </a:xfrm>
          <a:prstGeom prst="roundRect">
            <a:avLst>
              <a:gd name="adj" fmla="val 10000"/>
            </a:avLst>
          </a:prstGeom>
          <a:solidFill>
            <a:srgbClr val="EEF3EF"/>
          </a:solidFill>
          <a:ln w="12700">
            <a:solidFill>
              <a:srgbClr val="EEF3EF"/>
            </a:solidFill>
            <a:prstDash val="solid"/>
          </a:ln>
        </p:spPr>
        <p:txBody>
          <a:bodyPr/>
          <a:lstStyle/>
          <a:p>
            <a:endParaRPr lang="en-TH"/>
          </a:p>
        </p:txBody>
      </p:sp>
      <p:sp>
        <p:nvSpPr>
          <p:cNvPr id="15" name="Shape 11"/>
          <p:cNvSpPr/>
          <p:nvPr/>
        </p:nvSpPr>
        <p:spPr>
          <a:xfrm>
            <a:off x="2971800" y="5303520"/>
            <a:ext cx="685800" cy="292608"/>
          </a:xfrm>
          <a:prstGeom prst="roundRect">
            <a:avLst>
              <a:gd name="adj" fmla="val 50000"/>
            </a:avLst>
          </a:prstGeom>
          <a:solidFill>
            <a:srgbClr val="E4572E"/>
          </a:solidFill>
          <a:ln w="19050">
            <a:solidFill>
              <a:srgbClr val="FFFFFF"/>
            </a:solidFill>
            <a:prstDash val="solid"/>
          </a:ln>
        </p:spPr>
        <p:txBody>
          <a:bodyPr/>
          <a:lstStyle/>
          <a:p>
            <a:endParaRPr lang="en-TH"/>
          </a:p>
        </p:txBody>
      </p:sp>
      <p:sp>
        <p:nvSpPr>
          <p:cNvPr id="16" name="Text 12"/>
          <p:cNvSpPr txBox="1"/>
          <p:nvPr/>
        </p:nvSpPr>
        <p:spPr>
          <a:xfrm>
            <a:off x="2971800" y="5303520"/>
            <a:ext cx="68580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BP</a:t>
            </a:r>
            <a:endParaRPr lang="en-US" sz="1200" dirty="0"/>
          </a:p>
        </p:txBody>
      </p:sp>
      <p:sp>
        <p:nvSpPr>
          <p:cNvPr id="17" name="Text 13"/>
          <p:cNvSpPr txBox="1"/>
          <p:nvPr/>
        </p:nvSpPr>
        <p:spPr>
          <a:xfrm>
            <a:off x="2971800" y="5669280"/>
            <a:ext cx="1737360" cy="457200"/>
          </a:xfrm>
          <a:prstGeom prst="rect">
            <a:avLst/>
          </a:prstGeom>
          <a:noFill/>
          <a:ln/>
        </p:spPr>
        <p:txBody>
          <a:bodyPr wrap="square" lIns="0" tIns="0" rIns="0" bIns="0" rtlCol="0" anchor="t"/>
          <a:lstStyle/>
          <a:p>
            <a:pPr marL="0" indent="0">
              <a:buNone/>
            </a:pPr>
            <a:r>
              <a:rPr lang="en-US" sz="1800" b="1" dirty="0">
                <a:solidFill>
                  <a:srgbClr val="1C5739"/>
                </a:solidFill>
                <a:latin typeface="Sarabun" pitchFamily="34" charset="0"/>
                <a:ea typeface="Sarabun" pitchFamily="34" charset="-122"/>
                <a:cs typeface="Sarabun" pitchFamily="34" charset="-120"/>
              </a:rPr>
              <a:t>6 แจ้งเตือน</a:t>
            </a:r>
            <a:endParaRPr lang="en-US" sz="1800" dirty="0"/>
          </a:p>
        </p:txBody>
      </p:sp>
      <p:sp>
        <p:nvSpPr>
          <p:cNvPr id="18" name="card"/>
          <p:cNvSpPr/>
          <p:nvPr/>
        </p:nvSpPr>
        <p:spPr>
          <a:xfrm>
            <a:off x="4937760" y="5166360"/>
            <a:ext cx="2011680" cy="1097280"/>
          </a:xfrm>
          <a:prstGeom prst="roundRect">
            <a:avLst>
              <a:gd name="adj" fmla="val 10000"/>
            </a:avLst>
          </a:prstGeom>
          <a:solidFill>
            <a:srgbClr val="EEF3EF"/>
          </a:solidFill>
          <a:ln w="12700">
            <a:solidFill>
              <a:srgbClr val="EEF3EF"/>
            </a:solidFill>
            <a:prstDash val="solid"/>
          </a:ln>
        </p:spPr>
        <p:txBody>
          <a:bodyPr/>
          <a:lstStyle/>
          <a:p>
            <a:endParaRPr lang="en-TH"/>
          </a:p>
        </p:txBody>
      </p:sp>
      <p:sp>
        <p:nvSpPr>
          <p:cNvPr id="19" name="Shape 15"/>
          <p:cNvSpPr/>
          <p:nvPr/>
        </p:nvSpPr>
        <p:spPr>
          <a:xfrm>
            <a:off x="5166360" y="5303520"/>
            <a:ext cx="685800" cy="292608"/>
          </a:xfrm>
          <a:prstGeom prst="roundRect">
            <a:avLst>
              <a:gd name="adj" fmla="val 50000"/>
            </a:avLst>
          </a:prstGeom>
          <a:solidFill>
            <a:srgbClr val="2F80ED"/>
          </a:solidFill>
          <a:ln w="19050">
            <a:solidFill>
              <a:srgbClr val="FFFFFF"/>
            </a:solidFill>
            <a:prstDash val="solid"/>
          </a:ln>
        </p:spPr>
        <p:txBody>
          <a:bodyPr/>
          <a:lstStyle/>
          <a:p>
            <a:endParaRPr lang="en-TH"/>
          </a:p>
        </p:txBody>
      </p:sp>
      <p:sp>
        <p:nvSpPr>
          <p:cNvPr id="20" name="Text 16"/>
          <p:cNvSpPr txBox="1"/>
          <p:nvPr/>
        </p:nvSpPr>
        <p:spPr>
          <a:xfrm>
            <a:off x="5166360" y="5303520"/>
            <a:ext cx="68580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CE</a:t>
            </a:r>
            <a:endParaRPr lang="en-US" sz="1200" dirty="0"/>
          </a:p>
        </p:txBody>
      </p:sp>
      <p:sp>
        <p:nvSpPr>
          <p:cNvPr id="21" name="Text 17"/>
          <p:cNvSpPr txBox="1"/>
          <p:nvPr/>
        </p:nvSpPr>
        <p:spPr>
          <a:xfrm>
            <a:off x="5166360" y="5669280"/>
            <a:ext cx="1737360" cy="457200"/>
          </a:xfrm>
          <a:prstGeom prst="rect">
            <a:avLst/>
          </a:prstGeom>
          <a:noFill/>
          <a:ln/>
        </p:spPr>
        <p:txBody>
          <a:bodyPr wrap="square" lIns="0" tIns="0" rIns="0" bIns="0" rtlCol="0" anchor="t"/>
          <a:lstStyle/>
          <a:p>
            <a:pPr marL="0" indent="0">
              <a:buNone/>
            </a:pPr>
            <a:r>
              <a:rPr lang="en-US" sz="1800" b="1" dirty="0">
                <a:solidFill>
                  <a:srgbClr val="1C5739"/>
                </a:solidFill>
                <a:latin typeface="Sarabun" pitchFamily="34" charset="0"/>
                <a:ea typeface="Sarabun" pitchFamily="34" charset="-122"/>
                <a:cs typeface="Sarabun" pitchFamily="34" charset="-120"/>
              </a:rPr>
              <a:t>19 แจ้งเตือน</a:t>
            </a:r>
            <a:endParaRPr lang="en-US" sz="1800" dirty="0"/>
          </a:p>
        </p:txBody>
      </p:sp>
      <p:sp>
        <p:nvSpPr>
          <p:cNvPr id="22" name="card"/>
          <p:cNvSpPr/>
          <p:nvPr/>
        </p:nvSpPr>
        <p:spPr>
          <a:xfrm>
            <a:off x="7315200" y="5166360"/>
            <a:ext cx="4297680" cy="1097280"/>
          </a:xfrm>
          <a:prstGeom prst="roundRect">
            <a:avLst>
              <a:gd name="adj" fmla="val 10000"/>
            </a:avLst>
          </a:prstGeom>
          <a:solidFill>
            <a:srgbClr val="1C5739"/>
          </a:solidFill>
          <a:ln w="12700">
            <a:solidFill>
              <a:srgbClr val="1C5739"/>
            </a:solidFill>
            <a:prstDash val="solid"/>
          </a:ln>
        </p:spPr>
        <p:txBody>
          <a:bodyPr/>
          <a:lstStyle/>
          <a:p>
            <a:endParaRPr lang="en-TH"/>
          </a:p>
        </p:txBody>
      </p:sp>
      <p:sp>
        <p:nvSpPr>
          <p:cNvPr id="23" name="Text 19"/>
          <p:cNvSpPr txBox="1"/>
          <p:nvPr/>
        </p:nvSpPr>
        <p:spPr>
          <a:xfrm>
            <a:off x="7589520" y="5166360"/>
            <a:ext cx="3749040" cy="1097280"/>
          </a:xfrm>
          <a:prstGeom prst="rect">
            <a:avLst/>
          </a:prstGeom>
          <a:noFill/>
          <a:ln/>
        </p:spPr>
        <p:txBody>
          <a:bodyPr wrap="square" lIns="0" tIns="0" rIns="0" bIns="0" rtlCol="0" anchor="ctr"/>
          <a:lstStyle/>
          <a:p>
            <a:pPr marL="0" indent="0">
              <a:buNone/>
            </a:pPr>
            <a:r>
              <a:rPr lang="en-US" sz="1500" b="1" dirty="0">
                <a:solidFill>
                  <a:srgbClr val="FFFFFF"/>
                </a:solidFill>
                <a:latin typeface="Sarabun" pitchFamily="34" charset="0"/>
                <a:ea typeface="Sarabun" pitchFamily="34" charset="-122"/>
                <a:cs typeface="Sarabun" pitchFamily="34" charset="-120"/>
              </a:rPr>
              <a:t>86% ของการแจ้งเตือนทั้งหมดเป็นปัญหาเดียวกัน: ไม่มี Rate Limiting</a:t>
            </a:r>
            <a:endParaRPr lang="en-US" sz="15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5  ผลลัพธ์</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ZAP (DAST): คำเตือนขณะทำงานจริง</a:t>
            </a:r>
            <a:endParaRPr lang="en-US" sz="2800" dirty="0"/>
          </a:p>
        </p:txBody>
      </p:sp>
      <p:sp>
        <p:nvSpPr>
          <p:cNvPr id="4" name="Shape 2"/>
          <p:cNvSpPr/>
          <p:nvPr/>
        </p:nvSpPr>
        <p:spPr>
          <a:xfrm>
            <a:off x="1057468" y="1344168"/>
            <a:ext cx="5291703" cy="2295144"/>
          </a:xfrm>
          <a:prstGeom prst="roundRect">
            <a:avLst>
              <a:gd name="adj" fmla="val 3187"/>
            </a:avLst>
          </a:prstGeom>
          <a:solidFill>
            <a:srgbClr val="FFFFFF"/>
          </a:solidFill>
          <a:ln w="12700">
            <a:solidFill>
              <a:srgbClr val="D5DFD8"/>
            </a:solidFill>
            <a:prstDash val="solid"/>
          </a:ln>
        </p:spPr>
        <p:txBody>
          <a:bodyPr/>
          <a:lstStyle/>
          <a:p>
            <a:endParaRPr lang="en-TH"/>
          </a:p>
        </p:txBody>
      </p:sp>
      <p:pic>
        <p:nvPicPr>
          <p:cNvPr id="5" name="Image 0" descr="figure 17"/>
          <p:cNvPicPr>
            <a:picLocks noChangeAspect="1"/>
          </p:cNvPicPr>
          <p:nvPr/>
        </p:nvPicPr>
        <p:blipFill>
          <a:blip r:embed="rId3"/>
          <a:stretch>
            <a:fillRect/>
          </a:stretch>
        </p:blipFill>
        <p:spPr>
          <a:xfrm>
            <a:off x="1130620" y="1417320"/>
            <a:ext cx="5145399" cy="2148840"/>
          </a:xfrm>
          <a:prstGeom prst="rect">
            <a:avLst/>
          </a:prstGeom>
        </p:spPr>
      </p:pic>
      <p:sp>
        <p:nvSpPr>
          <p:cNvPr id="6" name="Text 3"/>
          <p:cNvSpPr txBox="1"/>
          <p:nvPr/>
        </p:nvSpPr>
        <p:spPr>
          <a:xfrm>
            <a:off x="548640" y="3639312"/>
            <a:ext cx="6309360" cy="457200"/>
          </a:xfrm>
          <a:prstGeom prst="rect">
            <a:avLst/>
          </a:prstGeom>
          <a:noFill/>
          <a:ln/>
        </p:spPr>
        <p:txBody>
          <a:bodyPr wrap="square" lIns="0" tIns="0" rIns="0" bIns="0" rtlCol="0" anchor="t"/>
          <a:lstStyle/>
          <a:p>
            <a:pPr marL="0" indent="0" algn="ctr">
              <a:buNone/>
            </a:pPr>
            <a:r>
              <a:rPr lang="en-US" sz="1100" dirty="0">
                <a:solidFill>
                  <a:srgbClr val="6B7280"/>
                </a:solidFill>
                <a:latin typeface="Sarabun" pitchFamily="34" charset="0"/>
                <a:ea typeface="Sarabun" pitchFamily="34" charset="-122"/>
                <a:cs typeface="Sarabun" pitchFamily="34" charset="-120"/>
              </a:rPr>
              <a:t>รูปที่ 5.11 ผลสรุปการสแกน DAST (ZAP) จำแนกตามกลยุทธ์</a:t>
            </a:r>
            <a:endParaRPr lang="en-US" sz="1100" dirty="0"/>
          </a:p>
        </p:txBody>
      </p:sp>
      <p:sp>
        <p:nvSpPr>
          <p:cNvPr id="7" name="Shape 4"/>
          <p:cNvSpPr/>
          <p:nvPr/>
        </p:nvSpPr>
        <p:spPr>
          <a:xfrm>
            <a:off x="1378019" y="3950208"/>
            <a:ext cx="4650602" cy="2066544"/>
          </a:xfrm>
          <a:prstGeom prst="roundRect">
            <a:avLst>
              <a:gd name="adj" fmla="val 3540"/>
            </a:avLst>
          </a:prstGeom>
          <a:solidFill>
            <a:srgbClr val="FFFFFF"/>
          </a:solidFill>
          <a:ln w="12700">
            <a:solidFill>
              <a:srgbClr val="D5DFD8"/>
            </a:solidFill>
            <a:prstDash val="solid"/>
          </a:ln>
        </p:spPr>
        <p:txBody>
          <a:bodyPr/>
          <a:lstStyle/>
          <a:p>
            <a:endParaRPr lang="en-TH"/>
          </a:p>
        </p:txBody>
      </p:sp>
      <p:pic>
        <p:nvPicPr>
          <p:cNvPr id="8" name="Image 1" descr="figure 18"/>
          <p:cNvPicPr>
            <a:picLocks noChangeAspect="1"/>
          </p:cNvPicPr>
          <p:nvPr/>
        </p:nvPicPr>
        <p:blipFill>
          <a:blip r:embed="rId4"/>
          <a:stretch>
            <a:fillRect/>
          </a:stretch>
        </p:blipFill>
        <p:spPr>
          <a:xfrm>
            <a:off x="1451171" y="4023360"/>
            <a:ext cx="4504298" cy="1920240"/>
          </a:xfrm>
          <a:prstGeom prst="rect">
            <a:avLst/>
          </a:prstGeom>
        </p:spPr>
      </p:pic>
      <p:sp>
        <p:nvSpPr>
          <p:cNvPr id="9" name="Text 5"/>
          <p:cNvSpPr txBox="1"/>
          <p:nvPr/>
        </p:nvSpPr>
        <p:spPr>
          <a:xfrm>
            <a:off x="548640" y="6016752"/>
            <a:ext cx="6309360" cy="457200"/>
          </a:xfrm>
          <a:prstGeom prst="rect">
            <a:avLst/>
          </a:prstGeom>
          <a:noFill/>
          <a:ln/>
        </p:spPr>
        <p:txBody>
          <a:bodyPr wrap="square" lIns="0" tIns="0" rIns="0" bIns="0" rtlCol="0" anchor="t"/>
          <a:lstStyle/>
          <a:p>
            <a:pPr marL="0" indent="0" algn="ctr">
              <a:buNone/>
            </a:pPr>
            <a:r>
              <a:rPr lang="en-US" sz="1100" dirty="0">
                <a:solidFill>
                  <a:srgbClr val="6B7280"/>
                </a:solidFill>
                <a:latin typeface="Sarabun" pitchFamily="34" charset="0"/>
                <a:ea typeface="Sarabun" pitchFamily="34" charset="-122"/>
                <a:cs typeface="Sarabun" pitchFamily="34" charset="-120"/>
              </a:rPr>
              <a:t>รูปที่ 5.10 จำนวนคำเตือนจากการทดสอบ DAST (ZAP) จำแนกตามเวอร์ชัน</a:t>
            </a:r>
            <a:endParaRPr lang="en-US" sz="1100" dirty="0"/>
          </a:p>
        </p:txBody>
      </p:sp>
      <p:sp>
        <p:nvSpPr>
          <p:cNvPr id="10" name="card"/>
          <p:cNvSpPr/>
          <p:nvPr/>
        </p:nvSpPr>
        <p:spPr>
          <a:xfrm>
            <a:off x="7315200" y="1508760"/>
            <a:ext cx="4325112" cy="1371600"/>
          </a:xfrm>
          <a:prstGeom prst="roundRect">
            <a:avLst>
              <a:gd name="adj" fmla="val 8000"/>
            </a:avLst>
          </a:prstGeom>
          <a:solidFill>
            <a:srgbClr val="EEF3EF"/>
          </a:solidFill>
          <a:ln w="12700">
            <a:solidFill>
              <a:srgbClr val="EEF3EF"/>
            </a:solidFill>
            <a:prstDash val="solid"/>
          </a:ln>
        </p:spPr>
        <p:txBody>
          <a:bodyPr/>
          <a:lstStyle/>
          <a:p>
            <a:endParaRPr lang="en-TH"/>
          </a:p>
        </p:txBody>
      </p:sp>
      <p:sp>
        <p:nvSpPr>
          <p:cNvPr id="11" name="Shape 7"/>
          <p:cNvSpPr/>
          <p:nvPr/>
        </p:nvSpPr>
        <p:spPr>
          <a:xfrm>
            <a:off x="7589520" y="1737360"/>
            <a:ext cx="731520" cy="292608"/>
          </a:xfrm>
          <a:prstGeom prst="roundRect">
            <a:avLst>
              <a:gd name="adj" fmla="val 50000"/>
            </a:avLst>
          </a:prstGeom>
          <a:solidFill>
            <a:srgbClr val="1FA971"/>
          </a:solidFill>
          <a:ln w="19050">
            <a:solidFill>
              <a:srgbClr val="FFFFFF"/>
            </a:solidFill>
            <a:prstDash val="solid"/>
          </a:ln>
        </p:spPr>
        <p:txBody>
          <a:bodyPr/>
          <a:lstStyle/>
          <a:p>
            <a:endParaRPr lang="en-TH"/>
          </a:p>
        </p:txBody>
      </p:sp>
      <p:sp>
        <p:nvSpPr>
          <p:cNvPr id="12" name="Text 8"/>
          <p:cNvSpPr txBox="1"/>
          <p:nvPr/>
        </p:nvSpPr>
        <p:spPr>
          <a:xfrm>
            <a:off x="7589520" y="1737360"/>
            <a:ext cx="73152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SDD</a:t>
            </a:r>
            <a:endParaRPr lang="en-US" sz="1200" dirty="0"/>
          </a:p>
        </p:txBody>
      </p:sp>
      <p:sp>
        <p:nvSpPr>
          <p:cNvPr id="13" name="Text 9"/>
          <p:cNvSpPr txBox="1"/>
          <p:nvPr/>
        </p:nvSpPr>
        <p:spPr>
          <a:xfrm>
            <a:off x="8503920" y="1600200"/>
            <a:ext cx="1371600" cy="731520"/>
          </a:xfrm>
          <a:prstGeom prst="rect">
            <a:avLst/>
          </a:prstGeom>
          <a:noFill/>
          <a:ln/>
        </p:spPr>
        <p:txBody>
          <a:bodyPr wrap="square" lIns="0" tIns="0" rIns="0" bIns="0" rtlCol="0" anchor="ctr"/>
          <a:lstStyle/>
          <a:p>
            <a:pPr marL="0" indent="0">
              <a:buNone/>
            </a:pPr>
            <a:r>
              <a:rPr lang="en-US" sz="3400" b="1" dirty="0">
                <a:solidFill>
                  <a:srgbClr val="1C5739"/>
                </a:solidFill>
                <a:latin typeface="Sarabun" pitchFamily="34" charset="0"/>
                <a:ea typeface="Sarabun" pitchFamily="34" charset="-122"/>
                <a:cs typeface="Sarabun" pitchFamily="34" charset="-120"/>
              </a:rPr>
              <a:t>6.5</a:t>
            </a:r>
            <a:endParaRPr lang="en-US" sz="3400" dirty="0"/>
          </a:p>
        </p:txBody>
      </p:sp>
      <p:sp>
        <p:nvSpPr>
          <p:cNvPr id="14" name="Text 10"/>
          <p:cNvSpPr txBox="1"/>
          <p:nvPr/>
        </p:nvSpPr>
        <p:spPr>
          <a:xfrm>
            <a:off x="7589520" y="2331720"/>
            <a:ext cx="3840480" cy="457200"/>
          </a:xfrm>
          <a:prstGeom prst="rect">
            <a:avLst/>
          </a:prstGeom>
          <a:noFill/>
          <a:ln/>
        </p:spPr>
        <p:txBody>
          <a:bodyPr wrap="square" lIns="0" tIns="0" rIns="0" bIns="0" rtlCol="0" anchor="t"/>
          <a:lstStyle/>
          <a:p>
            <a:pPr marL="0" indent="0">
              <a:buNone/>
            </a:pPr>
            <a:r>
              <a:rPr lang="en-US" sz="1300" dirty="0">
                <a:solidFill>
                  <a:srgbClr val="1F2937"/>
                </a:solidFill>
                <a:latin typeface="Sarabun" pitchFamily="34" charset="0"/>
                <a:ea typeface="Sarabun" pitchFamily="34" charset="-122"/>
                <a:cs typeface="Sarabun" pitchFamily="34" charset="-120"/>
              </a:rPr>
              <a:t>คำเตือนเฉลี่ยต่ำสุด และไม่มี Server version leak</a:t>
            </a:r>
            <a:endParaRPr lang="en-US" sz="1300" dirty="0"/>
          </a:p>
        </p:txBody>
      </p:sp>
      <p:sp>
        <p:nvSpPr>
          <p:cNvPr id="15" name="card"/>
          <p:cNvSpPr/>
          <p:nvPr/>
        </p:nvSpPr>
        <p:spPr>
          <a:xfrm>
            <a:off x="7315200" y="3063240"/>
            <a:ext cx="4325112" cy="1371600"/>
          </a:xfrm>
          <a:prstGeom prst="roundRect">
            <a:avLst>
              <a:gd name="adj" fmla="val 8000"/>
            </a:avLst>
          </a:prstGeom>
          <a:solidFill>
            <a:srgbClr val="EEF3EF"/>
          </a:solidFill>
          <a:ln w="12700">
            <a:solidFill>
              <a:srgbClr val="EEF3EF"/>
            </a:solidFill>
            <a:prstDash val="solid"/>
          </a:ln>
        </p:spPr>
        <p:txBody>
          <a:bodyPr/>
          <a:lstStyle/>
          <a:p>
            <a:endParaRPr lang="en-TH"/>
          </a:p>
        </p:txBody>
      </p:sp>
      <p:sp>
        <p:nvSpPr>
          <p:cNvPr id="16" name="Shape 12"/>
          <p:cNvSpPr/>
          <p:nvPr/>
        </p:nvSpPr>
        <p:spPr>
          <a:xfrm>
            <a:off x="7589520" y="3291840"/>
            <a:ext cx="731520" cy="292608"/>
          </a:xfrm>
          <a:prstGeom prst="roundRect">
            <a:avLst>
              <a:gd name="adj" fmla="val 50000"/>
            </a:avLst>
          </a:prstGeom>
          <a:solidFill>
            <a:srgbClr val="E4572E"/>
          </a:solidFill>
          <a:ln w="19050">
            <a:solidFill>
              <a:srgbClr val="FFFFFF"/>
            </a:solidFill>
            <a:prstDash val="solid"/>
          </a:ln>
        </p:spPr>
        <p:txBody>
          <a:bodyPr/>
          <a:lstStyle/>
          <a:p>
            <a:endParaRPr lang="en-TH"/>
          </a:p>
        </p:txBody>
      </p:sp>
      <p:sp>
        <p:nvSpPr>
          <p:cNvPr id="17" name="Text 13"/>
          <p:cNvSpPr txBox="1"/>
          <p:nvPr/>
        </p:nvSpPr>
        <p:spPr>
          <a:xfrm>
            <a:off x="7589520" y="3291840"/>
            <a:ext cx="73152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BP</a:t>
            </a:r>
            <a:endParaRPr lang="en-US" sz="1200" dirty="0"/>
          </a:p>
        </p:txBody>
      </p:sp>
      <p:sp>
        <p:nvSpPr>
          <p:cNvPr id="18" name="Text 14"/>
          <p:cNvSpPr txBox="1"/>
          <p:nvPr/>
        </p:nvSpPr>
        <p:spPr>
          <a:xfrm>
            <a:off x="8503920" y="3154680"/>
            <a:ext cx="1371600" cy="731520"/>
          </a:xfrm>
          <a:prstGeom prst="rect">
            <a:avLst/>
          </a:prstGeom>
          <a:noFill/>
          <a:ln/>
        </p:spPr>
        <p:txBody>
          <a:bodyPr wrap="square" lIns="0" tIns="0" rIns="0" bIns="0" rtlCol="0" anchor="ctr"/>
          <a:lstStyle/>
          <a:p>
            <a:pPr marL="0" indent="0">
              <a:buNone/>
            </a:pPr>
            <a:r>
              <a:rPr lang="en-US" sz="3400" b="1" dirty="0">
                <a:solidFill>
                  <a:srgbClr val="1C5739"/>
                </a:solidFill>
                <a:latin typeface="Sarabun" pitchFamily="34" charset="0"/>
                <a:ea typeface="Sarabun" pitchFamily="34" charset="-122"/>
                <a:cs typeface="Sarabun" pitchFamily="34" charset="-120"/>
              </a:rPr>
              <a:t>7.2</a:t>
            </a:r>
            <a:endParaRPr lang="en-US" sz="3400" dirty="0"/>
          </a:p>
        </p:txBody>
      </p:sp>
      <p:sp>
        <p:nvSpPr>
          <p:cNvPr id="19" name="Text 15"/>
          <p:cNvSpPr txBox="1"/>
          <p:nvPr/>
        </p:nvSpPr>
        <p:spPr>
          <a:xfrm>
            <a:off x="7589520" y="3886200"/>
            <a:ext cx="3840480" cy="457200"/>
          </a:xfrm>
          <a:prstGeom prst="rect">
            <a:avLst/>
          </a:prstGeom>
          <a:noFill/>
          <a:ln/>
        </p:spPr>
        <p:txBody>
          <a:bodyPr wrap="square" lIns="0" tIns="0" rIns="0" bIns="0" rtlCol="0" anchor="t"/>
          <a:lstStyle/>
          <a:p>
            <a:pPr marL="0" indent="0">
              <a:buNone/>
            </a:pPr>
            <a:r>
              <a:rPr lang="en-US" sz="1300" dirty="0">
                <a:solidFill>
                  <a:srgbClr val="1F2937"/>
                </a:solidFill>
                <a:latin typeface="Sarabun" pitchFamily="34" charset="0"/>
                <a:ea typeface="Sarabun" pitchFamily="34" charset="-122"/>
                <a:cs typeface="Sarabun" pitchFamily="34" charset="-120"/>
              </a:rPr>
              <a:t>พบ Server version leak 1 เวอร์ชัน (PDBP01)</a:t>
            </a:r>
            <a:endParaRPr lang="en-US" sz="1300" dirty="0"/>
          </a:p>
        </p:txBody>
      </p:sp>
      <p:sp>
        <p:nvSpPr>
          <p:cNvPr id="20" name="card"/>
          <p:cNvSpPr/>
          <p:nvPr/>
        </p:nvSpPr>
        <p:spPr>
          <a:xfrm>
            <a:off x="7315200" y="4617720"/>
            <a:ext cx="4325112" cy="1371600"/>
          </a:xfrm>
          <a:prstGeom prst="roundRect">
            <a:avLst>
              <a:gd name="adj" fmla="val 8000"/>
            </a:avLst>
          </a:prstGeom>
          <a:solidFill>
            <a:srgbClr val="EEF3EF"/>
          </a:solidFill>
          <a:ln w="12700">
            <a:solidFill>
              <a:srgbClr val="EEF3EF"/>
            </a:solidFill>
            <a:prstDash val="solid"/>
          </a:ln>
        </p:spPr>
        <p:txBody>
          <a:bodyPr/>
          <a:lstStyle/>
          <a:p>
            <a:endParaRPr lang="en-TH"/>
          </a:p>
        </p:txBody>
      </p:sp>
      <p:sp>
        <p:nvSpPr>
          <p:cNvPr id="21" name="Shape 17"/>
          <p:cNvSpPr/>
          <p:nvPr/>
        </p:nvSpPr>
        <p:spPr>
          <a:xfrm>
            <a:off x="7589520" y="4846320"/>
            <a:ext cx="731520" cy="292608"/>
          </a:xfrm>
          <a:prstGeom prst="roundRect">
            <a:avLst>
              <a:gd name="adj" fmla="val 50000"/>
            </a:avLst>
          </a:prstGeom>
          <a:solidFill>
            <a:srgbClr val="2F80ED"/>
          </a:solidFill>
          <a:ln w="19050">
            <a:solidFill>
              <a:srgbClr val="FFFFFF"/>
            </a:solidFill>
            <a:prstDash val="solid"/>
          </a:ln>
        </p:spPr>
        <p:txBody>
          <a:bodyPr/>
          <a:lstStyle/>
          <a:p>
            <a:endParaRPr lang="en-TH"/>
          </a:p>
        </p:txBody>
      </p:sp>
      <p:sp>
        <p:nvSpPr>
          <p:cNvPr id="22" name="Text 18"/>
          <p:cNvSpPr txBox="1"/>
          <p:nvPr/>
        </p:nvSpPr>
        <p:spPr>
          <a:xfrm>
            <a:off x="7589520" y="4846320"/>
            <a:ext cx="73152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CE</a:t>
            </a:r>
            <a:endParaRPr lang="en-US" sz="1200" dirty="0"/>
          </a:p>
        </p:txBody>
      </p:sp>
      <p:sp>
        <p:nvSpPr>
          <p:cNvPr id="23" name="Text 19"/>
          <p:cNvSpPr txBox="1"/>
          <p:nvPr/>
        </p:nvSpPr>
        <p:spPr>
          <a:xfrm>
            <a:off x="8503920" y="4709160"/>
            <a:ext cx="1371600" cy="731520"/>
          </a:xfrm>
          <a:prstGeom prst="rect">
            <a:avLst/>
          </a:prstGeom>
          <a:noFill/>
          <a:ln/>
        </p:spPr>
        <p:txBody>
          <a:bodyPr wrap="square" lIns="0" tIns="0" rIns="0" bIns="0" rtlCol="0" anchor="ctr"/>
          <a:lstStyle/>
          <a:p>
            <a:pPr marL="0" indent="0">
              <a:buNone/>
            </a:pPr>
            <a:r>
              <a:rPr lang="en-US" sz="3400" b="1" dirty="0">
                <a:solidFill>
                  <a:srgbClr val="1C5739"/>
                </a:solidFill>
                <a:latin typeface="Sarabun" pitchFamily="34" charset="0"/>
                <a:ea typeface="Sarabun" pitchFamily="34" charset="-122"/>
                <a:cs typeface="Sarabun" pitchFamily="34" charset="-120"/>
              </a:rPr>
              <a:t>8.2</a:t>
            </a:r>
            <a:endParaRPr lang="en-US" sz="3400" dirty="0"/>
          </a:p>
        </p:txBody>
      </p:sp>
      <p:sp>
        <p:nvSpPr>
          <p:cNvPr id="24" name="Text 20"/>
          <p:cNvSpPr txBox="1"/>
          <p:nvPr/>
        </p:nvSpPr>
        <p:spPr>
          <a:xfrm>
            <a:off x="7589520" y="5440680"/>
            <a:ext cx="3840480" cy="457200"/>
          </a:xfrm>
          <a:prstGeom prst="rect">
            <a:avLst/>
          </a:prstGeom>
          <a:noFill/>
          <a:ln/>
        </p:spPr>
        <p:txBody>
          <a:bodyPr wrap="square" lIns="0" tIns="0" rIns="0" bIns="0" rtlCol="0" anchor="t"/>
          <a:lstStyle/>
          <a:p>
            <a:pPr marL="0" indent="0">
              <a:buNone/>
            </a:pPr>
            <a:r>
              <a:rPr lang="en-US" sz="1300" dirty="0">
                <a:solidFill>
                  <a:srgbClr val="1F2937"/>
                </a:solidFill>
                <a:latin typeface="Sarabun" pitchFamily="34" charset="0"/>
                <a:ea typeface="Sarabun" pitchFamily="34" charset="-122"/>
                <a:cs typeface="Sarabun" pitchFamily="34" charset="-120"/>
              </a:rPr>
              <a:t>คำเตือนเฉลี่ยสูงสุด และพบ Server version leak 1 เวอร์ชัน (SCCE01)</a:t>
            </a:r>
            <a:endParaRPr lang="en-US" sz="1300" dirty="0"/>
          </a:p>
        </p:txBody>
      </p:sp>
      <p:sp>
        <p:nvSpPr>
          <p:cNvPr id="25" name="Text 21"/>
          <p:cNvSpPr txBox="1"/>
          <p:nvPr/>
        </p:nvSpPr>
        <p:spPr>
          <a:xfrm>
            <a:off x="7315200" y="6172200"/>
            <a:ext cx="4325112" cy="274320"/>
          </a:xfrm>
          <a:prstGeom prst="rect">
            <a:avLst/>
          </a:prstGeom>
          <a:noFill/>
          <a:ln/>
        </p:spPr>
        <p:txBody>
          <a:bodyPr wrap="square" lIns="0" tIns="0" rIns="0" bIns="0" rtlCol="0" anchor="t"/>
          <a:lstStyle/>
          <a:p>
            <a:pPr marL="0" indent="0">
              <a:buNone/>
            </a:pPr>
            <a:r>
              <a:rPr lang="en-US" sz="1100" dirty="0">
                <a:solidFill>
                  <a:srgbClr val="6B7280"/>
                </a:solidFill>
                <a:latin typeface="Sarabun" pitchFamily="34" charset="0"/>
                <a:ea typeface="Sarabun" pitchFamily="34" charset="-122"/>
                <a:cs typeface="Sarabun" pitchFamily="34" charset="-120"/>
              </a:rPr>
              <a:t>คำเตือนเฉลี่ยต่อเวอร์ชัน (ยิ่งต่ำยิ่งดี)</a:t>
            </a:r>
            <a:endParaRPr lang="en-US" sz="1100" dirty="0"/>
          </a:p>
        </p:txBody>
      </p:sp>
      <p:sp>
        <p:nvSpPr>
          <p:cNvPr id="26"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5  ผลลัพธ์</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สรุปเปรียบเทียบหลายมิติ</a:t>
            </a:r>
            <a:endParaRPr 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4279392"/>
        </p:xfrm>
        <a:graphic>
          <a:graphicData uri="http://schemas.openxmlformats.org/drawingml/2006/table">
            <a:tbl>
              <a:tblPr/>
              <a:tblGrid>
                <a:gridCol w="42976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401775">
                  <a:extLst>
                    <a:ext uri="{9D8B030D-6E8A-4147-A177-3AD203B41FA5}">
                      <a16:colId xmlns:a16="http://schemas.microsoft.com/office/drawing/2014/main" val="20005"/>
                    </a:ext>
                  </a:extLst>
                </a:gridCol>
              </a:tblGrid>
              <a:tr h="475488">
                <a:tc>
                  <a:txBody>
                    <a:bodyPr/>
                    <a:lstStyle/>
                    <a:p>
                      <a:pPr marL="0" indent="0" algn="l">
                        <a:buNone/>
                      </a:pPr>
                      <a:r>
                        <a:rPr lang="en-US" sz="1400" b="1" dirty="0">
                          <a:solidFill>
                            <a:srgbClr val="FFFFFF"/>
                          </a:solidFill>
                          <a:latin typeface="Sarabun" pitchFamily="34" charset="0"/>
                          <a:ea typeface="Sarabun" pitchFamily="34" charset="-122"/>
                          <a:cs typeface="Sarabun" pitchFamily="34" charset="-120"/>
                        </a:rPr>
                        <a:t>มิติคุณภาพ</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เครื่องมือ</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BP</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4572E"/>
                    </a:solidFill>
                  </a:tcPr>
                </a:tc>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CE</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2F80ED"/>
                    </a:solidFill>
                  </a:tcPr>
                </a:tc>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SDD</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FA971"/>
                    </a:solidFill>
                  </a:tcPr>
                </a:tc>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ดีที่สุด</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extLst>
                  <a:ext uri="{0D108BD9-81ED-4DB2-BD59-A6C34878D82A}">
                    <a16:rowId xmlns:a16="http://schemas.microsoft.com/office/drawing/2014/main" val="10000"/>
                  </a:ext>
                </a:extLst>
              </a:tr>
              <a:tr h="475488">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ความถูกต้องเชิงฟังก์ชัน ▲</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400" dirty="0">
                          <a:solidFill>
                            <a:srgbClr val="6B7280"/>
                          </a:solidFill>
                          <a:latin typeface="Sarabun" pitchFamily="34" charset="0"/>
                          <a:ea typeface="Sarabun" pitchFamily="34" charset="-122"/>
                          <a:cs typeface="Sarabun" pitchFamily="34" charset="-120"/>
                        </a:rPr>
                        <a:t>Test Suite</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400" dirty="0">
                          <a:solidFill>
                            <a:srgbClr val="1F2937"/>
                          </a:solidFill>
                          <a:latin typeface="Sarabun" pitchFamily="34" charset="0"/>
                          <a:ea typeface="Sarabun" pitchFamily="34" charset="-122"/>
                          <a:cs typeface="Sarabun" pitchFamily="34" charset="-120"/>
                        </a:rPr>
                        <a:t>75%</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7"/>
                          </a:solidFill>
                          <a:latin typeface="Sarabun" pitchFamily="34" charset="0"/>
                          <a:ea typeface="Sarabun" pitchFamily="34" charset="-122"/>
                          <a:cs typeface="Sarabun" pitchFamily="34" charset="-120"/>
                        </a:rPr>
                        <a:t>67%</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C5739"/>
                          </a:solidFill>
                          <a:latin typeface="Sarabun" pitchFamily="34" charset="0"/>
                          <a:ea typeface="Sarabun" pitchFamily="34" charset="-122"/>
                          <a:cs typeface="Sarabun" pitchFamily="34" charset="-120"/>
                        </a:rPr>
                        <a:t>97%</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SDD</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FA971"/>
                    </a:solidFill>
                  </a:tcPr>
                </a:tc>
                <a:extLst>
                  <a:ext uri="{0D108BD9-81ED-4DB2-BD59-A6C34878D82A}">
                    <a16:rowId xmlns:a16="http://schemas.microsoft.com/office/drawing/2014/main" val="10001"/>
                  </a:ext>
                </a:extLst>
              </a:tr>
              <a:tr h="475488">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ปัญหาด้านความปลอดภัย (Open Issues) ▼</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400" dirty="0">
                          <a:solidFill>
                            <a:srgbClr val="6B7280"/>
                          </a:solidFill>
                          <a:latin typeface="Sarabun" pitchFamily="34" charset="0"/>
                          <a:ea typeface="Sarabun" pitchFamily="34" charset="-122"/>
                          <a:cs typeface="Sarabun" pitchFamily="34" charset="-120"/>
                        </a:rPr>
                        <a:t>SonarQube</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400" dirty="0">
                          <a:solidFill>
                            <a:srgbClr val="1F2937"/>
                          </a:solidFill>
                          <a:latin typeface="Sarabun" pitchFamily="34" charset="0"/>
                          <a:ea typeface="Sarabun" pitchFamily="34" charset="-122"/>
                          <a:cs typeface="Sarabun" pitchFamily="34" charset="-120"/>
                        </a:rPr>
                        <a:t>5.67</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7"/>
                          </a:solidFill>
                          <a:latin typeface="Sarabun" pitchFamily="34" charset="0"/>
                          <a:ea typeface="Sarabun" pitchFamily="34" charset="-122"/>
                          <a:cs typeface="Sarabun" pitchFamily="34" charset="-120"/>
                        </a:rPr>
                        <a:t>9.17</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C5739"/>
                          </a:solidFill>
                          <a:latin typeface="Sarabun" pitchFamily="34" charset="0"/>
                          <a:ea typeface="Sarabun" pitchFamily="34" charset="-122"/>
                          <a:cs typeface="Sarabun" pitchFamily="34" charset="-120"/>
                        </a:rPr>
                        <a:t>4.33</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SDD</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FA971"/>
                    </a:solidFill>
                  </a:tcPr>
                </a:tc>
                <a:extLst>
                  <a:ext uri="{0D108BD9-81ED-4DB2-BD59-A6C34878D82A}">
                    <a16:rowId xmlns:a16="http://schemas.microsoft.com/office/drawing/2014/main" val="10002"/>
                  </a:ext>
                </a:extLst>
              </a:tr>
              <a:tr h="475488">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จุดที่ต้องตรวจสอบด้านความปลอดภัย ▼</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400" dirty="0">
                          <a:solidFill>
                            <a:srgbClr val="6B7280"/>
                          </a:solidFill>
                          <a:latin typeface="Sarabun" pitchFamily="34" charset="0"/>
                          <a:ea typeface="Sarabun" pitchFamily="34" charset="-122"/>
                          <a:cs typeface="Sarabun" pitchFamily="34" charset="-120"/>
                        </a:rPr>
                        <a:t>SonarQube</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400" b="1" dirty="0">
                          <a:solidFill>
                            <a:srgbClr val="1C5739"/>
                          </a:solidFill>
                          <a:latin typeface="Sarabun" pitchFamily="34" charset="0"/>
                          <a:ea typeface="Sarabun" pitchFamily="34" charset="-122"/>
                          <a:cs typeface="Sarabun" pitchFamily="34" charset="-120"/>
                        </a:rPr>
                        <a:t>1.33</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tc>
                  <a:txBody>
                    <a:bodyPr/>
                    <a:lstStyle/>
                    <a:p>
                      <a:pPr marL="0" indent="0" algn="ctr">
                        <a:buNone/>
                      </a:pPr>
                      <a:r>
                        <a:rPr lang="en-US" sz="1400" dirty="0">
                          <a:solidFill>
                            <a:srgbClr val="1F2937"/>
                          </a:solidFill>
                          <a:latin typeface="Sarabun" pitchFamily="34" charset="0"/>
                          <a:ea typeface="Sarabun" pitchFamily="34" charset="-122"/>
                          <a:cs typeface="Sarabun" pitchFamily="34" charset="-120"/>
                        </a:rPr>
                        <a:t>4.00</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7"/>
                          </a:solidFill>
                          <a:latin typeface="Sarabun" pitchFamily="34" charset="0"/>
                          <a:ea typeface="Sarabun" pitchFamily="34" charset="-122"/>
                          <a:cs typeface="Sarabun" pitchFamily="34" charset="-120"/>
                        </a:rPr>
                        <a:t>2.17</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BP</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4572E"/>
                    </a:solidFill>
                  </a:tcPr>
                </a:tc>
                <a:extLst>
                  <a:ext uri="{0D108BD9-81ED-4DB2-BD59-A6C34878D82A}">
                    <a16:rowId xmlns:a16="http://schemas.microsoft.com/office/drawing/2014/main" val="10003"/>
                  </a:ext>
                </a:extLst>
              </a:tr>
              <a:tr h="475488">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ความน่าเชื่อถือ ▼</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400" dirty="0">
                          <a:solidFill>
                            <a:srgbClr val="6B7280"/>
                          </a:solidFill>
                          <a:latin typeface="Sarabun" pitchFamily="34" charset="0"/>
                          <a:ea typeface="Sarabun" pitchFamily="34" charset="-122"/>
                          <a:cs typeface="Sarabun" pitchFamily="34" charset="-120"/>
                        </a:rPr>
                        <a:t>SonarQube</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400" b="1" dirty="0">
                          <a:solidFill>
                            <a:srgbClr val="1C5739"/>
                          </a:solidFill>
                          <a:latin typeface="Sarabun" pitchFamily="34" charset="0"/>
                          <a:ea typeface="Sarabun" pitchFamily="34" charset="-122"/>
                          <a:cs typeface="Sarabun" pitchFamily="34" charset="-120"/>
                        </a:rPr>
                        <a:t>3.17</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tc>
                  <a:txBody>
                    <a:bodyPr/>
                    <a:lstStyle/>
                    <a:p>
                      <a:pPr marL="0" indent="0" algn="ctr">
                        <a:buNone/>
                      </a:pPr>
                      <a:r>
                        <a:rPr lang="en-US" sz="1400" dirty="0">
                          <a:solidFill>
                            <a:srgbClr val="1F2937"/>
                          </a:solidFill>
                          <a:latin typeface="Sarabun" pitchFamily="34" charset="0"/>
                          <a:ea typeface="Sarabun" pitchFamily="34" charset="-122"/>
                          <a:cs typeface="Sarabun" pitchFamily="34" charset="-120"/>
                        </a:rPr>
                        <a:t>8.67</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7"/>
                          </a:solidFill>
                          <a:latin typeface="Sarabun" pitchFamily="34" charset="0"/>
                          <a:ea typeface="Sarabun" pitchFamily="34" charset="-122"/>
                          <a:cs typeface="Sarabun" pitchFamily="34" charset="-120"/>
                        </a:rPr>
                        <a:t>3.50</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BP</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4572E"/>
                    </a:solidFill>
                  </a:tcPr>
                </a:tc>
                <a:extLst>
                  <a:ext uri="{0D108BD9-81ED-4DB2-BD59-A6C34878D82A}">
                    <a16:rowId xmlns:a16="http://schemas.microsoft.com/office/drawing/2014/main" val="10004"/>
                  </a:ext>
                </a:extLst>
              </a:tr>
              <a:tr h="475488">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การบำรุงรักษา ▼</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400" dirty="0">
                          <a:solidFill>
                            <a:srgbClr val="6B7280"/>
                          </a:solidFill>
                          <a:latin typeface="Sarabun" pitchFamily="34" charset="0"/>
                          <a:ea typeface="Sarabun" pitchFamily="34" charset="-122"/>
                          <a:cs typeface="Sarabun" pitchFamily="34" charset="-120"/>
                        </a:rPr>
                        <a:t>SonarQube</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400" b="1" dirty="0">
                          <a:solidFill>
                            <a:srgbClr val="1C5739"/>
                          </a:solidFill>
                          <a:latin typeface="Sarabun" pitchFamily="34" charset="0"/>
                          <a:ea typeface="Sarabun" pitchFamily="34" charset="-122"/>
                          <a:cs typeface="Sarabun" pitchFamily="34" charset="-120"/>
                        </a:rPr>
                        <a:t>6.83</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tc>
                  <a:txBody>
                    <a:bodyPr/>
                    <a:lstStyle/>
                    <a:p>
                      <a:pPr marL="0" indent="0" algn="ctr">
                        <a:buNone/>
                      </a:pPr>
                      <a:r>
                        <a:rPr lang="en-US" sz="1400" dirty="0">
                          <a:solidFill>
                            <a:srgbClr val="1F2937"/>
                          </a:solidFill>
                          <a:latin typeface="Sarabun" pitchFamily="34" charset="0"/>
                          <a:ea typeface="Sarabun" pitchFamily="34" charset="-122"/>
                          <a:cs typeface="Sarabun" pitchFamily="34" charset="-120"/>
                        </a:rPr>
                        <a:t>11.33</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7"/>
                          </a:solidFill>
                          <a:latin typeface="Sarabun" pitchFamily="34" charset="0"/>
                          <a:ea typeface="Sarabun" pitchFamily="34" charset="-122"/>
                          <a:cs typeface="Sarabun" pitchFamily="34" charset="-120"/>
                        </a:rPr>
                        <a:t>11.17</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BP</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4572E"/>
                    </a:solidFill>
                  </a:tcPr>
                </a:tc>
                <a:extLst>
                  <a:ext uri="{0D108BD9-81ED-4DB2-BD59-A6C34878D82A}">
                    <a16:rowId xmlns:a16="http://schemas.microsoft.com/office/drawing/2014/main" val="10005"/>
                  </a:ext>
                </a:extLst>
              </a:tr>
              <a:tr h="475488">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ความซ้ำซ้อนของซอร์สโค้ด ▼</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400" dirty="0">
                          <a:solidFill>
                            <a:srgbClr val="6B7280"/>
                          </a:solidFill>
                          <a:latin typeface="Sarabun" pitchFamily="34" charset="0"/>
                          <a:ea typeface="Sarabun" pitchFamily="34" charset="-122"/>
                          <a:cs typeface="Sarabun" pitchFamily="34" charset="-120"/>
                        </a:rPr>
                        <a:t>SonarQube</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400" dirty="0">
                          <a:solidFill>
                            <a:srgbClr val="1F2937"/>
                          </a:solidFill>
                          <a:latin typeface="Sarabun" pitchFamily="34" charset="0"/>
                          <a:ea typeface="Sarabun" pitchFamily="34" charset="-122"/>
                          <a:cs typeface="Sarabun" pitchFamily="34" charset="-120"/>
                        </a:rPr>
                        <a:t>2.02%</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C5739"/>
                          </a:solidFill>
                          <a:latin typeface="Sarabun" pitchFamily="34" charset="0"/>
                          <a:ea typeface="Sarabun" pitchFamily="34" charset="-122"/>
                          <a:cs typeface="Sarabun" pitchFamily="34" charset="-120"/>
                        </a:rPr>
                        <a:t>1.53%</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a:txBody>
                    <a:bodyPr/>
                    <a:lstStyle/>
                    <a:p>
                      <a:pPr marL="0" indent="0" algn="ctr">
                        <a:buNone/>
                      </a:pPr>
                      <a:r>
                        <a:rPr lang="en-US" sz="1400" dirty="0">
                          <a:solidFill>
                            <a:srgbClr val="1F2937"/>
                          </a:solidFill>
                          <a:latin typeface="Sarabun" pitchFamily="34" charset="0"/>
                          <a:ea typeface="Sarabun" pitchFamily="34" charset="-122"/>
                          <a:cs typeface="Sarabun" pitchFamily="34" charset="-120"/>
                        </a:rPr>
                        <a:t>6.27%</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CE</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2F80ED"/>
                    </a:solidFill>
                  </a:tcPr>
                </a:tc>
                <a:extLst>
                  <a:ext uri="{0D108BD9-81ED-4DB2-BD59-A6C34878D82A}">
                    <a16:rowId xmlns:a16="http://schemas.microsoft.com/office/drawing/2014/main" val="10006"/>
                  </a:ext>
                </a:extLst>
              </a:tr>
              <a:tr h="475488">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การแจ้งเตือนด้านความปลอดภัย ▼</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400" dirty="0">
                          <a:solidFill>
                            <a:srgbClr val="6B7280"/>
                          </a:solidFill>
                          <a:latin typeface="Sarabun" pitchFamily="34" charset="0"/>
                          <a:ea typeface="Sarabun" pitchFamily="34" charset="-122"/>
                          <a:cs typeface="Sarabun" pitchFamily="34" charset="-120"/>
                        </a:rPr>
                        <a:t>CodeQL</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400" dirty="0">
                          <a:solidFill>
                            <a:srgbClr val="1F2937"/>
                          </a:solidFill>
                          <a:latin typeface="Sarabun" pitchFamily="34" charset="0"/>
                          <a:ea typeface="Sarabun" pitchFamily="34" charset="-122"/>
                          <a:cs typeface="Sarabun" pitchFamily="34" charset="-120"/>
                        </a:rPr>
                        <a:t>6</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7"/>
                          </a:solidFill>
                          <a:latin typeface="Sarabun" pitchFamily="34" charset="0"/>
                          <a:ea typeface="Sarabun" pitchFamily="34" charset="-122"/>
                          <a:cs typeface="Sarabun" pitchFamily="34" charset="-120"/>
                        </a:rPr>
                        <a:t>19</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C5739"/>
                          </a:solidFill>
                          <a:latin typeface="Sarabun" pitchFamily="34" charset="0"/>
                          <a:ea typeface="Sarabun" pitchFamily="34" charset="-122"/>
                          <a:cs typeface="Sarabun" pitchFamily="34" charset="-120"/>
                        </a:rPr>
                        <a:t>3</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SDD</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FA971"/>
                    </a:solidFill>
                  </a:tcPr>
                </a:tc>
                <a:extLst>
                  <a:ext uri="{0D108BD9-81ED-4DB2-BD59-A6C34878D82A}">
                    <a16:rowId xmlns:a16="http://schemas.microsoft.com/office/drawing/2014/main" val="10007"/>
                  </a:ext>
                </a:extLst>
              </a:tr>
              <a:tr h="475488">
                <a:tc>
                  <a:txBody>
                    <a:bodyPr/>
                    <a:lstStyle/>
                    <a:p>
                      <a:pPr marL="0" indent="0">
                        <a:buNone/>
                      </a:pPr>
                      <a:r>
                        <a:rPr lang="en-US" sz="1400" dirty="0">
                          <a:solidFill>
                            <a:srgbClr val="1F2937"/>
                          </a:solidFill>
                          <a:latin typeface="Sarabun" pitchFamily="34" charset="0"/>
                          <a:ea typeface="Sarabun" pitchFamily="34" charset="-122"/>
                          <a:cs typeface="Sarabun" pitchFamily="34" charset="-120"/>
                        </a:rPr>
                        <a:t>คำเตือนขณะทำงาน ▼</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400" dirty="0">
                          <a:solidFill>
                            <a:srgbClr val="6B7280"/>
                          </a:solidFill>
                          <a:latin typeface="Sarabun" pitchFamily="34" charset="0"/>
                          <a:ea typeface="Sarabun" pitchFamily="34" charset="-122"/>
                          <a:cs typeface="Sarabun" pitchFamily="34" charset="-120"/>
                        </a:rPr>
                        <a:t>ZAP (DAST)</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400" dirty="0">
                          <a:solidFill>
                            <a:srgbClr val="1F2937"/>
                          </a:solidFill>
                          <a:latin typeface="Sarabun" pitchFamily="34" charset="0"/>
                          <a:ea typeface="Sarabun" pitchFamily="34" charset="-122"/>
                          <a:cs typeface="Sarabun" pitchFamily="34" charset="-120"/>
                        </a:rPr>
                        <a:t>7.2</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7"/>
                          </a:solidFill>
                          <a:latin typeface="Sarabun" pitchFamily="34" charset="0"/>
                          <a:ea typeface="Sarabun" pitchFamily="34" charset="-122"/>
                          <a:cs typeface="Sarabun" pitchFamily="34" charset="-120"/>
                        </a:rPr>
                        <a:t>8.2</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C5739"/>
                          </a:solidFill>
                          <a:latin typeface="Sarabun" pitchFamily="34" charset="0"/>
                          <a:ea typeface="Sarabun" pitchFamily="34" charset="-122"/>
                          <a:cs typeface="Sarabun" pitchFamily="34" charset="-120"/>
                        </a:rPr>
                        <a:t>6.5</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tc>
                  <a:txBody>
                    <a:bodyPr/>
                    <a:lstStyle/>
                    <a:p>
                      <a:pPr marL="0" indent="0" algn="ctr">
                        <a:buNone/>
                      </a:pPr>
                      <a:r>
                        <a:rPr lang="en-US" sz="1400" b="1" dirty="0">
                          <a:solidFill>
                            <a:srgbClr val="FFFFFF"/>
                          </a:solidFill>
                          <a:latin typeface="Sarabun" pitchFamily="34" charset="0"/>
                          <a:ea typeface="Sarabun" pitchFamily="34" charset="-122"/>
                          <a:cs typeface="Sarabun" pitchFamily="34" charset="-120"/>
                        </a:rPr>
                        <a:t>SDD</a:t>
                      </a:r>
                      <a:endParaRPr lang="en-US" sz="14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FA971"/>
                    </a:solidFill>
                  </a:tcPr>
                </a:tc>
                <a:extLst>
                  <a:ext uri="{0D108BD9-81ED-4DB2-BD59-A6C34878D82A}">
                    <a16:rowId xmlns:a16="http://schemas.microsoft.com/office/drawing/2014/main" val="10008"/>
                  </a:ext>
                </a:extLst>
              </a:tr>
            </a:tbl>
          </a:graphicData>
        </a:graphic>
      </p:graphicFrame>
      <p:sp>
        <p:nvSpPr>
          <p:cNvPr id="5" name="Text 2"/>
          <p:cNvSpPr txBox="1"/>
          <p:nvPr/>
        </p:nvSpPr>
        <p:spPr>
          <a:xfrm>
            <a:off x="548640" y="5989320"/>
            <a:ext cx="11094415" cy="320040"/>
          </a:xfrm>
          <a:prstGeom prst="rect">
            <a:avLst/>
          </a:prstGeom>
          <a:noFill/>
          <a:ln/>
        </p:spPr>
        <p:txBody>
          <a:bodyPr wrap="square" lIns="0" tIns="0" rIns="0" bIns="0" rtlCol="0" anchor="t"/>
          <a:lstStyle/>
          <a:p>
            <a:pPr marL="0" indent="0">
              <a:buNone/>
            </a:pPr>
            <a:r>
              <a:rPr lang="en-US" sz="1200" dirty="0">
                <a:solidFill>
                  <a:srgbClr val="6B7280"/>
                </a:solidFill>
                <a:latin typeface="Sarabun" pitchFamily="34" charset="0"/>
                <a:ea typeface="Sarabun" pitchFamily="34" charset="-122"/>
                <a:cs typeface="Sarabun" pitchFamily="34" charset="-120"/>
              </a:rPr>
              <a:t>▲ ยิ่งสูงยิ่งดี    ▼ ยิ่งต่ำยิ่งดี    ค่าเฉลี่ยต่อเวอร์ชัน    ตารางที่ 5.2</a:t>
            </a:r>
            <a:endParaRPr lang="en-US" sz="12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5  ผลลัพธ์</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เปรียบเทียบ 5 มิติคุณภาพหลัก</a:t>
            </a:r>
            <a:endParaRPr lang="en-US" sz="2800" dirty="0"/>
          </a:p>
        </p:txBody>
      </p:sp>
      <p:sp>
        <p:nvSpPr>
          <p:cNvPr id="4" name="Shape 2"/>
          <p:cNvSpPr/>
          <p:nvPr/>
        </p:nvSpPr>
        <p:spPr>
          <a:xfrm>
            <a:off x="978879" y="1344168"/>
            <a:ext cx="4077281" cy="4535424"/>
          </a:xfrm>
          <a:prstGeom prst="roundRect">
            <a:avLst>
              <a:gd name="adj" fmla="val 1794"/>
            </a:avLst>
          </a:prstGeom>
          <a:solidFill>
            <a:srgbClr val="FFFFFF"/>
          </a:solidFill>
          <a:ln w="12700">
            <a:solidFill>
              <a:srgbClr val="D5DFD8"/>
            </a:solidFill>
            <a:prstDash val="solid"/>
          </a:ln>
        </p:spPr>
        <p:txBody>
          <a:bodyPr/>
          <a:lstStyle/>
          <a:p>
            <a:endParaRPr lang="en-TH"/>
          </a:p>
        </p:txBody>
      </p:sp>
      <p:pic>
        <p:nvPicPr>
          <p:cNvPr id="5" name="Image 0" descr="figure 19"/>
          <p:cNvPicPr>
            <a:picLocks noChangeAspect="1"/>
          </p:cNvPicPr>
          <p:nvPr/>
        </p:nvPicPr>
        <p:blipFill>
          <a:blip r:embed="rId3"/>
          <a:stretch>
            <a:fillRect/>
          </a:stretch>
        </p:blipFill>
        <p:spPr>
          <a:xfrm>
            <a:off x="1052031" y="1417320"/>
            <a:ext cx="3930977" cy="4389120"/>
          </a:xfrm>
          <a:prstGeom prst="rect">
            <a:avLst/>
          </a:prstGeom>
        </p:spPr>
      </p:pic>
      <p:sp>
        <p:nvSpPr>
          <p:cNvPr id="6" name="Text 3"/>
          <p:cNvSpPr txBox="1"/>
          <p:nvPr/>
        </p:nvSpPr>
        <p:spPr>
          <a:xfrm>
            <a:off x="548640" y="6035040"/>
            <a:ext cx="4937760" cy="457200"/>
          </a:xfrm>
          <a:prstGeom prst="rect">
            <a:avLst/>
          </a:prstGeom>
          <a:noFill/>
          <a:ln/>
        </p:spPr>
        <p:txBody>
          <a:bodyPr wrap="square" lIns="0" tIns="0" rIns="0" bIns="0" rtlCol="0" anchor="t"/>
          <a:lstStyle/>
          <a:p>
            <a:pPr marL="0" indent="0" algn="ctr">
              <a:buNone/>
            </a:pPr>
            <a:r>
              <a:rPr lang="en-US" sz="1100" dirty="0">
                <a:solidFill>
                  <a:srgbClr val="6B7280"/>
                </a:solidFill>
                <a:latin typeface="Sarabun" pitchFamily="34" charset="0"/>
                <a:ea typeface="Sarabun" pitchFamily="34" charset="-122"/>
                <a:cs typeface="Sarabun" pitchFamily="34" charset="-120"/>
              </a:rPr>
              <a:t>รูปที่ 5.12 การเปรียบเทียบกลยุทธ์ใน 5 มิติคุณภาพหลัก (ยิ่งสูงยิ่งดี)</a:t>
            </a:r>
            <a:endParaRPr lang="en-US" sz="1100" dirty="0"/>
          </a:p>
        </p:txBody>
      </p:sp>
      <p:sp>
        <p:nvSpPr>
          <p:cNvPr id="7" name="card"/>
          <p:cNvSpPr/>
          <p:nvPr/>
        </p:nvSpPr>
        <p:spPr>
          <a:xfrm>
            <a:off x="6035040" y="1508760"/>
            <a:ext cx="5605272" cy="1371600"/>
          </a:xfrm>
          <a:prstGeom prst="roundRect">
            <a:avLst>
              <a:gd name="adj" fmla="val 8000"/>
            </a:avLst>
          </a:prstGeom>
          <a:solidFill>
            <a:srgbClr val="E3F6EE"/>
          </a:solidFill>
          <a:ln w="12700">
            <a:solidFill>
              <a:srgbClr val="E3F6EE"/>
            </a:solidFill>
            <a:prstDash val="solid"/>
          </a:ln>
        </p:spPr>
        <p:txBody>
          <a:bodyPr/>
          <a:lstStyle/>
          <a:p>
            <a:endParaRPr lang="en-TH"/>
          </a:p>
        </p:txBody>
      </p:sp>
      <p:sp>
        <p:nvSpPr>
          <p:cNvPr id="8" name="Shape 5"/>
          <p:cNvSpPr/>
          <p:nvPr/>
        </p:nvSpPr>
        <p:spPr>
          <a:xfrm>
            <a:off x="6309360" y="1737360"/>
            <a:ext cx="731520" cy="292608"/>
          </a:xfrm>
          <a:prstGeom prst="roundRect">
            <a:avLst>
              <a:gd name="adj" fmla="val 50000"/>
            </a:avLst>
          </a:prstGeom>
          <a:solidFill>
            <a:srgbClr val="1FA971"/>
          </a:solidFill>
          <a:ln w="19050">
            <a:solidFill>
              <a:srgbClr val="FFFFFF"/>
            </a:solidFill>
            <a:prstDash val="solid"/>
          </a:ln>
        </p:spPr>
        <p:txBody>
          <a:bodyPr/>
          <a:lstStyle/>
          <a:p>
            <a:endParaRPr lang="en-TH"/>
          </a:p>
        </p:txBody>
      </p:sp>
      <p:sp>
        <p:nvSpPr>
          <p:cNvPr id="9" name="Text 6"/>
          <p:cNvSpPr txBox="1"/>
          <p:nvPr/>
        </p:nvSpPr>
        <p:spPr>
          <a:xfrm>
            <a:off x="6309360" y="1737360"/>
            <a:ext cx="73152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SDD</a:t>
            </a:r>
            <a:endParaRPr lang="en-US" sz="1200" dirty="0"/>
          </a:p>
        </p:txBody>
      </p:sp>
      <p:sp>
        <p:nvSpPr>
          <p:cNvPr id="10" name="Text 7"/>
          <p:cNvSpPr txBox="1"/>
          <p:nvPr/>
        </p:nvSpPr>
        <p:spPr>
          <a:xfrm>
            <a:off x="6309360" y="2148840"/>
            <a:ext cx="1463040" cy="548640"/>
          </a:xfrm>
          <a:prstGeom prst="rect">
            <a:avLst/>
          </a:prstGeom>
          <a:noFill/>
          <a:ln/>
        </p:spPr>
        <p:txBody>
          <a:bodyPr wrap="square" lIns="0" tIns="0" rIns="0" bIns="0" rtlCol="0" anchor="t"/>
          <a:lstStyle/>
          <a:p>
            <a:pPr marL="0" indent="0">
              <a:buNone/>
            </a:pPr>
            <a:r>
              <a:rPr lang="en-US" sz="2000" b="1" dirty="0">
                <a:solidFill>
                  <a:srgbClr val="1C5739"/>
                </a:solidFill>
                <a:latin typeface="Sarabun" pitchFamily="34" charset="0"/>
                <a:ea typeface="Sarabun" pitchFamily="34" charset="-122"/>
                <a:cs typeface="Sarabun" pitchFamily="34" charset="-120"/>
              </a:rPr>
              <a:t>2 จาก 5</a:t>
            </a:r>
            <a:endParaRPr lang="en-US" sz="2000" dirty="0"/>
          </a:p>
        </p:txBody>
      </p:sp>
      <p:sp>
        <p:nvSpPr>
          <p:cNvPr id="11" name="Text 8"/>
          <p:cNvSpPr txBox="1"/>
          <p:nvPr/>
        </p:nvSpPr>
        <p:spPr>
          <a:xfrm>
            <a:off x="7863840" y="1691640"/>
            <a:ext cx="3566160" cy="1051560"/>
          </a:xfrm>
          <a:prstGeom prst="rect">
            <a:avLst/>
          </a:prstGeom>
          <a:noFill/>
          <a:ln/>
        </p:spPr>
        <p:txBody>
          <a:bodyPr wrap="square" lIns="0" tIns="0" rIns="0" bIns="0" rtlCol="0" anchor="ctr"/>
          <a:lstStyle/>
          <a:p>
            <a:pPr marL="0" indent="0">
              <a:buNone/>
            </a:pPr>
            <a:r>
              <a:rPr lang="en-US" sz="1400" dirty="0">
                <a:solidFill>
                  <a:srgbClr val="1F2937"/>
                </a:solidFill>
                <a:latin typeface="Sarabun" pitchFamily="34" charset="0"/>
                <a:ea typeface="Sarabun" pitchFamily="34" charset="-122"/>
                <a:cs typeface="Sarabun" pitchFamily="34" charset="-120"/>
              </a:rPr>
              <a:t>เส้นเขียวพุ่งไกลสุดที่ DAST และ CodeQL แต่หดเข้าเกือบถึงจุดศูนย์กลางที่ Low Duplication</a:t>
            </a:r>
            <a:endParaRPr lang="en-US" sz="1400" dirty="0"/>
          </a:p>
        </p:txBody>
      </p:sp>
      <p:sp>
        <p:nvSpPr>
          <p:cNvPr id="12" name="card"/>
          <p:cNvSpPr/>
          <p:nvPr/>
        </p:nvSpPr>
        <p:spPr>
          <a:xfrm>
            <a:off x="6035040" y="3063240"/>
            <a:ext cx="5605272" cy="1371600"/>
          </a:xfrm>
          <a:prstGeom prst="roundRect">
            <a:avLst>
              <a:gd name="adj" fmla="val 8000"/>
            </a:avLst>
          </a:prstGeom>
          <a:solidFill>
            <a:srgbClr val="FDECE7"/>
          </a:solidFill>
          <a:ln w="12700">
            <a:solidFill>
              <a:srgbClr val="FDECE7"/>
            </a:solidFill>
            <a:prstDash val="solid"/>
          </a:ln>
        </p:spPr>
        <p:txBody>
          <a:bodyPr/>
          <a:lstStyle/>
          <a:p>
            <a:endParaRPr lang="en-TH"/>
          </a:p>
        </p:txBody>
      </p:sp>
      <p:sp>
        <p:nvSpPr>
          <p:cNvPr id="13" name="Shape 10"/>
          <p:cNvSpPr/>
          <p:nvPr/>
        </p:nvSpPr>
        <p:spPr>
          <a:xfrm>
            <a:off x="6309360" y="3291840"/>
            <a:ext cx="731520" cy="292608"/>
          </a:xfrm>
          <a:prstGeom prst="roundRect">
            <a:avLst>
              <a:gd name="adj" fmla="val 50000"/>
            </a:avLst>
          </a:prstGeom>
          <a:solidFill>
            <a:srgbClr val="E4572E"/>
          </a:solidFill>
          <a:ln w="19050">
            <a:solidFill>
              <a:srgbClr val="FFFFFF"/>
            </a:solidFill>
            <a:prstDash val="solid"/>
          </a:ln>
        </p:spPr>
        <p:txBody>
          <a:bodyPr/>
          <a:lstStyle/>
          <a:p>
            <a:endParaRPr lang="en-TH"/>
          </a:p>
        </p:txBody>
      </p:sp>
      <p:sp>
        <p:nvSpPr>
          <p:cNvPr id="14" name="Text 11"/>
          <p:cNvSpPr txBox="1"/>
          <p:nvPr/>
        </p:nvSpPr>
        <p:spPr>
          <a:xfrm>
            <a:off x="6309360" y="3291840"/>
            <a:ext cx="73152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BP</a:t>
            </a:r>
            <a:endParaRPr lang="en-US" sz="1200" dirty="0"/>
          </a:p>
        </p:txBody>
      </p:sp>
      <p:sp>
        <p:nvSpPr>
          <p:cNvPr id="15" name="Text 12"/>
          <p:cNvSpPr txBox="1"/>
          <p:nvPr/>
        </p:nvSpPr>
        <p:spPr>
          <a:xfrm>
            <a:off x="6309360" y="3703320"/>
            <a:ext cx="1463040" cy="548640"/>
          </a:xfrm>
          <a:prstGeom prst="rect">
            <a:avLst/>
          </a:prstGeom>
          <a:noFill/>
          <a:ln/>
        </p:spPr>
        <p:txBody>
          <a:bodyPr wrap="square" lIns="0" tIns="0" rIns="0" bIns="0" rtlCol="0" anchor="t"/>
          <a:lstStyle/>
          <a:p>
            <a:pPr marL="0" indent="0">
              <a:buNone/>
            </a:pPr>
            <a:r>
              <a:rPr lang="en-US" sz="2000" b="1" dirty="0">
                <a:solidFill>
                  <a:srgbClr val="1C5739"/>
                </a:solidFill>
                <a:latin typeface="Sarabun" pitchFamily="34" charset="0"/>
                <a:ea typeface="Sarabun" pitchFamily="34" charset="-122"/>
                <a:cs typeface="Sarabun" pitchFamily="34" charset="-120"/>
              </a:rPr>
              <a:t>2 จาก 5</a:t>
            </a:r>
            <a:endParaRPr lang="en-US" sz="2000" dirty="0"/>
          </a:p>
        </p:txBody>
      </p:sp>
      <p:sp>
        <p:nvSpPr>
          <p:cNvPr id="16" name="Text 13"/>
          <p:cNvSpPr txBox="1"/>
          <p:nvPr/>
        </p:nvSpPr>
        <p:spPr>
          <a:xfrm>
            <a:off x="7863840" y="3246120"/>
            <a:ext cx="3566160" cy="1051560"/>
          </a:xfrm>
          <a:prstGeom prst="rect">
            <a:avLst/>
          </a:prstGeom>
          <a:noFill/>
          <a:ln/>
        </p:spPr>
        <p:txBody>
          <a:bodyPr wrap="square" lIns="0" tIns="0" rIns="0" bIns="0" rtlCol="0" anchor="ctr"/>
          <a:lstStyle/>
          <a:p>
            <a:pPr marL="0" indent="0">
              <a:buNone/>
            </a:pPr>
            <a:r>
              <a:rPr lang="en-US" sz="1400" dirty="0">
                <a:solidFill>
                  <a:srgbClr val="1F2937"/>
                </a:solidFill>
                <a:latin typeface="Sarabun" pitchFamily="34" charset="0"/>
                <a:ea typeface="Sarabun" pitchFamily="34" charset="-122"/>
                <a:cs typeface="Sarabun" pitchFamily="34" charset="-120"/>
              </a:rPr>
              <a:t>เส้นแดงเป็นทรงใหญ่สม่ำเสมอ นำที่ Reliability และ Maintainability และไม่มีแกนไหนหดเข้าหาศูนย์กลาง</a:t>
            </a:r>
            <a:endParaRPr lang="en-US" sz="1400" dirty="0"/>
          </a:p>
        </p:txBody>
      </p:sp>
      <p:sp>
        <p:nvSpPr>
          <p:cNvPr id="17" name="card"/>
          <p:cNvSpPr/>
          <p:nvPr/>
        </p:nvSpPr>
        <p:spPr>
          <a:xfrm>
            <a:off x="6035040" y="4617720"/>
            <a:ext cx="5605272" cy="1371600"/>
          </a:xfrm>
          <a:prstGeom prst="roundRect">
            <a:avLst>
              <a:gd name="adj" fmla="val 8000"/>
            </a:avLst>
          </a:prstGeom>
          <a:solidFill>
            <a:srgbClr val="E8F1FD"/>
          </a:solidFill>
          <a:ln w="12700">
            <a:solidFill>
              <a:srgbClr val="E8F1FD"/>
            </a:solidFill>
            <a:prstDash val="solid"/>
          </a:ln>
        </p:spPr>
        <p:txBody>
          <a:bodyPr/>
          <a:lstStyle/>
          <a:p>
            <a:endParaRPr lang="en-TH"/>
          </a:p>
        </p:txBody>
      </p:sp>
      <p:sp>
        <p:nvSpPr>
          <p:cNvPr id="18" name="Shape 15"/>
          <p:cNvSpPr/>
          <p:nvPr/>
        </p:nvSpPr>
        <p:spPr>
          <a:xfrm>
            <a:off x="6309360" y="4846320"/>
            <a:ext cx="731520" cy="292608"/>
          </a:xfrm>
          <a:prstGeom prst="roundRect">
            <a:avLst>
              <a:gd name="adj" fmla="val 50000"/>
            </a:avLst>
          </a:prstGeom>
          <a:solidFill>
            <a:srgbClr val="2F80ED"/>
          </a:solidFill>
          <a:ln w="19050">
            <a:solidFill>
              <a:srgbClr val="FFFFFF"/>
            </a:solidFill>
            <a:prstDash val="solid"/>
          </a:ln>
        </p:spPr>
        <p:txBody>
          <a:bodyPr/>
          <a:lstStyle/>
          <a:p>
            <a:endParaRPr lang="en-TH"/>
          </a:p>
        </p:txBody>
      </p:sp>
      <p:sp>
        <p:nvSpPr>
          <p:cNvPr id="19" name="Text 16"/>
          <p:cNvSpPr txBox="1"/>
          <p:nvPr/>
        </p:nvSpPr>
        <p:spPr>
          <a:xfrm>
            <a:off x="6309360" y="4846320"/>
            <a:ext cx="73152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CE</a:t>
            </a:r>
            <a:endParaRPr lang="en-US" sz="1200" dirty="0"/>
          </a:p>
        </p:txBody>
      </p:sp>
      <p:sp>
        <p:nvSpPr>
          <p:cNvPr id="20" name="Text 17"/>
          <p:cNvSpPr txBox="1"/>
          <p:nvPr/>
        </p:nvSpPr>
        <p:spPr>
          <a:xfrm>
            <a:off x="6309360" y="5257800"/>
            <a:ext cx="1463040" cy="548640"/>
          </a:xfrm>
          <a:prstGeom prst="rect">
            <a:avLst/>
          </a:prstGeom>
          <a:noFill/>
          <a:ln/>
        </p:spPr>
        <p:txBody>
          <a:bodyPr wrap="square" lIns="0" tIns="0" rIns="0" bIns="0" rtlCol="0" anchor="t"/>
          <a:lstStyle/>
          <a:p>
            <a:pPr marL="0" indent="0">
              <a:buNone/>
            </a:pPr>
            <a:r>
              <a:rPr lang="en-US" sz="2000" b="1" dirty="0">
                <a:solidFill>
                  <a:srgbClr val="1C5739"/>
                </a:solidFill>
                <a:latin typeface="Sarabun" pitchFamily="34" charset="0"/>
                <a:ea typeface="Sarabun" pitchFamily="34" charset="-122"/>
                <a:cs typeface="Sarabun" pitchFamily="34" charset="-120"/>
              </a:rPr>
              <a:t>1 จาก 5</a:t>
            </a:r>
            <a:endParaRPr lang="en-US" sz="2000" dirty="0"/>
          </a:p>
        </p:txBody>
      </p:sp>
      <p:sp>
        <p:nvSpPr>
          <p:cNvPr id="21" name="Text 18"/>
          <p:cNvSpPr txBox="1"/>
          <p:nvPr/>
        </p:nvSpPr>
        <p:spPr>
          <a:xfrm>
            <a:off x="7863840" y="4800600"/>
            <a:ext cx="3566160" cy="1051560"/>
          </a:xfrm>
          <a:prstGeom prst="rect">
            <a:avLst/>
          </a:prstGeom>
          <a:noFill/>
          <a:ln/>
        </p:spPr>
        <p:txBody>
          <a:bodyPr wrap="square" lIns="0" tIns="0" rIns="0" bIns="0" rtlCol="0" anchor="ctr"/>
          <a:lstStyle/>
          <a:p>
            <a:pPr marL="0" indent="0">
              <a:buNone/>
            </a:pPr>
            <a:r>
              <a:rPr lang="en-US" sz="1400" dirty="0">
                <a:solidFill>
                  <a:srgbClr val="1F2937"/>
                </a:solidFill>
                <a:latin typeface="Sarabun" pitchFamily="34" charset="0"/>
                <a:ea typeface="Sarabun" pitchFamily="34" charset="-122"/>
                <a:cs typeface="Sarabun" pitchFamily="34" charset="-120"/>
              </a:rPr>
              <a:t>เส้นน้ำเงินนำเฉพาะ Low Duplication แต่ดิ่งเกือบถึงศูนย์ที่ CodeQL และต่ำกว่าเส้นอื่นอีกหลายแกน</a:t>
            </a:r>
            <a:endParaRPr lang="en-US" sz="14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28</a:t>
            </a:fld>
            <a:endParaRPr lang="en-US"/>
          </a:p>
        </p:txBody>
      </p:sp>
      <p:sp>
        <p:nvSpPr>
          <p:cNvPr id="22" name="footnote"/>
          <p:cNvSpPr txBox="1"/>
          <p:nvPr/>
        </p:nvSpPr>
        <p:spPr>
          <a:xfrm>
            <a:off x="6035040" y="6035040"/>
            <a:ext cx="5605272" cy="457200"/>
          </a:xfrm>
          <a:prstGeom prst="rect">
            <a:avLst/>
          </a:prstGeom>
          <a:noFill/>
          <a:ln/>
        </p:spPr>
        <p:txBody>
          <a:bodyPr wrap="square" lIns="0" tIns="0" rIns="0" bIns="0" rtlCol="0" anchor="t"/>
          <a:lstStyle/>
          <a:p>
            <a:pPr marL="0" indent="0" algn="ctr">
              <a:buNone/>
            </a:pPr>
            <a:r>
              <a:rPr lang="en-US" sz="1100" dirty="0">
                <a:solidFill>
                  <a:srgbClr val="6B7280"/>
                </a:solidFill>
                <a:latin typeface="Sarabun" pitchFamily="34" charset="0"/>
                <a:ea typeface="Sarabun" pitchFamily="34" charset="-122"/>
                <a:cs typeface="Sarabun" pitchFamily="34" charset="-120"/>
              </a:rPr>
              <a:t>นอกกราฟ: ฟังก์ชัน, Security, Hotspots (ตาราง 5.2) · รวม 8 มิติ: SDD 4 · BP 3 · CE 1</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5  ผลลัพธ์</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ความแปรปรวนและต้นทุนโทเคน</a:t>
            </a:r>
            <a:endParaRPr lang="en-US" sz="2800" dirty="0"/>
          </a:p>
        </p:txBody>
      </p:sp>
      <p:sp>
        <p:nvSpPr>
          <p:cNvPr id="4" name="Text 2"/>
          <p:cNvSpPr txBox="1"/>
          <p:nvPr/>
        </p:nvSpPr>
        <p:spPr>
          <a:xfrm>
            <a:off x="548640" y="1463040"/>
            <a:ext cx="4754880" cy="320040"/>
          </a:xfrm>
          <a:prstGeom prst="rect">
            <a:avLst/>
          </a:prstGeom>
          <a:noFill/>
          <a:ln/>
        </p:spPr>
        <p:txBody>
          <a:bodyPr wrap="square" lIns="0" tIns="0" rIns="0" bIns="0" rtlCol="0" anchor="t"/>
          <a:lstStyle/>
          <a:p>
            <a:pPr marL="0" indent="0">
              <a:buNone/>
            </a:pPr>
            <a:r>
              <a:rPr lang="en-US" sz="1500" b="1" dirty="0">
                <a:solidFill>
                  <a:srgbClr val="1C5739"/>
                </a:solidFill>
                <a:latin typeface="Sarabun" pitchFamily="34" charset="0"/>
                <a:ea typeface="Sarabun" pitchFamily="34" charset="-122"/>
                <a:cs typeface="Sarabun" pitchFamily="34" charset="-120"/>
              </a:rPr>
              <a:t>SD ของอัตราการผ่านระหว่างเวอร์ชัน (จุด)</a:t>
            </a:r>
            <a:endParaRPr lang="en-US" sz="1500" dirty="0"/>
          </a:p>
        </p:txBody>
      </p:sp>
      <p:sp>
        <p:nvSpPr>
          <p:cNvPr id="5" name="bar BP"/>
          <p:cNvSpPr/>
          <p:nvPr/>
        </p:nvSpPr>
        <p:spPr>
          <a:xfrm>
            <a:off x="960120" y="2840721"/>
            <a:ext cx="1097280" cy="2234199"/>
          </a:xfrm>
          <a:prstGeom prst="roundRect">
            <a:avLst>
              <a:gd name="adj" fmla="val 6667"/>
            </a:avLst>
          </a:prstGeom>
          <a:solidFill>
            <a:srgbClr val="E4572E"/>
          </a:solidFill>
          <a:ln w="12700">
            <a:solidFill>
              <a:srgbClr val="E4572E"/>
            </a:solidFill>
            <a:prstDash val="solid"/>
          </a:ln>
        </p:spPr>
        <p:txBody>
          <a:bodyPr/>
          <a:lstStyle/>
          <a:p>
            <a:endParaRPr lang="en-TH"/>
          </a:p>
        </p:txBody>
      </p:sp>
      <p:sp>
        <p:nvSpPr>
          <p:cNvPr id="6" name="Text 4"/>
          <p:cNvSpPr txBox="1"/>
          <p:nvPr/>
        </p:nvSpPr>
        <p:spPr>
          <a:xfrm>
            <a:off x="960120" y="2383521"/>
            <a:ext cx="1097280" cy="411480"/>
          </a:xfrm>
          <a:prstGeom prst="rect">
            <a:avLst/>
          </a:prstGeom>
          <a:noFill/>
          <a:ln/>
        </p:spPr>
        <p:txBody>
          <a:bodyPr wrap="square" lIns="0" tIns="0" rIns="0" bIns="0" rtlCol="0" anchor="b"/>
          <a:lstStyle/>
          <a:p>
            <a:pPr marL="0" indent="0" algn="ctr">
              <a:buNone/>
            </a:pPr>
            <a:r>
              <a:rPr lang="en-US" sz="2000" b="1" dirty="0">
                <a:solidFill>
                  <a:srgbClr val="1C5739"/>
                </a:solidFill>
                <a:latin typeface="Sarabun" pitchFamily="34" charset="0"/>
                <a:ea typeface="Sarabun" pitchFamily="34" charset="-122"/>
                <a:cs typeface="Sarabun" pitchFamily="34" charset="-120"/>
              </a:rPr>
              <a:t>31.0</a:t>
            </a:r>
            <a:endParaRPr lang="en-US" sz="2000" dirty="0"/>
          </a:p>
        </p:txBody>
      </p:sp>
      <p:sp>
        <p:nvSpPr>
          <p:cNvPr id="7" name="Text 5"/>
          <p:cNvSpPr txBox="1"/>
          <p:nvPr/>
        </p:nvSpPr>
        <p:spPr>
          <a:xfrm>
            <a:off x="960120" y="5166360"/>
            <a:ext cx="1097280" cy="365760"/>
          </a:xfrm>
          <a:prstGeom prst="rect">
            <a:avLst/>
          </a:prstGeom>
          <a:noFill/>
          <a:ln/>
        </p:spPr>
        <p:txBody>
          <a:bodyPr wrap="square" lIns="0" tIns="0" rIns="0" bIns="0" rtlCol="0" anchor="t"/>
          <a:lstStyle/>
          <a:p>
            <a:pPr marL="0" indent="0" algn="ctr">
              <a:buNone/>
            </a:pPr>
            <a:r>
              <a:rPr lang="en-US" sz="1600" b="1" dirty="0">
                <a:solidFill>
                  <a:srgbClr val="1F2937"/>
                </a:solidFill>
                <a:latin typeface="Sarabun" pitchFamily="34" charset="0"/>
                <a:ea typeface="Sarabun" pitchFamily="34" charset="-122"/>
                <a:cs typeface="Sarabun" pitchFamily="34" charset="-120"/>
              </a:rPr>
              <a:t>BP</a:t>
            </a:r>
            <a:endParaRPr lang="en-US" sz="1600" dirty="0"/>
          </a:p>
        </p:txBody>
      </p:sp>
      <p:sp>
        <p:nvSpPr>
          <p:cNvPr id="8" name="bar CE"/>
          <p:cNvSpPr/>
          <p:nvPr/>
        </p:nvSpPr>
        <p:spPr>
          <a:xfrm>
            <a:off x="2468880" y="2148840"/>
            <a:ext cx="1097280" cy="2926080"/>
          </a:xfrm>
          <a:prstGeom prst="roundRect">
            <a:avLst>
              <a:gd name="adj" fmla="val 6667"/>
            </a:avLst>
          </a:prstGeom>
          <a:solidFill>
            <a:srgbClr val="2F80ED"/>
          </a:solidFill>
          <a:ln w="12700">
            <a:solidFill>
              <a:srgbClr val="2F80ED"/>
            </a:solidFill>
            <a:prstDash val="solid"/>
          </a:ln>
        </p:spPr>
        <p:txBody>
          <a:bodyPr/>
          <a:lstStyle/>
          <a:p>
            <a:endParaRPr lang="en-TH"/>
          </a:p>
        </p:txBody>
      </p:sp>
      <p:sp>
        <p:nvSpPr>
          <p:cNvPr id="9" name="Text 7"/>
          <p:cNvSpPr txBox="1"/>
          <p:nvPr/>
        </p:nvSpPr>
        <p:spPr>
          <a:xfrm>
            <a:off x="2468880" y="1691640"/>
            <a:ext cx="1097280" cy="411480"/>
          </a:xfrm>
          <a:prstGeom prst="rect">
            <a:avLst/>
          </a:prstGeom>
          <a:noFill/>
          <a:ln/>
        </p:spPr>
        <p:txBody>
          <a:bodyPr wrap="square" lIns="0" tIns="0" rIns="0" bIns="0" rtlCol="0" anchor="b"/>
          <a:lstStyle/>
          <a:p>
            <a:pPr marL="0" indent="0" algn="ctr">
              <a:buNone/>
            </a:pPr>
            <a:r>
              <a:rPr lang="en-US" sz="2000" b="1" dirty="0">
                <a:solidFill>
                  <a:srgbClr val="1C5739"/>
                </a:solidFill>
                <a:latin typeface="Sarabun" pitchFamily="34" charset="0"/>
                <a:ea typeface="Sarabun" pitchFamily="34" charset="-122"/>
                <a:cs typeface="Sarabun" pitchFamily="34" charset="-120"/>
              </a:rPr>
              <a:t>40.6</a:t>
            </a:r>
            <a:endParaRPr lang="en-US" sz="2000" dirty="0"/>
          </a:p>
        </p:txBody>
      </p:sp>
      <p:sp>
        <p:nvSpPr>
          <p:cNvPr id="10" name="Text 8"/>
          <p:cNvSpPr txBox="1"/>
          <p:nvPr/>
        </p:nvSpPr>
        <p:spPr>
          <a:xfrm>
            <a:off x="2468880" y="5166360"/>
            <a:ext cx="1097280" cy="365760"/>
          </a:xfrm>
          <a:prstGeom prst="rect">
            <a:avLst/>
          </a:prstGeom>
          <a:noFill/>
          <a:ln/>
        </p:spPr>
        <p:txBody>
          <a:bodyPr wrap="square" lIns="0" tIns="0" rIns="0" bIns="0" rtlCol="0" anchor="t"/>
          <a:lstStyle/>
          <a:p>
            <a:pPr marL="0" indent="0" algn="ctr">
              <a:buNone/>
            </a:pPr>
            <a:r>
              <a:rPr lang="en-US" sz="1600" b="1" dirty="0">
                <a:solidFill>
                  <a:srgbClr val="1F2937"/>
                </a:solidFill>
                <a:latin typeface="Sarabun" pitchFamily="34" charset="0"/>
                <a:ea typeface="Sarabun" pitchFamily="34" charset="-122"/>
                <a:cs typeface="Sarabun" pitchFamily="34" charset="-120"/>
              </a:rPr>
              <a:t>CE</a:t>
            </a:r>
            <a:endParaRPr lang="en-US" sz="1600" dirty="0"/>
          </a:p>
        </p:txBody>
      </p:sp>
      <p:sp>
        <p:nvSpPr>
          <p:cNvPr id="11" name="bar SDD"/>
          <p:cNvSpPr/>
          <p:nvPr/>
        </p:nvSpPr>
        <p:spPr>
          <a:xfrm>
            <a:off x="3977640" y="4584838"/>
            <a:ext cx="1097280" cy="490082"/>
          </a:xfrm>
          <a:prstGeom prst="roundRect">
            <a:avLst>
              <a:gd name="adj" fmla="val 14926"/>
            </a:avLst>
          </a:prstGeom>
          <a:solidFill>
            <a:srgbClr val="1FA971"/>
          </a:solidFill>
          <a:ln w="12700">
            <a:solidFill>
              <a:srgbClr val="1FA971"/>
            </a:solidFill>
            <a:prstDash val="solid"/>
          </a:ln>
        </p:spPr>
        <p:txBody>
          <a:bodyPr/>
          <a:lstStyle/>
          <a:p>
            <a:endParaRPr lang="en-TH"/>
          </a:p>
        </p:txBody>
      </p:sp>
      <p:sp>
        <p:nvSpPr>
          <p:cNvPr id="12" name="Text 10"/>
          <p:cNvSpPr txBox="1"/>
          <p:nvPr/>
        </p:nvSpPr>
        <p:spPr>
          <a:xfrm>
            <a:off x="3977640" y="4127638"/>
            <a:ext cx="1097280" cy="411480"/>
          </a:xfrm>
          <a:prstGeom prst="rect">
            <a:avLst/>
          </a:prstGeom>
          <a:noFill/>
          <a:ln/>
        </p:spPr>
        <p:txBody>
          <a:bodyPr wrap="square" lIns="0" tIns="0" rIns="0" bIns="0" rtlCol="0" anchor="b"/>
          <a:lstStyle/>
          <a:p>
            <a:pPr marL="0" indent="0" algn="ctr">
              <a:buNone/>
            </a:pPr>
            <a:r>
              <a:rPr lang="en-US" sz="2000" b="1" dirty="0">
                <a:solidFill>
                  <a:srgbClr val="1C5739"/>
                </a:solidFill>
                <a:latin typeface="Sarabun" pitchFamily="34" charset="0"/>
                <a:ea typeface="Sarabun" pitchFamily="34" charset="-122"/>
                <a:cs typeface="Sarabun" pitchFamily="34" charset="-120"/>
              </a:rPr>
              <a:t>6.8</a:t>
            </a:r>
            <a:endParaRPr lang="en-US" sz="2000" dirty="0"/>
          </a:p>
        </p:txBody>
      </p:sp>
      <p:sp>
        <p:nvSpPr>
          <p:cNvPr id="13" name="Text 11"/>
          <p:cNvSpPr txBox="1"/>
          <p:nvPr/>
        </p:nvSpPr>
        <p:spPr>
          <a:xfrm>
            <a:off x="3977640" y="5166360"/>
            <a:ext cx="1097280" cy="365760"/>
          </a:xfrm>
          <a:prstGeom prst="rect">
            <a:avLst/>
          </a:prstGeom>
          <a:noFill/>
          <a:ln/>
        </p:spPr>
        <p:txBody>
          <a:bodyPr wrap="square" lIns="0" tIns="0" rIns="0" bIns="0" rtlCol="0" anchor="t"/>
          <a:lstStyle/>
          <a:p>
            <a:pPr marL="0" indent="0" algn="ctr">
              <a:buNone/>
            </a:pPr>
            <a:r>
              <a:rPr lang="en-US" sz="1600" b="1" dirty="0">
                <a:solidFill>
                  <a:srgbClr val="1F2937"/>
                </a:solidFill>
                <a:latin typeface="Sarabun" pitchFamily="34" charset="0"/>
                <a:ea typeface="Sarabun" pitchFamily="34" charset="-122"/>
                <a:cs typeface="Sarabun" pitchFamily="34" charset="-120"/>
              </a:rPr>
              <a:t>SDD</a:t>
            </a:r>
            <a:endParaRPr lang="en-US" sz="1600" dirty="0"/>
          </a:p>
        </p:txBody>
      </p:sp>
      <p:sp>
        <p:nvSpPr>
          <p:cNvPr id="14" name="Text 12"/>
          <p:cNvSpPr txBox="1"/>
          <p:nvPr/>
        </p:nvSpPr>
        <p:spPr>
          <a:xfrm>
            <a:off x="548640" y="5577840"/>
            <a:ext cx="4754880" cy="457200"/>
          </a:xfrm>
          <a:prstGeom prst="rect">
            <a:avLst/>
          </a:prstGeom>
          <a:noFill/>
          <a:ln/>
        </p:spPr>
        <p:txBody>
          <a:bodyPr wrap="square" lIns="0" tIns="0" rIns="0" bIns="0" rtlCol="0" anchor="t"/>
          <a:lstStyle/>
          <a:p>
            <a:pPr marL="0" indent="0" algn="l">
              <a:buNone/>
            </a:pPr>
            <a:r>
              <a:rPr lang="en-US" sz="1200" dirty="0">
                <a:solidFill>
                  <a:srgbClr val="6B7280"/>
                </a:solidFill>
                <a:latin typeface="Sarabun" pitchFamily="34" charset="0"/>
                <a:ea typeface="Sarabun" pitchFamily="34" charset="-122"/>
                <a:cs typeface="Sarabun" pitchFamily="34" charset="-120"/>
              </a:rPr>
              <a:t>SDD นิ่งที่สุด: SD 6.8 เทียบกับ 31.0 (BP) และ 40.6 (CE)</a:t>
            </a:r>
            <a:endParaRPr lang="en-US" sz="1200" dirty="0"/>
          </a:p>
        </p:txBody>
      </p:sp>
      <p:sp>
        <p:nvSpPr>
          <p:cNvPr id="15" name="Text 13"/>
          <p:cNvSpPr txBox="1"/>
          <p:nvPr/>
        </p:nvSpPr>
        <p:spPr>
          <a:xfrm>
            <a:off x="5669280" y="1463040"/>
            <a:ext cx="5973775" cy="320040"/>
          </a:xfrm>
          <a:prstGeom prst="rect">
            <a:avLst/>
          </a:prstGeom>
          <a:noFill/>
          <a:ln/>
        </p:spPr>
        <p:txBody>
          <a:bodyPr wrap="square" lIns="0" tIns="0" rIns="0" bIns="0" rtlCol="0" anchor="t"/>
          <a:lstStyle/>
          <a:p>
            <a:pPr marL="0" indent="0">
              <a:buNone/>
            </a:pPr>
            <a:r>
              <a:rPr lang="en-US" sz="1500" b="1" dirty="0">
                <a:solidFill>
                  <a:srgbClr val="1C5739"/>
                </a:solidFill>
                <a:latin typeface="Sarabun" pitchFamily="34" charset="0"/>
                <a:ea typeface="Sarabun" pitchFamily="34" charset="-122"/>
                <a:cs typeface="Sarabun" pitchFamily="34" charset="-120"/>
              </a:rPr>
              <a:t>ตารางที่ 5.3 ความแปรปรวนของอัตราการผ่าน</a:t>
            </a:r>
            <a:endParaRPr lang="en-US" sz="15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0" y="1783080"/>
          <a:ext cx="5973775" cy="1645920"/>
        </p:xfrm>
        <a:graphic>
          <a:graphicData uri="http://schemas.openxmlformats.org/drawingml/2006/table">
            <a:tbl>
              <a:tblPr/>
              <a:tblGrid>
                <a:gridCol w="9144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01775">
                  <a:extLst>
                    <a:ext uri="{9D8B030D-6E8A-4147-A177-3AD203B41FA5}">
                      <a16:colId xmlns:a16="http://schemas.microsoft.com/office/drawing/2014/main" val="20004"/>
                    </a:ext>
                  </a:extLst>
                </a:gridCol>
              </a:tblGrid>
              <a:tr h="411480">
                <a:tc>
                  <a:txBody>
                    <a:bodyPr/>
                    <a:lstStyle/>
                    <a:p>
                      <a:pPr marL="0" indent="0" algn="ctr">
                        <a:buNone/>
                      </a:pPr>
                      <a:r>
                        <a:rPr lang="en-US" sz="1350" b="1" dirty="0">
                          <a:solidFill>
                            <a:srgbClr val="FFFFFF"/>
                          </a:solidFill>
                          <a:latin typeface="Sarabun" pitchFamily="34" charset="0"/>
                          <a:ea typeface="Sarabun" pitchFamily="34" charset="-122"/>
                          <a:cs typeface="Sarabun" pitchFamily="34" charset="-120"/>
                        </a:rPr>
                        <a:t>กลยุทธ์</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tc>
                  <a:txBody>
                    <a:bodyPr/>
                    <a:lstStyle/>
                    <a:p>
                      <a:pPr marL="0" indent="0" algn="ctr">
                        <a:buNone/>
                      </a:pPr>
                      <a:r>
                        <a:rPr lang="en-US" sz="1350" b="1" dirty="0">
                          <a:solidFill>
                            <a:srgbClr val="FFFFFF"/>
                          </a:solidFill>
                          <a:latin typeface="Sarabun" pitchFamily="34" charset="0"/>
                          <a:ea typeface="Sarabun" pitchFamily="34" charset="-122"/>
                          <a:cs typeface="Sarabun" pitchFamily="34" charset="-120"/>
                        </a:rPr>
                        <a:t>ค่าเฉลี่ย (%)</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tc>
                  <a:txBody>
                    <a:bodyPr/>
                    <a:lstStyle/>
                    <a:p>
                      <a:pPr marL="0" indent="0" algn="ctr">
                        <a:buNone/>
                      </a:pPr>
                      <a:r>
                        <a:rPr lang="en-US" sz="1350" b="1" dirty="0">
                          <a:solidFill>
                            <a:srgbClr val="FFFFFF"/>
                          </a:solidFill>
                          <a:latin typeface="Sarabun" pitchFamily="34" charset="0"/>
                          <a:ea typeface="Sarabun" pitchFamily="34" charset="-122"/>
                          <a:cs typeface="Sarabun" pitchFamily="34" charset="-120"/>
                        </a:rPr>
                        <a:t>SD (จุด)</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tc>
                  <a:txBody>
                    <a:bodyPr/>
                    <a:lstStyle/>
                    <a:p>
                      <a:pPr marL="0" indent="0" algn="ctr">
                        <a:buNone/>
                      </a:pPr>
                      <a:r>
                        <a:rPr lang="en-US" sz="1350" b="1" dirty="0">
                          <a:solidFill>
                            <a:srgbClr val="FFFFFF"/>
                          </a:solidFill>
                          <a:latin typeface="Sarabun" pitchFamily="34" charset="0"/>
                          <a:ea typeface="Sarabun" pitchFamily="34" charset="-122"/>
                          <a:cs typeface="Sarabun" pitchFamily="34" charset="-120"/>
                        </a:rPr>
                        <a:t>ต่ำสุด–สูงสุด (%)</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tc>
                  <a:txBody>
                    <a:bodyPr/>
                    <a:lstStyle/>
                    <a:p>
                      <a:pPr marL="0" indent="0" algn="ctr">
                        <a:buNone/>
                      </a:pPr>
                      <a:r>
                        <a:rPr lang="en-US" sz="1350" b="1" dirty="0">
                          <a:solidFill>
                            <a:srgbClr val="FFFFFF"/>
                          </a:solidFill>
                          <a:latin typeface="Sarabun" pitchFamily="34" charset="0"/>
                          <a:ea typeface="Sarabun" pitchFamily="34" charset="-122"/>
                          <a:cs typeface="Sarabun" pitchFamily="34" charset="-120"/>
                        </a:rPr>
                        <a:t>CV (%)</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extLst>
                  <a:ext uri="{0D108BD9-81ED-4DB2-BD59-A6C34878D82A}">
                    <a16:rowId xmlns:a16="http://schemas.microsoft.com/office/drawing/2014/main" val="10000"/>
                  </a:ext>
                </a:extLst>
              </a:tr>
              <a:tr h="411480">
                <a:tc>
                  <a:txBody>
                    <a:bodyPr/>
                    <a:lstStyle/>
                    <a:p>
                      <a:pPr marL="0" indent="0" algn="ctr">
                        <a:buNone/>
                      </a:pPr>
                      <a:r>
                        <a:rPr lang="en-US" sz="1350" b="1" dirty="0">
                          <a:solidFill>
                            <a:srgbClr val="1F2937"/>
                          </a:solidFill>
                          <a:latin typeface="Sarabun" pitchFamily="34" charset="0"/>
                          <a:ea typeface="Sarabun" pitchFamily="34" charset="-122"/>
                          <a:cs typeface="Sarabun" pitchFamily="34" charset="-120"/>
                        </a:rPr>
                        <a:t>BP</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tc>
                  <a:txBody>
                    <a:bodyPr/>
                    <a:lstStyle/>
                    <a:p>
                      <a:pPr marL="0" indent="0" algn="ctr">
                        <a:buNone/>
                      </a:pPr>
                      <a:r>
                        <a:rPr lang="en-US" sz="1350" dirty="0">
                          <a:solidFill>
                            <a:srgbClr val="1F2937"/>
                          </a:solidFill>
                          <a:latin typeface="Sarabun" pitchFamily="34" charset="0"/>
                          <a:ea typeface="Sarabun" pitchFamily="34" charset="-122"/>
                          <a:cs typeface="Sarabun" pitchFamily="34" charset="-120"/>
                        </a:rPr>
                        <a:t>75.6</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350" dirty="0">
                          <a:solidFill>
                            <a:srgbClr val="1F2937"/>
                          </a:solidFill>
                          <a:latin typeface="Sarabun" pitchFamily="34" charset="0"/>
                          <a:ea typeface="Sarabun" pitchFamily="34" charset="-122"/>
                          <a:cs typeface="Sarabun" pitchFamily="34" charset="-120"/>
                        </a:rPr>
                        <a:t>31.0</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350" dirty="0">
                          <a:solidFill>
                            <a:srgbClr val="1F2937"/>
                          </a:solidFill>
                          <a:latin typeface="Sarabun" pitchFamily="34" charset="0"/>
                          <a:ea typeface="Sarabun" pitchFamily="34" charset="-122"/>
                          <a:cs typeface="Sarabun" pitchFamily="34" charset="-120"/>
                        </a:rPr>
                        <a:t>17–100</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350" dirty="0">
                          <a:solidFill>
                            <a:srgbClr val="1F2937"/>
                          </a:solidFill>
                          <a:latin typeface="Sarabun" pitchFamily="34" charset="0"/>
                          <a:ea typeface="Sarabun" pitchFamily="34" charset="-122"/>
                          <a:cs typeface="Sarabun" pitchFamily="34" charset="-120"/>
                        </a:rPr>
                        <a:t>41.0</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lgn="ctr">
                        <a:buNone/>
                      </a:pPr>
                      <a:r>
                        <a:rPr lang="en-US" sz="1350" b="1" dirty="0">
                          <a:solidFill>
                            <a:srgbClr val="1F2937"/>
                          </a:solidFill>
                          <a:latin typeface="Sarabun" pitchFamily="34" charset="0"/>
                          <a:ea typeface="Sarabun" pitchFamily="34" charset="-122"/>
                          <a:cs typeface="Sarabun" pitchFamily="34" charset="-120"/>
                        </a:rPr>
                        <a:t>CE</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a:txBody>
                    <a:bodyPr/>
                    <a:lstStyle/>
                    <a:p>
                      <a:pPr marL="0" indent="0" algn="ctr">
                        <a:buNone/>
                      </a:pPr>
                      <a:r>
                        <a:rPr lang="en-US" sz="1350" dirty="0">
                          <a:solidFill>
                            <a:srgbClr val="1F2937"/>
                          </a:solidFill>
                          <a:latin typeface="Sarabun" pitchFamily="34" charset="0"/>
                          <a:ea typeface="Sarabun" pitchFamily="34" charset="-122"/>
                          <a:cs typeface="Sarabun" pitchFamily="34" charset="-120"/>
                        </a:rPr>
                        <a:t>66.8</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350" dirty="0">
                          <a:solidFill>
                            <a:srgbClr val="1F2937"/>
                          </a:solidFill>
                          <a:latin typeface="Sarabun" pitchFamily="34" charset="0"/>
                          <a:ea typeface="Sarabun" pitchFamily="34" charset="-122"/>
                          <a:cs typeface="Sarabun" pitchFamily="34" charset="-120"/>
                        </a:rPr>
                        <a:t>40.6</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350" dirty="0">
                          <a:solidFill>
                            <a:srgbClr val="1F2937"/>
                          </a:solidFill>
                          <a:latin typeface="Sarabun" pitchFamily="34" charset="0"/>
                          <a:ea typeface="Sarabun" pitchFamily="34" charset="-122"/>
                          <a:cs typeface="Sarabun" pitchFamily="34" charset="-120"/>
                        </a:rPr>
                        <a:t>14–100</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350" dirty="0">
                          <a:solidFill>
                            <a:srgbClr val="1F2937"/>
                          </a:solidFill>
                          <a:latin typeface="Sarabun" pitchFamily="34" charset="0"/>
                          <a:ea typeface="Sarabun" pitchFamily="34" charset="-122"/>
                          <a:cs typeface="Sarabun" pitchFamily="34" charset="-120"/>
                        </a:rPr>
                        <a:t>60.8</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lgn="ctr">
                        <a:buNone/>
                      </a:pPr>
                      <a:r>
                        <a:rPr lang="en-US" sz="1350" b="1" dirty="0">
                          <a:solidFill>
                            <a:srgbClr val="1F2937"/>
                          </a:solidFill>
                          <a:latin typeface="Sarabun" pitchFamily="34" charset="0"/>
                          <a:ea typeface="Sarabun" pitchFamily="34" charset="-122"/>
                          <a:cs typeface="Sarabun" pitchFamily="34" charset="-120"/>
                        </a:rPr>
                        <a:t>SDD</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tc>
                  <a:txBody>
                    <a:bodyPr/>
                    <a:lstStyle/>
                    <a:p>
                      <a:pPr marL="0" indent="0" algn="ctr">
                        <a:buNone/>
                      </a:pPr>
                      <a:r>
                        <a:rPr lang="en-US" sz="1350" b="1" dirty="0">
                          <a:solidFill>
                            <a:srgbClr val="1F2937"/>
                          </a:solidFill>
                          <a:latin typeface="Sarabun" pitchFamily="34" charset="0"/>
                          <a:ea typeface="Sarabun" pitchFamily="34" charset="-122"/>
                          <a:cs typeface="Sarabun" pitchFamily="34" charset="-120"/>
                        </a:rPr>
                        <a:t>97.2</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350" b="1" dirty="0">
                          <a:solidFill>
                            <a:srgbClr val="1F2937"/>
                          </a:solidFill>
                          <a:latin typeface="Sarabun" pitchFamily="34" charset="0"/>
                          <a:ea typeface="Sarabun" pitchFamily="34" charset="-122"/>
                          <a:cs typeface="Sarabun" pitchFamily="34" charset="-120"/>
                        </a:rPr>
                        <a:t>6.8</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350" b="1" dirty="0">
                          <a:solidFill>
                            <a:srgbClr val="1F2937"/>
                          </a:solidFill>
                          <a:latin typeface="Sarabun" pitchFamily="34" charset="0"/>
                          <a:ea typeface="Sarabun" pitchFamily="34" charset="-122"/>
                          <a:cs typeface="Sarabun" pitchFamily="34" charset="-120"/>
                        </a:rPr>
                        <a:t>83–100</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350" b="1" dirty="0">
                          <a:solidFill>
                            <a:srgbClr val="1F2937"/>
                          </a:solidFill>
                          <a:latin typeface="Sarabun" pitchFamily="34" charset="0"/>
                          <a:ea typeface="Sarabun" pitchFamily="34" charset="-122"/>
                          <a:cs typeface="Sarabun" pitchFamily="34" charset="-120"/>
                        </a:rPr>
                        <a:t>7.0</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7" name="Text 14"/>
          <p:cNvSpPr txBox="1"/>
          <p:nvPr/>
        </p:nvSpPr>
        <p:spPr>
          <a:xfrm>
            <a:off x="5669280" y="3611880"/>
            <a:ext cx="5973775" cy="320040"/>
          </a:xfrm>
          <a:prstGeom prst="rect">
            <a:avLst/>
          </a:prstGeom>
          <a:noFill/>
          <a:ln/>
        </p:spPr>
        <p:txBody>
          <a:bodyPr wrap="square" lIns="0" tIns="0" rIns="0" bIns="0" rtlCol="0" anchor="t"/>
          <a:lstStyle/>
          <a:p>
            <a:pPr marL="0" indent="0">
              <a:buNone/>
            </a:pPr>
            <a:r>
              <a:rPr lang="en-US" sz="1500" b="1" dirty="0">
                <a:solidFill>
                  <a:srgbClr val="1C5739"/>
                </a:solidFill>
                <a:latin typeface="Sarabun" pitchFamily="34" charset="0"/>
                <a:ea typeface="Sarabun" pitchFamily="34" charset="-122"/>
                <a:cs typeface="Sarabun" pitchFamily="34" charset="-120"/>
              </a:rPr>
              <a:t>ตารางที่ 5.5 ปริมาณโทเคนฝั่งผู้ใช้</a:t>
            </a:r>
            <a:endParaRPr lang="en-US" sz="1500" dirty="0"/>
          </a:p>
        </p:txBody>
      </p:sp>
      <p:graphicFrame>
        <p:nvGraphicFramePr>
          <p:cNvPr id="59" name="Table 1"/>
          <p:cNvGraphicFramePr>
            <a:graphicFrameLocks noGrp="1"/>
          </p:cNvGraphicFramePr>
          <p:nvPr>
            <p:extLst>
              <p:ext uri="{D42A27DB-BD31-4B8C-83A1-F6EECF244321}">
                <p14:modId xmlns:p14="http://schemas.microsoft.com/office/powerpoint/2010/main" val="1579011935"/>
              </p:ext>
            </p:extLst>
          </p:nvPr>
        </p:nvGraphicFramePr>
        <p:xfrm>
          <a:off x="5669280" y="3977640"/>
          <a:ext cx="5973775" cy="1645920"/>
        </p:xfrm>
        <a:graphic>
          <a:graphicData uri="http://schemas.openxmlformats.org/drawingml/2006/table">
            <a:tbl>
              <a:tblPr/>
              <a:tblGrid>
                <a:gridCol w="9144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2407615">
                  <a:extLst>
                    <a:ext uri="{9D8B030D-6E8A-4147-A177-3AD203B41FA5}">
                      <a16:colId xmlns:a16="http://schemas.microsoft.com/office/drawing/2014/main" val="20003"/>
                    </a:ext>
                  </a:extLst>
                </a:gridCol>
              </a:tblGrid>
              <a:tr h="411480">
                <a:tc>
                  <a:txBody>
                    <a:bodyPr/>
                    <a:lstStyle/>
                    <a:p>
                      <a:pPr marL="0" indent="0" algn="ctr">
                        <a:buNone/>
                      </a:pPr>
                      <a:r>
                        <a:rPr lang="en-US" sz="1350" b="1" dirty="0">
                          <a:solidFill>
                            <a:srgbClr val="FFFFFF"/>
                          </a:solidFill>
                          <a:latin typeface="Sarabun" pitchFamily="34" charset="0"/>
                          <a:ea typeface="Sarabun" pitchFamily="34" charset="-122"/>
                          <a:cs typeface="Sarabun" pitchFamily="34" charset="-120"/>
                        </a:rPr>
                        <a:t>กลยุทธ์</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tc>
                  <a:txBody>
                    <a:bodyPr/>
                    <a:lstStyle/>
                    <a:p>
                      <a:pPr marL="0" indent="0" algn="ctr">
                        <a:buNone/>
                      </a:pPr>
                      <a:r>
                        <a:rPr lang="en-US" sz="1350" b="1" dirty="0">
                          <a:solidFill>
                            <a:srgbClr val="FFFFFF"/>
                          </a:solidFill>
                          <a:latin typeface="Sarabun" pitchFamily="34" charset="0"/>
                          <a:ea typeface="Sarabun" pitchFamily="34" charset="-122"/>
                          <a:cs typeface="Sarabun" pitchFamily="34" charset="-120"/>
                        </a:rPr>
                        <a:t>รวม</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tc>
                  <a:txBody>
                    <a:bodyPr/>
                    <a:lstStyle/>
                    <a:p>
                      <a:pPr marL="0" indent="0" algn="ctr">
                        <a:buNone/>
                      </a:pPr>
                      <a:r>
                        <a:rPr lang="en-US" sz="1350" b="1" dirty="0">
                          <a:solidFill>
                            <a:srgbClr val="FFFFFF"/>
                          </a:solidFill>
                          <a:latin typeface="Sarabun" pitchFamily="34" charset="0"/>
                          <a:ea typeface="Sarabun" pitchFamily="34" charset="-122"/>
                          <a:cs typeface="Sarabun" pitchFamily="34" charset="-120"/>
                        </a:rPr>
                        <a:t>เฉลี่ยต่อเวอร์ชัน</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tc>
                  <a:txBody>
                    <a:bodyPr/>
                    <a:lstStyle/>
                    <a:p>
                      <a:pPr marL="0" indent="0" algn="l">
                        <a:buNone/>
                      </a:pPr>
                      <a:r>
                        <a:rPr lang="en-US" sz="1350" b="1" dirty="0">
                          <a:solidFill>
                            <a:srgbClr val="FFFFFF"/>
                          </a:solidFill>
                          <a:latin typeface="Sarabun" pitchFamily="34" charset="0"/>
                          <a:ea typeface="Sarabun" pitchFamily="34" charset="-122"/>
                          <a:cs typeface="Sarabun" pitchFamily="34" charset="-120"/>
                        </a:rPr>
                        <a:t>ข้อมูล</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extLst>
                  <a:ext uri="{0D108BD9-81ED-4DB2-BD59-A6C34878D82A}">
                    <a16:rowId xmlns:a16="http://schemas.microsoft.com/office/drawing/2014/main" val="10000"/>
                  </a:ext>
                </a:extLst>
              </a:tr>
              <a:tr h="411480">
                <a:tc>
                  <a:txBody>
                    <a:bodyPr/>
                    <a:lstStyle/>
                    <a:p>
                      <a:pPr marL="0" indent="0" algn="ctr">
                        <a:buNone/>
                      </a:pPr>
                      <a:r>
                        <a:rPr lang="en-US" sz="1350" b="1" dirty="0">
                          <a:solidFill>
                            <a:srgbClr val="1F2937"/>
                          </a:solidFill>
                          <a:latin typeface="Sarabun" pitchFamily="34" charset="0"/>
                          <a:ea typeface="Sarabun" pitchFamily="34" charset="-122"/>
                          <a:cs typeface="Sarabun" pitchFamily="34" charset="-120"/>
                        </a:rPr>
                        <a:t>BP</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tc>
                  <a:txBody>
                    <a:bodyPr/>
                    <a:lstStyle/>
                    <a:p>
                      <a:pPr marL="0" indent="0" algn="ctr">
                        <a:buNone/>
                      </a:pPr>
                      <a:r>
                        <a:rPr lang="en-US" sz="1350" dirty="0">
                          <a:solidFill>
                            <a:srgbClr val="1F2937"/>
                          </a:solidFill>
                          <a:latin typeface="Sarabun" pitchFamily="34" charset="0"/>
                          <a:ea typeface="Sarabun" pitchFamily="34" charset="-122"/>
                          <a:cs typeface="Sarabun" pitchFamily="34" charset="-120"/>
                        </a:rPr>
                        <a:t>3,482</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350" dirty="0">
                          <a:solidFill>
                            <a:srgbClr val="1F2937"/>
                          </a:solidFill>
                          <a:latin typeface="Sarabun" pitchFamily="34" charset="0"/>
                          <a:ea typeface="Sarabun" pitchFamily="34" charset="-122"/>
                          <a:cs typeface="Sarabun" pitchFamily="34" charset="-120"/>
                        </a:rPr>
                        <a:t>580</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buNone/>
                      </a:pPr>
                      <a:r>
                        <a:rPr lang="en-US" sz="1350" dirty="0">
                          <a:solidFill>
                            <a:srgbClr val="1F2937"/>
                          </a:solidFill>
                          <a:latin typeface="Sarabun" pitchFamily="34" charset="0"/>
                          <a:ea typeface="Sarabun" pitchFamily="34" charset="-122"/>
                          <a:cs typeface="Sarabun" pitchFamily="34" charset="-120"/>
                        </a:rPr>
                        <a:t>ครบถ้วน (บทสนทนาเต็ม)</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lgn="ctr">
                        <a:buNone/>
                      </a:pPr>
                      <a:r>
                        <a:rPr lang="en-US" sz="1350" b="1" dirty="0">
                          <a:solidFill>
                            <a:srgbClr val="1F2937"/>
                          </a:solidFill>
                          <a:latin typeface="Sarabun" pitchFamily="34" charset="0"/>
                          <a:ea typeface="Sarabun" pitchFamily="34" charset="-122"/>
                          <a:cs typeface="Sarabun" pitchFamily="34" charset="-120"/>
                        </a:rPr>
                        <a:t>CE</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a:txBody>
                    <a:bodyPr/>
                    <a:lstStyle/>
                    <a:p>
                      <a:pPr marL="0" indent="0" algn="ctr">
                        <a:buNone/>
                      </a:pPr>
                      <a:r>
                        <a:rPr lang="en-US" sz="1350" dirty="0">
                          <a:solidFill>
                            <a:srgbClr val="1F2937"/>
                          </a:solidFill>
                          <a:latin typeface="Sarabun" pitchFamily="34" charset="0"/>
                          <a:ea typeface="Sarabun" pitchFamily="34" charset="-122"/>
                          <a:cs typeface="Sarabun" pitchFamily="34" charset="-120"/>
                        </a:rPr>
                        <a:t>3,118</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350" dirty="0">
                          <a:solidFill>
                            <a:srgbClr val="1F2937"/>
                          </a:solidFill>
                          <a:latin typeface="Sarabun" pitchFamily="34" charset="0"/>
                          <a:ea typeface="Sarabun" pitchFamily="34" charset="-122"/>
                          <a:cs typeface="Sarabun" pitchFamily="34" charset="-120"/>
                        </a:rPr>
                        <a:t>520</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buNone/>
                      </a:pPr>
                      <a:r>
                        <a:rPr lang="en-US" sz="1350" dirty="0">
                          <a:solidFill>
                            <a:srgbClr val="1F2937"/>
                          </a:solidFill>
                          <a:latin typeface="Sarabun" pitchFamily="34" charset="0"/>
                          <a:ea typeface="Sarabun" pitchFamily="34" charset="-122"/>
                          <a:cs typeface="Sarabun" pitchFamily="34" charset="-120"/>
                        </a:rPr>
                        <a:t>ครบถ้วน (บทสนทนาเต็ม)</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lgn="ctr">
                        <a:buNone/>
                      </a:pPr>
                      <a:r>
                        <a:rPr lang="en-US" sz="1350" b="1" dirty="0">
                          <a:solidFill>
                            <a:srgbClr val="1F2937"/>
                          </a:solidFill>
                          <a:latin typeface="Sarabun" pitchFamily="34" charset="0"/>
                          <a:ea typeface="Sarabun" pitchFamily="34" charset="-122"/>
                          <a:cs typeface="Sarabun" pitchFamily="34" charset="-120"/>
                        </a:rPr>
                        <a:t>SDD</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tc>
                  <a:txBody>
                    <a:bodyPr/>
                    <a:lstStyle/>
                    <a:p>
                      <a:pPr marL="0" indent="0" algn="ctr">
                        <a:buNone/>
                      </a:pPr>
                      <a:r>
                        <a:rPr lang="en-US" sz="1350" dirty="0">
                          <a:solidFill>
                            <a:srgbClr val="1F2937"/>
                          </a:solidFill>
                          <a:latin typeface="Sarabun" pitchFamily="34" charset="0"/>
                          <a:ea typeface="Sarabun" pitchFamily="34" charset="-122"/>
                          <a:cs typeface="Sarabun" pitchFamily="34" charset="-120"/>
                        </a:rPr>
                        <a:t>1,644</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lgn="ctr">
                        <a:buNone/>
                      </a:pPr>
                      <a:r>
                        <a:rPr lang="en-US" sz="1350" dirty="0">
                          <a:solidFill>
                            <a:srgbClr val="1F2937"/>
                          </a:solidFill>
                          <a:latin typeface="Sarabun" pitchFamily="34" charset="0"/>
                          <a:ea typeface="Sarabun" pitchFamily="34" charset="-122"/>
                          <a:cs typeface="Sarabun" pitchFamily="34" charset="-120"/>
                        </a:rPr>
                        <a:t>274</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tc>
                  <a:txBody>
                    <a:bodyPr/>
                    <a:lstStyle/>
                    <a:p>
                      <a:pPr marL="0" indent="0">
                        <a:buNone/>
                      </a:pPr>
                      <a:r>
                        <a:rPr lang="en-US" sz="1350" dirty="0">
                          <a:solidFill>
                            <a:srgbClr val="1F2937"/>
                          </a:solidFill>
                          <a:latin typeface="Sarabun" pitchFamily="34" charset="0"/>
                          <a:ea typeface="Sarabun" pitchFamily="34" charset="-122"/>
                          <a:cs typeface="Sarabun" pitchFamily="34" charset="-120"/>
                        </a:rPr>
                        <a:t>ไม่ครบ นับเฉพาะคำสั่ง spec</a:t>
                      </a:r>
                      <a:endParaRPr lang="en-US" sz="135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9" name="Text 15"/>
          <p:cNvSpPr txBox="1"/>
          <p:nvPr/>
        </p:nvSpPr>
        <p:spPr>
          <a:xfrm>
            <a:off x="5669280" y="5943600"/>
            <a:ext cx="5973775" cy="365760"/>
          </a:xfrm>
          <a:prstGeom prst="rect">
            <a:avLst/>
          </a:prstGeom>
          <a:noFill/>
          <a:ln/>
        </p:spPr>
        <p:txBody>
          <a:bodyPr wrap="square" lIns="0" tIns="0" rIns="0" bIns="0" rtlCol="0" anchor="t"/>
          <a:lstStyle/>
          <a:p>
            <a:pPr marL="0" indent="0">
              <a:buNone/>
            </a:pPr>
            <a:r>
              <a:rPr lang="en-US" sz="1300" dirty="0">
                <a:solidFill>
                  <a:srgbClr val="6B7280"/>
                </a:solidFill>
                <a:latin typeface="Sarabun" pitchFamily="34" charset="0"/>
                <a:ea typeface="Sarabun" pitchFamily="34" charset="-122"/>
                <a:cs typeface="Sarabun" pitchFamily="34" charset="-120"/>
              </a:rPr>
              <a:t>CE ใช้โทเคนน้อยกว่า BP ราว 10% แต่ผ่านน้อยกว่า (67% เทียบกับ 75%)</a:t>
            </a:r>
            <a:endParaRPr lang="en-US" sz="13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6  สรุปผลและข้อเสนอแนะ</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โครงสร้างมากขึ้น ไม่ได้ทำให้คุณภาพสูงขึ้นทุกมิติ</a:t>
            </a:r>
            <a:endParaRPr lang="en-US" sz="2800" dirty="0"/>
          </a:p>
        </p:txBody>
      </p:sp>
      <p:sp>
        <p:nvSpPr>
          <p:cNvPr id="4" name="card"/>
          <p:cNvSpPr/>
          <p:nvPr/>
        </p:nvSpPr>
        <p:spPr>
          <a:xfrm>
            <a:off x="548640" y="1600200"/>
            <a:ext cx="3566160" cy="2514600"/>
          </a:xfrm>
          <a:prstGeom prst="roundRect">
            <a:avLst>
              <a:gd name="adj" fmla="val 4364"/>
            </a:avLst>
          </a:prstGeom>
          <a:solidFill>
            <a:srgbClr val="E3F6EE"/>
          </a:solidFill>
          <a:ln w="12700">
            <a:solidFill>
              <a:srgbClr val="E3F6EE"/>
            </a:solidFill>
            <a:prstDash val="solid"/>
          </a:ln>
        </p:spPr>
        <p:txBody>
          <a:bodyPr/>
          <a:lstStyle/>
          <a:p>
            <a:endParaRPr lang="en-TH"/>
          </a:p>
        </p:txBody>
      </p:sp>
      <p:sp>
        <p:nvSpPr>
          <p:cNvPr id="5" name="Shape 3"/>
          <p:cNvSpPr/>
          <p:nvPr/>
        </p:nvSpPr>
        <p:spPr>
          <a:xfrm>
            <a:off x="822960" y="1810512"/>
            <a:ext cx="777240" cy="292608"/>
          </a:xfrm>
          <a:prstGeom prst="roundRect">
            <a:avLst>
              <a:gd name="adj" fmla="val 50000"/>
            </a:avLst>
          </a:prstGeom>
          <a:solidFill>
            <a:srgbClr val="1FA971"/>
          </a:solidFill>
          <a:ln w="19050">
            <a:solidFill>
              <a:srgbClr val="FFFFFF"/>
            </a:solidFill>
            <a:prstDash val="solid"/>
          </a:ln>
        </p:spPr>
        <p:txBody>
          <a:bodyPr/>
          <a:lstStyle/>
          <a:p>
            <a:endParaRPr lang="en-TH"/>
          </a:p>
        </p:txBody>
      </p:sp>
      <p:sp>
        <p:nvSpPr>
          <p:cNvPr id="6" name="Text 4"/>
          <p:cNvSpPr txBox="1"/>
          <p:nvPr/>
        </p:nvSpPr>
        <p:spPr>
          <a:xfrm>
            <a:off x="822960" y="1810512"/>
            <a:ext cx="77724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SDD</a:t>
            </a:r>
            <a:endParaRPr lang="en-US" sz="1200" dirty="0"/>
          </a:p>
        </p:txBody>
      </p:sp>
      <p:sp>
        <p:nvSpPr>
          <p:cNvPr id="7" name="Text 5"/>
          <p:cNvSpPr txBox="1"/>
          <p:nvPr/>
        </p:nvSpPr>
        <p:spPr>
          <a:xfrm>
            <a:off x="822960" y="2240280"/>
            <a:ext cx="3017520" cy="1005840"/>
          </a:xfrm>
          <a:prstGeom prst="rect">
            <a:avLst/>
          </a:prstGeom>
          <a:noFill/>
          <a:ln/>
        </p:spPr>
        <p:txBody>
          <a:bodyPr wrap="square" lIns="0" tIns="0" rIns="0" bIns="0" rtlCol="0" anchor="ctr"/>
          <a:lstStyle/>
          <a:p>
            <a:pPr marL="0" indent="0">
              <a:buNone/>
            </a:pPr>
            <a:r>
              <a:rPr lang="en-US" sz="6000" b="1" dirty="0">
                <a:solidFill>
                  <a:srgbClr val="1FA971"/>
                </a:solidFill>
                <a:latin typeface="Sarabun" pitchFamily="34" charset="0"/>
                <a:ea typeface="Sarabun" pitchFamily="34" charset="-122"/>
                <a:cs typeface="Sarabun" pitchFamily="34" charset="-120"/>
              </a:rPr>
              <a:t>97%</a:t>
            </a:r>
            <a:endParaRPr lang="en-US" sz="6000" dirty="0"/>
          </a:p>
        </p:txBody>
      </p:sp>
      <p:sp>
        <p:nvSpPr>
          <p:cNvPr id="8" name="Text 6"/>
          <p:cNvSpPr txBox="1"/>
          <p:nvPr/>
        </p:nvSpPr>
        <p:spPr>
          <a:xfrm>
            <a:off x="822960" y="3337560"/>
            <a:ext cx="3017520" cy="640080"/>
          </a:xfrm>
          <a:prstGeom prst="rect">
            <a:avLst/>
          </a:prstGeom>
          <a:noFill/>
          <a:ln/>
        </p:spPr>
        <p:txBody>
          <a:bodyPr wrap="square" lIns="0" tIns="0" rIns="0" bIns="0" rtlCol="0" anchor="t"/>
          <a:lstStyle/>
          <a:p>
            <a:pPr marL="0" indent="0">
              <a:buNone/>
            </a:pPr>
            <a:r>
              <a:rPr lang="en-US" sz="1400" dirty="0">
                <a:solidFill>
                  <a:srgbClr val="1F2937"/>
                </a:solidFill>
                <a:latin typeface="Sarabun" pitchFamily="34" charset="0"/>
                <a:ea typeface="Sarabun" pitchFamily="34" charset="-122"/>
                <a:cs typeface="Sarabun" pitchFamily="34" charset="-120"/>
              </a:rPr>
              <a:t>อัตราการผ่านการทดสอบเชิงฟังก์ชัน</a:t>
            </a:r>
            <a:endParaRPr lang="en-US" sz="1400" dirty="0"/>
          </a:p>
          <a:p>
            <a:pPr marL="0" indent="0">
              <a:buNone/>
            </a:pPr>
            <a:r>
              <a:rPr lang="en-US" sz="1400" dirty="0">
                <a:solidFill>
                  <a:srgbClr val="1F2937"/>
                </a:solidFill>
                <a:latin typeface="Sarabun" pitchFamily="34" charset="0"/>
                <a:ea typeface="Sarabun" pitchFamily="34" charset="-122"/>
                <a:cs typeface="Sarabun" pitchFamily="34" charset="-120"/>
              </a:rPr>
              <a:t>SD 6.8 จุด</a:t>
            </a:r>
            <a:endParaRPr lang="en-US" sz="1400" dirty="0"/>
          </a:p>
        </p:txBody>
      </p:sp>
      <p:sp>
        <p:nvSpPr>
          <p:cNvPr id="9" name="card"/>
          <p:cNvSpPr/>
          <p:nvPr/>
        </p:nvSpPr>
        <p:spPr>
          <a:xfrm>
            <a:off x="4315968" y="1600200"/>
            <a:ext cx="3566160" cy="2514600"/>
          </a:xfrm>
          <a:prstGeom prst="roundRect">
            <a:avLst>
              <a:gd name="adj" fmla="val 4364"/>
            </a:avLst>
          </a:prstGeom>
          <a:solidFill>
            <a:srgbClr val="FDECE7"/>
          </a:solidFill>
          <a:ln w="12700">
            <a:solidFill>
              <a:srgbClr val="FDECE7"/>
            </a:solidFill>
            <a:prstDash val="solid"/>
          </a:ln>
        </p:spPr>
        <p:txBody>
          <a:bodyPr/>
          <a:lstStyle/>
          <a:p>
            <a:endParaRPr lang="en-TH"/>
          </a:p>
        </p:txBody>
      </p:sp>
      <p:sp>
        <p:nvSpPr>
          <p:cNvPr id="10" name="Shape 8"/>
          <p:cNvSpPr/>
          <p:nvPr/>
        </p:nvSpPr>
        <p:spPr>
          <a:xfrm>
            <a:off x="4590288" y="1810512"/>
            <a:ext cx="777240" cy="292608"/>
          </a:xfrm>
          <a:prstGeom prst="roundRect">
            <a:avLst>
              <a:gd name="adj" fmla="val 50000"/>
            </a:avLst>
          </a:prstGeom>
          <a:solidFill>
            <a:srgbClr val="E4572E"/>
          </a:solidFill>
          <a:ln w="19050">
            <a:solidFill>
              <a:srgbClr val="FFFFFF"/>
            </a:solidFill>
            <a:prstDash val="solid"/>
          </a:ln>
        </p:spPr>
        <p:txBody>
          <a:bodyPr/>
          <a:lstStyle/>
          <a:p>
            <a:endParaRPr lang="en-TH"/>
          </a:p>
        </p:txBody>
      </p:sp>
      <p:sp>
        <p:nvSpPr>
          <p:cNvPr id="11" name="Text 9"/>
          <p:cNvSpPr txBox="1"/>
          <p:nvPr/>
        </p:nvSpPr>
        <p:spPr>
          <a:xfrm>
            <a:off x="4590288" y="1810512"/>
            <a:ext cx="77724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BP</a:t>
            </a:r>
            <a:endParaRPr lang="en-US" sz="1200" dirty="0"/>
          </a:p>
        </p:txBody>
      </p:sp>
      <p:sp>
        <p:nvSpPr>
          <p:cNvPr id="12" name="Text 10"/>
          <p:cNvSpPr txBox="1"/>
          <p:nvPr/>
        </p:nvSpPr>
        <p:spPr>
          <a:xfrm>
            <a:off x="4590288" y="2240280"/>
            <a:ext cx="3017520" cy="1005840"/>
          </a:xfrm>
          <a:prstGeom prst="rect">
            <a:avLst/>
          </a:prstGeom>
          <a:noFill/>
          <a:ln/>
        </p:spPr>
        <p:txBody>
          <a:bodyPr wrap="square" lIns="0" tIns="0" rIns="0" bIns="0" rtlCol="0" anchor="ctr"/>
          <a:lstStyle/>
          <a:p>
            <a:pPr marL="0" indent="0">
              <a:buNone/>
            </a:pPr>
            <a:r>
              <a:rPr lang="en-US" sz="6000" b="1" dirty="0">
                <a:solidFill>
                  <a:srgbClr val="E4572E"/>
                </a:solidFill>
                <a:latin typeface="Sarabun" pitchFamily="34" charset="0"/>
                <a:ea typeface="Sarabun" pitchFamily="34" charset="-122"/>
                <a:cs typeface="Sarabun" pitchFamily="34" charset="-120"/>
              </a:rPr>
              <a:t>75%</a:t>
            </a:r>
            <a:endParaRPr lang="en-US" sz="6000" dirty="0"/>
          </a:p>
        </p:txBody>
      </p:sp>
      <p:sp>
        <p:nvSpPr>
          <p:cNvPr id="13" name="Text 11"/>
          <p:cNvSpPr txBox="1"/>
          <p:nvPr/>
        </p:nvSpPr>
        <p:spPr>
          <a:xfrm>
            <a:off x="4590288" y="3337560"/>
            <a:ext cx="3017520" cy="640080"/>
          </a:xfrm>
          <a:prstGeom prst="rect">
            <a:avLst/>
          </a:prstGeom>
          <a:noFill/>
          <a:ln/>
        </p:spPr>
        <p:txBody>
          <a:bodyPr wrap="square" lIns="0" tIns="0" rIns="0" bIns="0" rtlCol="0" anchor="t"/>
          <a:lstStyle/>
          <a:p>
            <a:pPr marL="0" indent="0">
              <a:buNone/>
            </a:pPr>
            <a:r>
              <a:rPr lang="en-US" sz="1400" dirty="0">
                <a:solidFill>
                  <a:srgbClr val="1F2937"/>
                </a:solidFill>
                <a:latin typeface="Sarabun" pitchFamily="34" charset="0"/>
                <a:ea typeface="Sarabun" pitchFamily="34" charset="-122"/>
                <a:cs typeface="Sarabun" pitchFamily="34" charset="-120"/>
              </a:rPr>
              <a:t>อัตราการผ่านการทดสอบเชิงฟังก์ชัน</a:t>
            </a:r>
            <a:endParaRPr lang="en-US" sz="1400" dirty="0"/>
          </a:p>
          <a:p>
            <a:pPr marL="0" indent="0">
              <a:buNone/>
            </a:pPr>
            <a:r>
              <a:rPr lang="en-US" sz="1400" dirty="0">
                <a:solidFill>
                  <a:srgbClr val="1F2937"/>
                </a:solidFill>
                <a:latin typeface="Sarabun" pitchFamily="34" charset="0"/>
                <a:ea typeface="Sarabun" pitchFamily="34" charset="-122"/>
                <a:cs typeface="Sarabun" pitchFamily="34" charset="-120"/>
              </a:rPr>
              <a:t>SD 31.0 จุด</a:t>
            </a:r>
            <a:endParaRPr lang="en-US" sz="1400" dirty="0"/>
          </a:p>
        </p:txBody>
      </p:sp>
      <p:sp>
        <p:nvSpPr>
          <p:cNvPr id="14" name="card"/>
          <p:cNvSpPr/>
          <p:nvPr/>
        </p:nvSpPr>
        <p:spPr>
          <a:xfrm>
            <a:off x="8083296" y="1600200"/>
            <a:ext cx="3566160" cy="2514600"/>
          </a:xfrm>
          <a:prstGeom prst="roundRect">
            <a:avLst>
              <a:gd name="adj" fmla="val 4364"/>
            </a:avLst>
          </a:prstGeom>
          <a:solidFill>
            <a:srgbClr val="E8F1FD"/>
          </a:solidFill>
          <a:ln w="12700">
            <a:solidFill>
              <a:srgbClr val="E8F1FD"/>
            </a:solidFill>
            <a:prstDash val="solid"/>
          </a:ln>
        </p:spPr>
        <p:txBody>
          <a:bodyPr/>
          <a:lstStyle/>
          <a:p>
            <a:endParaRPr lang="en-TH"/>
          </a:p>
        </p:txBody>
      </p:sp>
      <p:sp>
        <p:nvSpPr>
          <p:cNvPr id="15" name="Shape 13"/>
          <p:cNvSpPr/>
          <p:nvPr/>
        </p:nvSpPr>
        <p:spPr>
          <a:xfrm>
            <a:off x="8357616" y="1810512"/>
            <a:ext cx="777240" cy="292608"/>
          </a:xfrm>
          <a:prstGeom prst="roundRect">
            <a:avLst>
              <a:gd name="adj" fmla="val 50000"/>
            </a:avLst>
          </a:prstGeom>
          <a:solidFill>
            <a:srgbClr val="2F80ED"/>
          </a:solidFill>
          <a:ln w="19050">
            <a:solidFill>
              <a:srgbClr val="FFFFFF"/>
            </a:solidFill>
            <a:prstDash val="solid"/>
          </a:ln>
        </p:spPr>
        <p:txBody>
          <a:bodyPr/>
          <a:lstStyle/>
          <a:p>
            <a:endParaRPr lang="en-TH"/>
          </a:p>
        </p:txBody>
      </p:sp>
      <p:sp>
        <p:nvSpPr>
          <p:cNvPr id="16" name="Text 14"/>
          <p:cNvSpPr txBox="1"/>
          <p:nvPr/>
        </p:nvSpPr>
        <p:spPr>
          <a:xfrm>
            <a:off x="8357616" y="1810512"/>
            <a:ext cx="77724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CE</a:t>
            </a:r>
            <a:endParaRPr lang="en-US" sz="1200" dirty="0"/>
          </a:p>
        </p:txBody>
      </p:sp>
      <p:sp>
        <p:nvSpPr>
          <p:cNvPr id="17" name="Text 15"/>
          <p:cNvSpPr txBox="1"/>
          <p:nvPr/>
        </p:nvSpPr>
        <p:spPr>
          <a:xfrm>
            <a:off x="8357616" y="2240280"/>
            <a:ext cx="3017520" cy="1005840"/>
          </a:xfrm>
          <a:prstGeom prst="rect">
            <a:avLst/>
          </a:prstGeom>
          <a:noFill/>
          <a:ln/>
        </p:spPr>
        <p:txBody>
          <a:bodyPr wrap="square" lIns="0" tIns="0" rIns="0" bIns="0" rtlCol="0" anchor="ctr"/>
          <a:lstStyle/>
          <a:p>
            <a:pPr marL="0" indent="0">
              <a:buNone/>
            </a:pPr>
            <a:r>
              <a:rPr lang="en-US" sz="6000" b="1" dirty="0">
                <a:solidFill>
                  <a:srgbClr val="2F80ED"/>
                </a:solidFill>
                <a:latin typeface="Sarabun" pitchFamily="34" charset="0"/>
                <a:ea typeface="Sarabun" pitchFamily="34" charset="-122"/>
                <a:cs typeface="Sarabun" pitchFamily="34" charset="-120"/>
              </a:rPr>
              <a:t>67%</a:t>
            </a:r>
            <a:endParaRPr lang="en-US" sz="6000" dirty="0"/>
          </a:p>
        </p:txBody>
      </p:sp>
      <p:sp>
        <p:nvSpPr>
          <p:cNvPr id="18" name="Text 16"/>
          <p:cNvSpPr txBox="1"/>
          <p:nvPr/>
        </p:nvSpPr>
        <p:spPr>
          <a:xfrm>
            <a:off x="8357616" y="3337560"/>
            <a:ext cx="3017520" cy="640080"/>
          </a:xfrm>
          <a:prstGeom prst="rect">
            <a:avLst/>
          </a:prstGeom>
          <a:noFill/>
          <a:ln/>
        </p:spPr>
        <p:txBody>
          <a:bodyPr wrap="square" lIns="0" tIns="0" rIns="0" bIns="0" rtlCol="0" anchor="t"/>
          <a:lstStyle/>
          <a:p>
            <a:pPr marL="0" indent="0">
              <a:buNone/>
            </a:pPr>
            <a:r>
              <a:rPr lang="en-US" sz="1400" dirty="0">
                <a:solidFill>
                  <a:srgbClr val="1F2937"/>
                </a:solidFill>
                <a:latin typeface="Sarabun" pitchFamily="34" charset="0"/>
                <a:ea typeface="Sarabun" pitchFamily="34" charset="-122"/>
                <a:cs typeface="Sarabun" pitchFamily="34" charset="-120"/>
              </a:rPr>
              <a:t>อัตราการผ่านการทดสอบเชิงฟังก์ชัน</a:t>
            </a:r>
            <a:endParaRPr lang="en-US" sz="1400" dirty="0"/>
          </a:p>
          <a:p>
            <a:pPr marL="0" indent="0">
              <a:buNone/>
            </a:pPr>
            <a:r>
              <a:rPr lang="en-US" sz="1400" dirty="0">
                <a:solidFill>
                  <a:srgbClr val="1F2937"/>
                </a:solidFill>
                <a:latin typeface="Sarabun" pitchFamily="34" charset="0"/>
                <a:ea typeface="Sarabun" pitchFamily="34" charset="-122"/>
                <a:cs typeface="Sarabun" pitchFamily="34" charset="-120"/>
              </a:rPr>
              <a:t>SD 40.6 จุด</a:t>
            </a:r>
            <a:endParaRPr lang="en-US" sz="1400" dirty="0"/>
          </a:p>
        </p:txBody>
      </p:sp>
      <p:sp>
        <p:nvSpPr>
          <p:cNvPr id="19" name="card"/>
          <p:cNvSpPr/>
          <p:nvPr/>
        </p:nvSpPr>
        <p:spPr>
          <a:xfrm>
            <a:off x="548640" y="4389120"/>
            <a:ext cx="11094415" cy="1783080"/>
          </a:xfrm>
          <a:prstGeom prst="roundRect">
            <a:avLst>
              <a:gd name="adj" fmla="val 6154"/>
            </a:avLst>
          </a:prstGeom>
          <a:solidFill>
            <a:srgbClr val="1C5739"/>
          </a:solidFill>
          <a:ln w="12700">
            <a:solidFill>
              <a:srgbClr val="1C5739"/>
            </a:solidFill>
            <a:prstDash val="solid"/>
          </a:ln>
        </p:spPr>
        <p:txBody>
          <a:bodyPr/>
          <a:lstStyle/>
          <a:p>
            <a:endParaRPr lang="en-TH"/>
          </a:p>
        </p:txBody>
      </p:sp>
      <p:sp>
        <p:nvSpPr>
          <p:cNvPr id="20" name="Text 18"/>
          <p:cNvSpPr txBox="1"/>
          <p:nvPr/>
        </p:nvSpPr>
        <p:spPr>
          <a:xfrm>
            <a:off x="914400" y="4526280"/>
            <a:ext cx="10362895" cy="685800"/>
          </a:xfrm>
          <a:prstGeom prst="rect">
            <a:avLst/>
          </a:prstGeom>
          <a:noFill/>
          <a:ln/>
        </p:spPr>
        <p:txBody>
          <a:bodyPr wrap="square" lIns="0" tIns="0" rIns="0" bIns="0" rtlCol="0" anchor="ctr"/>
          <a:lstStyle/>
          <a:p>
            <a:pPr marL="0" indent="0">
              <a:buNone/>
            </a:pPr>
            <a:r>
              <a:rPr lang="en-US" sz="1900" b="1" dirty="0">
                <a:solidFill>
                  <a:srgbClr val="C5CF2E"/>
                </a:solidFill>
                <a:latin typeface="Sarabun" pitchFamily="34" charset="0"/>
                <a:ea typeface="Sarabun" pitchFamily="34" charset="-122"/>
                <a:cs typeface="Sarabun" pitchFamily="34" charset="-120"/>
              </a:rPr>
              <a:t>คุณภาพของโค้ดจาก AI ขึ้นอยู่กับว่าบริบทนำเข้า ระบุข้อกำหนดในมิตินั้นไว้ชัดเจนหรือไม่</a:t>
            </a:r>
            <a:endParaRPr lang="en-US" sz="1900" dirty="0"/>
          </a:p>
        </p:txBody>
      </p:sp>
      <p:sp>
        <p:nvSpPr>
          <p:cNvPr id="21" name="Text 19"/>
          <p:cNvSpPr txBox="1"/>
          <p:nvPr/>
        </p:nvSpPr>
        <p:spPr>
          <a:xfrm>
            <a:off x="914400" y="5257800"/>
            <a:ext cx="10362895" cy="822960"/>
          </a:xfrm>
          <a:prstGeom prst="rect">
            <a:avLst/>
          </a:prstGeom>
          <a:noFill/>
          <a:ln/>
        </p:spPr>
        <p:txBody>
          <a:bodyPr wrap="square" lIns="0" tIns="0" rIns="0" bIns="0" rtlCol="0" anchor="t"/>
          <a:lstStyle/>
          <a:p>
            <a:pPr marL="0" indent="0">
              <a:buNone/>
            </a:pPr>
            <a:r>
              <a:rPr lang="en-US" sz="1500" dirty="0">
                <a:solidFill>
                  <a:srgbClr val="FFFFFF"/>
                </a:solidFill>
                <a:latin typeface="Sarabun" pitchFamily="34" charset="0"/>
                <a:ea typeface="Sarabun" pitchFamily="34" charset="-122"/>
                <a:cs typeface="Sarabun" pitchFamily="34" charset="-120"/>
              </a:rPr>
              <a:t>86% ของกรณีที่ไม่ผ่านคือการละเว้นฟีเจอร์ที่ไม่ได้ระบุ และ 86% ของการแจ้งเตือน CodeQL คือการไม่มี Rate Limiting ซึ่งไม่มีกลยุทธ์ใดสร้างขึ้นเองเมื่อไม่ได้ระบุ</a:t>
            </a:r>
            <a:endParaRPr lang="en-US" sz="15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6  สรุปผลและข้อเสนอแนะ</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ข้อดีและข้อจำกัดของแต่ละกลยุทธ์</a:t>
            </a:r>
            <a:endParaRPr lang="en-US" sz="28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4206240"/>
        </p:xfrm>
        <a:graphic>
          <a:graphicData uri="http://schemas.openxmlformats.org/drawingml/2006/table">
            <a:tbl>
              <a:tblPr/>
              <a:tblGrid>
                <a:gridCol w="137160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gridCol w="3230575">
                  <a:extLst>
                    <a:ext uri="{9D8B030D-6E8A-4147-A177-3AD203B41FA5}">
                      <a16:colId xmlns:a16="http://schemas.microsoft.com/office/drawing/2014/main" val="20003"/>
                    </a:ext>
                  </a:extLst>
                </a:gridCol>
              </a:tblGrid>
              <a:tr h="457200">
                <a:tc>
                  <a:txBody>
                    <a:bodyPr/>
                    <a:lstStyle/>
                    <a:p>
                      <a:pPr marL="0" indent="0" algn="ctr">
                        <a:buNone/>
                      </a:pPr>
                      <a:r>
                        <a:rPr lang="en-US" sz="1500" b="1" dirty="0">
                          <a:solidFill>
                            <a:srgbClr val="FFFFFF"/>
                          </a:solidFill>
                          <a:latin typeface="Sarabun" pitchFamily="34" charset="0"/>
                          <a:ea typeface="Sarabun" pitchFamily="34" charset="-122"/>
                          <a:cs typeface="Sarabun" pitchFamily="34" charset="-120"/>
                        </a:rPr>
                        <a:t>ประเด็น</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tc>
                  <a:txBody>
                    <a:bodyPr/>
                    <a:lstStyle/>
                    <a:p>
                      <a:pPr marL="0" indent="0" algn="ctr">
                        <a:buNone/>
                      </a:pPr>
                      <a:r>
                        <a:rPr lang="en-US" sz="1500" b="1" dirty="0">
                          <a:solidFill>
                            <a:srgbClr val="FFFFFF"/>
                          </a:solidFill>
                          <a:latin typeface="Sarabun" pitchFamily="34" charset="0"/>
                          <a:ea typeface="Sarabun" pitchFamily="34" charset="-122"/>
                          <a:cs typeface="Sarabun" pitchFamily="34" charset="-120"/>
                        </a:rPr>
                        <a:t>Basic Prompting (BP)</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4572E"/>
                    </a:solidFill>
                  </a:tcPr>
                </a:tc>
                <a:tc>
                  <a:txBody>
                    <a:bodyPr/>
                    <a:lstStyle/>
                    <a:p>
                      <a:pPr marL="0" indent="0" algn="ctr">
                        <a:buNone/>
                      </a:pPr>
                      <a:r>
                        <a:rPr lang="en-US" sz="1500" b="1" dirty="0">
                          <a:solidFill>
                            <a:srgbClr val="FFFFFF"/>
                          </a:solidFill>
                          <a:latin typeface="Sarabun" pitchFamily="34" charset="0"/>
                          <a:ea typeface="Sarabun" pitchFamily="34" charset="-122"/>
                          <a:cs typeface="Sarabun" pitchFamily="34" charset="-120"/>
                        </a:rPr>
                        <a:t>Context Engineering (CE)</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2F80ED"/>
                    </a:solidFill>
                  </a:tcPr>
                </a:tc>
                <a:tc>
                  <a:txBody>
                    <a:bodyPr/>
                    <a:lstStyle/>
                    <a:p>
                      <a:pPr marL="0" indent="0" algn="ctr">
                        <a:buNone/>
                      </a:pPr>
                      <a:r>
                        <a:rPr lang="en-US" sz="1500" b="1" dirty="0">
                          <a:solidFill>
                            <a:srgbClr val="FFFFFF"/>
                          </a:solidFill>
                          <a:latin typeface="Sarabun" pitchFamily="34" charset="0"/>
                          <a:ea typeface="Sarabun" pitchFamily="34" charset="-122"/>
                          <a:cs typeface="Sarabun" pitchFamily="34" charset="-120"/>
                        </a:rPr>
                        <a:t>Spec-Driven Development (SDD)</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FA971"/>
                    </a:solidFill>
                  </a:tcPr>
                </a:tc>
                <a:extLst>
                  <a:ext uri="{0D108BD9-81ED-4DB2-BD59-A6C34878D82A}">
                    <a16:rowId xmlns:a16="http://schemas.microsoft.com/office/drawing/2014/main" val="10000"/>
                  </a:ext>
                </a:extLst>
              </a:tr>
              <a:tr h="2011680">
                <a:tc>
                  <a:txBody>
                    <a:bodyPr/>
                    <a:lstStyle/>
                    <a:p>
                      <a:pPr marL="0" indent="0" algn="ctr">
                        <a:buNone/>
                      </a:pPr>
                      <a:r>
                        <a:rPr lang="en-US" sz="1800" b="1" dirty="0">
                          <a:solidFill>
                            <a:srgbClr val="1FA971"/>
                          </a:solidFill>
                          <a:latin typeface="Sarabun" pitchFamily="34" charset="0"/>
                          <a:ea typeface="Sarabun" pitchFamily="34" charset="-122"/>
                          <a:cs typeface="Sarabun" pitchFamily="34" charset="-120"/>
                        </a:rPr>
                        <a:t>ข้อดี</a:t>
                      </a:r>
                      <a:endParaRPr lang="en-US" sz="18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EF3EF"/>
                    </a:solidFill>
                  </a:tcPr>
                </a:tc>
                <a:tc>
                  <a:txBody>
                    <a:bodyPr/>
                    <a:lstStyle/>
                    <a:p>
                      <a:pPr marL="0" indent="0">
                        <a:buNone/>
                      </a:pPr>
                      <a:r>
                        <a:rPr lang="en-US" sz="1500" dirty="0">
                          <a:solidFill>
                            <a:srgbClr val="1F2937"/>
                          </a:solidFill>
                          <a:latin typeface="Sarabun" pitchFamily="34" charset="0"/>
                          <a:ea typeface="Sarabun" pitchFamily="34" charset="-122"/>
                          <a:cs typeface="Sarabun" pitchFamily="34" charset="-120"/>
                        </a:rPr>
                        <a:t>ต้นทุนเริ่มต้นต่ำที่สุด ไม่ต้องจัดทำเอกสารล่วงหน้า ให้ผลดีที่สุด 3 มิติเชิงโครงสร้าง ผ่านสูงกว่า CE (75% เทียบกับ 67%) และไม่เคยแย่ที่สุดในมิติใดเลย</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tc>
                  <a:txBody>
                    <a:bodyPr/>
                    <a:lstStyle/>
                    <a:p>
                      <a:pPr marL="0" indent="0">
                        <a:buNone/>
                      </a:pPr>
                      <a:r>
                        <a:rPr lang="en-US" sz="1500" dirty="0">
                          <a:solidFill>
                            <a:srgbClr val="1F2937"/>
                          </a:solidFill>
                          <a:latin typeface="Sarabun" pitchFamily="34" charset="0"/>
                          <a:ea typeface="Sarabun" pitchFamily="34" charset="-122"/>
                          <a:cs typeface="Sarabun" pitchFamily="34" charset="-120"/>
                        </a:rPr>
                        <a:t>ใช้โทเคนฝั่งผู้ใช้น้อยกว่า BP ประมาณ 10% และมีความซ้ำซ้อนของซอร์สโค้ดต่ำที่สุด (1.53%)</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a:txBody>
                    <a:bodyPr/>
                    <a:lstStyle/>
                    <a:p>
                      <a:pPr marL="0" indent="0">
                        <a:buNone/>
                      </a:pPr>
                      <a:r>
                        <a:rPr lang="en-US" sz="1500" dirty="0">
                          <a:solidFill>
                            <a:srgbClr val="1F2937"/>
                          </a:solidFill>
                          <a:latin typeface="Sarabun" pitchFamily="34" charset="0"/>
                          <a:ea typeface="Sarabun" pitchFamily="34" charset="-122"/>
                          <a:cs typeface="Sarabun" pitchFamily="34" charset="-120"/>
                        </a:rPr>
                        <a:t>อัตราการผ่านสูงที่สุด (97%) ความปลอดภัยดีที่สุดทั้ง SAST และ DAST และความแปรปรวนต่ำที่สุด (SD 6.8 จุด)</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extLst>
                  <a:ext uri="{0D108BD9-81ED-4DB2-BD59-A6C34878D82A}">
                    <a16:rowId xmlns:a16="http://schemas.microsoft.com/office/drawing/2014/main" val="10001"/>
                  </a:ext>
                </a:extLst>
              </a:tr>
              <a:tr h="1737360">
                <a:tc>
                  <a:txBody>
                    <a:bodyPr/>
                    <a:lstStyle/>
                    <a:p>
                      <a:pPr marL="0" indent="0" algn="ctr">
                        <a:buNone/>
                      </a:pPr>
                      <a:r>
                        <a:rPr lang="en-US" sz="1800" b="1" dirty="0">
                          <a:solidFill>
                            <a:srgbClr val="E4572E"/>
                          </a:solidFill>
                          <a:latin typeface="Sarabun" pitchFamily="34" charset="0"/>
                          <a:ea typeface="Sarabun" pitchFamily="34" charset="-122"/>
                          <a:cs typeface="Sarabun" pitchFamily="34" charset="-120"/>
                        </a:rPr>
                        <a:t>ข้อจำกัด</a:t>
                      </a:r>
                      <a:endParaRPr lang="en-US" sz="18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EF3EF"/>
                    </a:solidFill>
                  </a:tcPr>
                </a:tc>
                <a:tc>
                  <a:txBody>
                    <a:bodyPr/>
                    <a:lstStyle/>
                    <a:p>
                      <a:pPr marL="0" indent="0">
                        <a:buNone/>
                      </a:pPr>
                      <a:r>
                        <a:rPr lang="en-US" sz="1500" dirty="0">
                          <a:solidFill>
                            <a:srgbClr val="1F2937"/>
                          </a:solidFill>
                          <a:latin typeface="Sarabun" pitchFamily="34" charset="0"/>
                          <a:ea typeface="Sarabun" pitchFamily="34" charset="-122"/>
                          <a:cs typeface="Sarabun" pitchFamily="34" charset="-120"/>
                        </a:rPr>
                        <a:t>ผ่านต่ำกว่า SDD มาก (75%) และแกว่งสูง (SD 31.0 จุด) ละเว้นฟีเจอร์เมื่อชุดคำสั่งระบุไม่ครบ</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tc>
                  <a:txBody>
                    <a:bodyPr/>
                    <a:lstStyle/>
                    <a:p>
                      <a:pPr marL="0" indent="0">
                        <a:buNone/>
                      </a:pPr>
                      <a:r>
                        <a:rPr lang="en-US" sz="1500" dirty="0">
                          <a:solidFill>
                            <a:srgbClr val="1F2937"/>
                          </a:solidFill>
                          <a:latin typeface="Sarabun" pitchFamily="34" charset="0"/>
                          <a:ea typeface="Sarabun" pitchFamily="34" charset="-122"/>
                          <a:cs typeface="Sarabun" pitchFamily="34" charset="-120"/>
                        </a:rPr>
                        <a:t>ผ่านต่ำที่สุด (67%) แกว่งมากที่สุด (SD 40.6 จุด) และแย่ที่สุดถึง 7 จาก 8 มิติ ความละเอียดของบริบทไม่ได้แปลงเป็นคุณภาพ</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a:txBody>
                    <a:bodyPr/>
                    <a:lstStyle/>
                    <a:p>
                      <a:pPr marL="0" indent="0">
                        <a:buNone/>
                      </a:pPr>
                      <a:r>
                        <a:rPr lang="en-US" sz="1500" dirty="0">
                          <a:solidFill>
                            <a:srgbClr val="1F2937"/>
                          </a:solidFill>
                          <a:latin typeface="Sarabun" pitchFamily="34" charset="0"/>
                          <a:ea typeface="Sarabun" pitchFamily="34" charset="-122"/>
                          <a:cs typeface="Sarabun" pitchFamily="34" charset="-120"/>
                        </a:rPr>
                        <a:t>ต้นทุนการจัดทำเอกสารข้อกำหนดสูงที่สุด และมีความซ้ำซ้อนของซอร์สโค้ดสูงที่สุด (6.27%)</a:t>
                      </a:r>
                      <a:endParaRPr lang="en-US" sz="15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extLst>
                  <a:ext uri="{0D108BD9-81ED-4DB2-BD59-A6C34878D82A}">
                    <a16:rowId xmlns:a16="http://schemas.microsoft.com/office/drawing/2014/main" val="10002"/>
                  </a:ext>
                </a:extLst>
              </a:tr>
            </a:tbl>
          </a:graphicData>
        </a:graphic>
      </p:graphicFrame>
      <p:sp>
        <p:nvSpPr>
          <p:cNvPr id="5" name="Text 2"/>
          <p:cNvSpPr txBox="1"/>
          <p:nvPr/>
        </p:nvSpPr>
        <p:spPr>
          <a:xfrm>
            <a:off x="548640" y="6172200"/>
            <a:ext cx="11094415" cy="457200"/>
          </a:xfrm>
          <a:prstGeom prst="rect">
            <a:avLst/>
          </a:prstGeom>
          <a:noFill/>
          <a:ln/>
        </p:spPr>
        <p:txBody>
          <a:bodyPr wrap="square" lIns="0" tIns="0" rIns="0" bIns="0" rtlCol="0" anchor="t"/>
          <a:lstStyle/>
          <a:p>
            <a:pPr marL="0" indent="0" algn="ctr">
              <a:buNone/>
            </a:pPr>
            <a:r>
              <a:rPr lang="en-US" sz="1100" dirty="0">
                <a:solidFill>
                  <a:srgbClr val="6B7280"/>
                </a:solidFill>
                <a:latin typeface="Sarabun" pitchFamily="34" charset="0"/>
                <a:ea typeface="Sarabun" pitchFamily="34" charset="-122"/>
                <a:cs typeface="Sarabun" pitchFamily="34" charset="-120"/>
              </a:rPr>
              <a:t>ตารางที่ 6.1 ข้อดี ข้อจำกัด และเงื่อนไขการใช้งานของแต่ละกลยุทธ์การโต้ตอบ (1/2)</a:t>
            </a:r>
            <a:endParaRPr lang="en-US" sz="11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6  สรุปผลและข้อเสนอแนะ</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เงื่อนไขการใช้งานของแต่ละกลยุทธ์</a:t>
            </a:r>
            <a:endParaRPr lang="en-US" sz="28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4206240"/>
        </p:xfrm>
        <a:graphic>
          <a:graphicData uri="http://schemas.openxmlformats.org/drawingml/2006/table">
            <a:tbl>
              <a:tblPr/>
              <a:tblGrid>
                <a:gridCol w="155448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gridCol w="3230575">
                  <a:extLst>
                    <a:ext uri="{9D8B030D-6E8A-4147-A177-3AD203B41FA5}">
                      <a16:colId xmlns:a16="http://schemas.microsoft.com/office/drawing/2014/main" val="20003"/>
                    </a:ext>
                  </a:extLst>
                </a:gridCol>
              </a:tblGrid>
              <a:tr h="457200">
                <a:tc>
                  <a:txBody>
                    <a:bodyPr/>
                    <a:lstStyle/>
                    <a:p>
                      <a:pPr marL="0" indent="0" algn="ctr">
                        <a:buNone/>
                      </a:pPr>
                      <a:r>
                        <a:rPr lang="en-US" sz="1600" b="1" dirty="0">
                          <a:solidFill>
                            <a:srgbClr val="FFFFFF"/>
                          </a:solidFill>
                          <a:latin typeface="Sarabun" pitchFamily="34" charset="0"/>
                          <a:ea typeface="Sarabun" pitchFamily="34" charset="-122"/>
                          <a:cs typeface="Sarabun" pitchFamily="34" charset="-120"/>
                        </a:rPr>
                        <a:t>ประเด็น</a:t>
                      </a:r>
                      <a:endParaRPr lang="en-US" sz="16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C5739"/>
                    </a:solidFill>
                  </a:tcPr>
                </a:tc>
                <a:tc>
                  <a:txBody>
                    <a:bodyPr/>
                    <a:lstStyle/>
                    <a:p>
                      <a:pPr marL="0" indent="0" algn="ctr">
                        <a:buNone/>
                      </a:pPr>
                      <a:r>
                        <a:rPr lang="en-US" sz="1600" b="1" dirty="0">
                          <a:solidFill>
                            <a:srgbClr val="FFFFFF"/>
                          </a:solidFill>
                          <a:latin typeface="Sarabun" pitchFamily="34" charset="0"/>
                          <a:ea typeface="Sarabun" pitchFamily="34" charset="-122"/>
                          <a:cs typeface="Sarabun" pitchFamily="34" charset="-120"/>
                        </a:rPr>
                        <a:t>Basic Prompting (BP)</a:t>
                      </a:r>
                      <a:endParaRPr lang="en-US" sz="16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4572E"/>
                    </a:solidFill>
                  </a:tcPr>
                </a:tc>
                <a:tc>
                  <a:txBody>
                    <a:bodyPr/>
                    <a:lstStyle/>
                    <a:p>
                      <a:pPr marL="0" indent="0" algn="ctr">
                        <a:buNone/>
                      </a:pPr>
                      <a:r>
                        <a:rPr lang="en-US" sz="1600" b="1" dirty="0">
                          <a:solidFill>
                            <a:srgbClr val="FFFFFF"/>
                          </a:solidFill>
                          <a:latin typeface="Sarabun" pitchFamily="34" charset="0"/>
                          <a:ea typeface="Sarabun" pitchFamily="34" charset="-122"/>
                          <a:cs typeface="Sarabun" pitchFamily="34" charset="-120"/>
                        </a:rPr>
                        <a:t>Context Engineering (CE)</a:t>
                      </a:r>
                      <a:endParaRPr lang="en-US" sz="16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2F80ED"/>
                    </a:solidFill>
                  </a:tcPr>
                </a:tc>
                <a:tc>
                  <a:txBody>
                    <a:bodyPr/>
                    <a:lstStyle/>
                    <a:p>
                      <a:pPr marL="0" indent="0" algn="ctr">
                        <a:buNone/>
                      </a:pPr>
                      <a:r>
                        <a:rPr lang="en-US" sz="1600" b="1" dirty="0">
                          <a:solidFill>
                            <a:srgbClr val="FFFFFF"/>
                          </a:solidFill>
                          <a:latin typeface="Sarabun" pitchFamily="34" charset="0"/>
                          <a:ea typeface="Sarabun" pitchFamily="34" charset="-122"/>
                          <a:cs typeface="Sarabun" pitchFamily="34" charset="-120"/>
                        </a:rPr>
                        <a:t>Spec-Driven Development (SDD)</a:t>
                      </a:r>
                      <a:endParaRPr lang="en-US" sz="16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1FA971"/>
                    </a:solidFill>
                  </a:tcPr>
                </a:tc>
                <a:extLst>
                  <a:ext uri="{0D108BD9-81ED-4DB2-BD59-A6C34878D82A}">
                    <a16:rowId xmlns:a16="http://schemas.microsoft.com/office/drawing/2014/main" val="10000"/>
                  </a:ext>
                </a:extLst>
              </a:tr>
              <a:tr h="1371600">
                <a:tc>
                  <a:txBody>
                    <a:bodyPr/>
                    <a:lstStyle/>
                    <a:p>
                      <a:pPr marL="0" indent="0" algn="ctr">
                        <a:buNone/>
                      </a:pPr>
                      <a:r>
                        <a:rPr lang="en-US" sz="1700" b="1" dirty="0">
                          <a:solidFill>
                            <a:srgbClr val="1FA971"/>
                          </a:solidFill>
                          <a:latin typeface="Sarabun" pitchFamily="34" charset="0"/>
                          <a:ea typeface="Sarabun" pitchFamily="34" charset="-122"/>
                          <a:cs typeface="Sarabun" pitchFamily="34" charset="-120"/>
                        </a:rPr>
                        <a:t>เหมาะกับ</a:t>
                      </a:r>
                      <a:endParaRPr lang="en-US" sz="17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EF3EF"/>
                    </a:solidFill>
                  </a:tcPr>
                </a:tc>
                <a:tc>
                  <a:txBody>
                    <a:bodyPr/>
                    <a:lstStyle/>
                    <a:p>
                      <a:pPr marL="0" indent="0">
                        <a:buNone/>
                      </a:pPr>
                      <a:r>
                        <a:rPr lang="en-US" sz="1600" dirty="0">
                          <a:solidFill>
                            <a:srgbClr val="1F2937"/>
                          </a:solidFill>
                          <a:latin typeface="Sarabun" pitchFamily="34" charset="0"/>
                          <a:ea typeface="Sarabun" pitchFamily="34" charset="-122"/>
                          <a:cs typeface="Sarabun" pitchFamily="34" charset="-120"/>
                        </a:rPr>
                        <a:t>ต้นแบบขนาดเล็ก งานสำรวจความเป็นไปได้ และงานที่ใช้รูปแบบมาตรฐานของเฟรมเวิร์กเป็นหลัก</a:t>
                      </a:r>
                      <a:endParaRPr lang="en-US" sz="16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tc>
                  <a:txBody>
                    <a:bodyPr/>
                    <a:lstStyle/>
                    <a:p>
                      <a:pPr marL="0" indent="0">
                        <a:buNone/>
                      </a:pPr>
                      <a:r>
                        <a:rPr lang="en-US" sz="1600" dirty="0">
                          <a:solidFill>
                            <a:srgbClr val="1F2937"/>
                          </a:solidFill>
                          <a:latin typeface="Sarabun" pitchFamily="34" charset="0"/>
                          <a:ea typeface="Sarabun" pitchFamily="34" charset="-122"/>
                          <a:cs typeface="Sarabun" pitchFamily="34" charset="-120"/>
                        </a:rPr>
                        <a:t>งานที่มีข้อกำหนดทางเทคนิคชัดเจนอยู่แล้ว และต้องการควบคุมรุ่นของเทคโนโลยีที่ใช้</a:t>
                      </a:r>
                      <a:endParaRPr lang="en-US" sz="16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a:txBody>
                    <a:bodyPr/>
                    <a:lstStyle/>
                    <a:p>
                      <a:pPr marL="0" indent="0">
                        <a:buNone/>
                      </a:pPr>
                      <a:r>
                        <a:rPr lang="en-US" sz="1600" dirty="0">
                          <a:solidFill>
                            <a:srgbClr val="1F2937"/>
                          </a:solidFill>
                          <a:latin typeface="Sarabun" pitchFamily="34" charset="0"/>
                          <a:ea typeface="Sarabun" pitchFamily="34" charset="-122"/>
                          <a:cs typeface="Sarabun" pitchFamily="34" charset="-120"/>
                        </a:rPr>
                        <a:t>ระบบที่ต้องการความถูกต้องของกฎทางธุรกิจ ความปลอดภัย และความสามารถในการตรวจสอบย้อนกลับ</a:t>
                      </a:r>
                      <a:endParaRPr lang="en-US" sz="16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extLst>
                  <a:ext uri="{0D108BD9-81ED-4DB2-BD59-A6C34878D82A}">
                    <a16:rowId xmlns:a16="http://schemas.microsoft.com/office/drawing/2014/main" val="10001"/>
                  </a:ext>
                </a:extLst>
              </a:tr>
              <a:tr h="1188720">
                <a:tc>
                  <a:txBody>
                    <a:bodyPr/>
                    <a:lstStyle/>
                    <a:p>
                      <a:pPr marL="0" indent="0" algn="ctr">
                        <a:buNone/>
                      </a:pPr>
                      <a:r>
                        <a:rPr lang="en-US" sz="1700" b="1" dirty="0">
                          <a:solidFill>
                            <a:srgbClr val="E4572E"/>
                          </a:solidFill>
                          <a:latin typeface="Sarabun" pitchFamily="34" charset="0"/>
                          <a:ea typeface="Sarabun" pitchFamily="34" charset="-122"/>
                          <a:cs typeface="Sarabun" pitchFamily="34" charset="-120"/>
                        </a:rPr>
                        <a:t>ไม่เหมาะกับ</a:t>
                      </a:r>
                      <a:endParaRPr lang="en-US" sz="17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EF3EF"/>
                    </a:solidFill>
                  </a:tcPr>
                </a:tc>
                <a:tc>
                  <a:txBody>
                    <a:bodyPr/>
                    <a:lstStyle/>
                    <a:p>
                      <a:pPr marL="0" indent="0">
                        <a:buNone/>
                      </a:pPr>
                      <a:r>
                        <a:rPr lang="en-US" sz="1600" dirty="0">
                          <a:solidFill>
                            <a:srgbClr val="1F2937"/>
                          </a:solidFill>
                          <a:latin typeface="Sarabun" pitchFamily="34" charset="0"/>
                          <a:ea typeface="Sarabun" pitchFamily="34" charset="-122"/>
                          <a:cs typeface="Sarabun" pitchFamily="34" charset="-120"/>
                        </a:rPr>
                        <a:t>ระบบที่มีกฎทางธุรกิจซับซ้อน หรือมีข้อกำหนดด้านความปลอดภัย</a:t>
                      </a:r>
                      <a:endParaRPr lang="en-US" sz="16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tc>
                  <a:txBody>
                    <a:bodyPr/>
                    <a:lstStyle/>
                    <a:p>
                      <a:pPr marL="0" indent="0">
                        <a:buNone/>
                      </a:pPr>
                      <a:r>
                        <a:rPr lang="en-US" sz="1600" dirty="0">
                          <a:solidFill>
                            <a:srgbClr val="1F2937"/>
                          </a:solidFill>
                          <a:latin typeface="Sarabun" pitchFamily="34" charset="0"/>
                          <a:ea typeface="Sarabun" pitchFamily="34" charset="-122"/>
                          <a:cs typeface="Sarabun" pitchFamily="34" charset="-120"/>
                        </a:rPr>
                        <a:t>งานที่คาดหวังคุณภาพเชิงโครงสร้างสูงโดยไม่มีการตรวจสอบเพิ่มเติม</a:t>
                      </a:r>
                      <a:endParaRPr lang="en-US" sz="16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a:txBody>
                    <a:bodyPr/>
                    <a:lstStyle/>
                    <a:p>
                      <a:pPr marL="0" indent="0">
                        <a:buNone/>
                      </a:pPr>
                      <a:r>
                        <a:rPr lang="en-US" sz="1600" dirty="0">
                          <a:solidFill>
                            <a:srgbClr val="1F2937"/>
                          </a:solidFill>
                          <a:latin typeface="Sarabun" pitchFamily="34" charset="0"/>
                          <a:ea typeface="Sarabun" pitchFamily="34" charset="-122"/>
                          <a:cs typeface="Sarabun" pitchFamily="34" charset="-120"/>
                        </a:rPr>
                        <a:t>งานต้นแบบเร่งด่วนที่ยังไม่มีข้อกำหนดชัดเจน</a:t>
                      </a:r>
                      <a:endParaRPr lang="en-US" sz="16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extLst>
                  <a:ext uri="{0D108BD9-81ED-4DB2-BD59-A6C34878D82A}">
                    <a16:rowId xmlns:a16="http://schemas.microsoft.com/office/drawing/2014/main" val="10002"/>
                  </a:ext>
                </a:extLst>
              </a:tr>
              <a:tr h="1188720">
                <a:tc>
                  <a:txBody>
                    <a:bodyPr/>
                    <a:lstStyle/>
                    <a:p>
                      <a:pPr marL="0" indent="0" algn="ctr">
                        <a:buNone/>
                      </a:pPr>
                      <a:r>
                        <a:rPr lang="en-US" sz="1700" b="1" dirty="0">
                          <a:solidFill>
                            <a:srgbClr val="1C5739"/>
                          </a:solidFill>
                          <a:latin typeface="Sarabun" pitchFamily="34" charset="0"/>
                          <a:ea typeface="Sarabun" pitchFamily="34" charset="-122"/>
                          <a:cs typeface="Sarabun" pitchFamily="34" charset="-120"/>
                        </a:rPr>
                        <a:t>สิ่งที่ต้องเสริมเสมอ</a:t>
                      </a:r>
                      <a:endParaRPr lang="en-US" sz="17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EF3EF"/>
                    </a:solidFill>
                  </a:tcPr>
                </a:tc>
                <a:tc>
                  <a:txBody>
                    <a:bodyPr/>
                    <a:lstStyle/>
                    <a:p>
                      <a:pPr marL="0" indent="0">
                        <a:buNone/>
                      </a:pPr>
                      <a:r>
                        <a:rPr lang="en-US" sz="1600" dirty="0">
                          <a:solidFill>
                            <a:srgbClr val="1F2937"/>
                          </a:solidFill>
                          <a:latin typeface="Sarabun" pitchFamily="34" charset="0"/>
                          <a:ea typeface="Sarabun" pitchFamily="34" charset="-122"/>
                          <a:cs typeface="Sarabun" pitchFamily="34" charset="-120"/>
                        </a:rPr>
                        <a:t>ตรวจสอบความครบถ้วนของฟีเจอร์เทียบกับข้อกำหนดทีละข้อ</a:t>
                      </a:r>
                      <a:endParaRPr lang="en-US" sz="16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FDECE7"/>
                    </a:solidFill>
                  </a:tcPr>
                </a:tc>
                <a:tc>
                  <a:txBody>
                    <a:bodyPr/>
                    <a:lstStyle/>
                    <a:p>
                      <a:pPr marL="0" indent="0">
                        <a:buNone/>
                      </a:pPr>
                      <a:r>
                        <a:rPr lang="en-US" sz="1600" dirty="0">
                          <a:solidFill>
                            <a:srgbClr val="1F2937"/>
                          </a:solidFill>
                          <a:latin typeface="Sarabun" pitchFamily="34" charset="0"/>
                          <a:ea typeface="Sarabun" pitchFamily="34" charset="-122"/>
                          <a:cs typeface="Sarabun" pitchFamily="34" charset="-120"/>
                        </a:rPr>
                        <a:t>ตรวจสอบคุณภาพเชิงโครงสร้างและความปลอดภัยเพิ่มเติม</a:t>
                      </a:r>
                      <a:endParaRPr lang="en-US" sz="16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8F1FD"/>
                    </a:solidFill>
                  </a:tcPr>
                </a:tc>
                <a:tc>
                  <a:txBody>
                    <a:bodyPr/>
                    <a:lstStyle/>
                    <a:p>
                      <a:pPr marL="0" indent="0">
                        <a:buNone/>
                      </a:pPr>
                      <a:r>
                        <a:rPr lang="en-US" sz="1600" dirty="0">
                          <a:solidFill>
                            <a:srgbClr val="1F2937"/>
                          </a:solidFill>
                          <a:latin typeface="Sarabun" pitchFamily="34" charset="0"/>
                          <a:ea typeface="Sarabun" pitchFamily="34" charset="-122"/>
                          <a:cs typeface="Sarabun" pitchFamily="34" charset="-120"/>
                        </a:rPr>
                        <a:t>ตรวจสอบและกำจัดความซ้ำซ้อนของซอร์สโค้ด</a:t>
                      </a:r>
                      <a:endParaRPr lang="en-US" sz="1600" dirty="0">
                        <a:latin typeface="Sarabun" charset="0"/>
                        <a:ea typeface="Sarabun" charset="0"/>
                        <a:cs typeface="Sarabun" charset="0"/>
                      </a:endParaRPr>
                    </a:p>
                  </a:txBody>
                  <a:tcPr anchor="ctr">
                    <a:lnL w="12700" cap="flat" cmpd="sng" algn="ctr">
                      <a:solidFill>
                        <a:srgbClr val="D5DFD8"/>
                      </a:solidFill>
                      <a:prstDash val="solid"/>
                      <a:round/>
                      <a:headEnd type="none" w="med" len="med"/>
                      <a:tailEnd type="none" w="med" len="med"/>
                    </a:lnL>
                    <a:lnR w="12700" cap="flat" cmpd="sng" algn="ctr">
                      <a:solidFill>
                        <a:srgbClr val="D5DFD8"/>
                      </a:solidFill>
                      <a:prstDash val="solid"/>
                      <a:round/>
                      <a:headEnd type="none" w="med" len="med"/>
                      <a:tailEnd type="none" w="med" len="med"/>
                    </a:lnR>
                    <a:lnT w="12700" cap="flat" cmpd="sng" algn="ctr">
                      <a:solidFill>
                        <a:srgbClr val="D5DFD8"/>
                      </a:solidFill>
                      <a:prstDash val="solid"/>
                      <a:round/>
                      <a:headEnd type="none" w="med" len="med"/>
                      <a:tailEnd type="none" w="med" len="med"/>
                    </a:lnT>
                    <a:lnB w="12700" cap="flat" cmpd="sng" algn="ctr">
                      <a:solidFill>
                        <a:srgbClr val="D5DFD8"/>
                      </a:solidFill>
                      <a:prstDash val="solid"/>
                      <a:round/>
                      <a:headEnd type="none" w="med" len="med"/>
                      <a:tailEnd type="none" w="med" len="med"/>
                    </a:lnB>
                    <a:solidFill>
                      <a:srgbClr val="E3F6EE"/>
                    </a:solidFill>
                  </a:tcPr>
                </a:tc>
                <a:extLst>
                  <a:ext uri="{0D108BD9-81ED-4DB2-BD59-A6C34878D82A}">
                    <a16:rowId xmlns:a16="http://schemas.microsoft.com/office/drawing/2014/main" val="10003"/>
                  </a:ext>
                </a:extLst>
              </a:tr>
            </a:tbl>
          </a:graphicData>
        </a:graphic>
      </p:graphicFrame>
      <p:sp>
        <p:nvSpPr>
          <p:cNvPr id="5" name="Text 2"/>
          <p:cNvSpPr txBox="1"/>
          <p:nvPr/>
        </p:nvSpPr>
        <p:spPr>
          <a:xfrm>
            <a:off x="548640" y="6080760"/>
            <a:ext cx="11094415" cy="457200"/>
          </a:xfrm>
          <a:prstGeom prst="rect">
            <a:avLst/>
          </a:prstGeom>
          <a:noFill/>
          <a:ln/>
        </p:spPr>
        <p:txBody>
          <a:bodyPr wrap="square" lIns="0" tIns="0" rIns="0" bIns="0" rtlCol="0" anchor="t"/>
          <a:lstStyle/>
          <a:p>
            <a:pPr marL="0" indent="0" algn="ctr">
              <a:buNone/>
            </a:pPr>
            <a:r>
              <a:rPr lang="en-US" sz="1100" dirty="0">
                <a:solidFill>
                  <a:srgbClr val="6B7280"/>
                </a:solidFill>
                <a:latin typeface="Sarabun" pitchFamily="34" charset="0"/>
                <a:ea typeface="Sarabun" pitchFamily="34" charset="-122"/>
                <a:cs typeface="Sarabun" pitchFamily="34" charset="-120"/>
              </a:rPr>
              <a:t>ตารางที่ 6.1 ข้อดี ข้อจำกัด และเงื่อนไขการใช้งานของแต่ละกลยุทธ์การโต้ตอบ (2/2)</a:t>
            </a:r>
            <a:endParaRPr lang="en-US" sz="11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6  สรุปผลและข้อเสนอแนะ</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ข้อสังเกตเชิงปฏิบัติ 4 ประการ</a:t>
            </a:r>
            <a:endParaRPr lang="en-US" sz="2800" dirty="0"/>
          </a:p>
        </p:txBody>
      </p:sp>
      <p:sp>
        <p:nvSpPr>
          <p:cNvPr id="4" name="card"/>
          <p:cNvSpPr/>
          <p:nvPr/>
        </p:nvSpPr>
        <p:spPr>
          <a:xfrm>
            <a:off x="548640" y="1554480"/>
            <a:ext cx="5422392" cy="2194560"/>
          </a:xfrm>
          <a:prstGeom prst="roundRect">
            <a:avLst>
              <a:gd name="adj" fmla="val 5000"/>
            </a:avLst>
          </a:prstGeom>
          <a:solidFill>
            <a:srgbClr val="EEF3EF"/>
          </a:solidFill>
          <a:ln w="12700">
            <a:solidFill>
              <a:srgbClr val="EEF3EF"/>
            </a:solidFill>
            <a:prstDash val="solid"/>
          </a:ln>
        </p:spPr>
        <p:txBody>
          <a:bodyPr/>
          <a:lstStyle/>
          <a:p>
            <a:endParaRPr lang="en-TH"/>
          </a:p>
        </p:txBody>
      </p:sp>
      <p:sp>
        <p:nvSpPr>
          <p:cNvPr id="5" name="Shape 3"/>
          <p:cNvSpPr/>
          <p:nvPr/>
        </p:nvSpPr>
        <p:spPr>
          <a:xfrm>
            <a:off x="822960" y="1810512"/>
            <a:ext cx="777240" cy="292608"/>
          </a:xfrm>
          <a:prstGeom prst="roundRect">
            <a:avLst>
              <a:gd name="adj" fmla="val 50000"/>
            </a:avLst>
          </a:prstGeom>
          <a:solidFill>
            <a:srgbClr val="1FA971"/>
          </a:solidFill>
          <a:ln w="19050">
            <a:solidFill>
              <a:srgbClr val="FFFFFF"/>
            </a:solidFill>
            <a:prstDash val="solid"/>
          </a:ln>
        </p:spPr>
        <p:txBody>
          <a:bodyPr/>
          <a:lstStyle/>
          <a:p>
            <a:endParaRPr lang="en-TH"/>
          </a:p>
        </p:txBody>
      </p:sp>
      <p:sp>
        <p:nvSpPr>
          <p:cNvPr id="6" name="Text 4"/>
          <p:cNvSpPr txBox="1"/>
          <p:nvPr/>
        </p:nvSpPr>
        <p:spPr>
          <a:xfrm>
            <a:off x="822960" y="1810512"/>
            <a:ext cx="77724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SDD</a:t>
            </a:r>
            <a:endParaRPr lang="en-US" sz="1200" dirty="0"/>
          </a:p>
        </p:txBody>
      </p:sp>
      <p:sp>
        <p:nvSpPr>
          <p:cNvPr id="7" name="Text 5"/>
          <p:cNvSpPr txBox="1"/>
          <p:nvPr/>
        </p:nvSpPr>
        <p:spPr>
          <a:xfrm>
            <a:off x="822960" y="2240280"/>
            <a:ext cx="4873752" cy="594360"/>
          </a:xfrm>
          <a:prstGeom prst="rect">
            <a:avLst/>
          </a:prstGeom>
          <a:noFill/>
          <a:ln/>
        </p:spPr>
        <p:txBody>
          <a:bodyPr wrap="square" lIns="0" tIns="0" rIns="0" bIns="0" rtlCol="0" anchor="t"/>
          <a:lstStyle/>
          <a:p>
            <a:pPr marL="0" indent="0">
              <a:buNone/>
            </a:pPr>
            <a:r>
              <a:rPr lang="en-US" sz="1600" b="1" dirty="0">
                <a:solidFill>
                  <a:srgbClr val="1C5739"/>
                </a:solidFill>
                <a:latin typeface="Sarabun" pitchFamily="34" charset="0"/>
                <a:ea typeface="Sarabun" pitchFamily="34" charset="-122"/>
                <a:cs typeface="Sarabun" pitchFamily="34" charset="-120"/>
              </a:rPr>
              <a:t>งานที่ต้องการความถูกต้องของกฎธุรกิจและความปลอดภัย</a:t>
            </a:r>
            <a:endParaRPr lang="en-US" sz="1600" dirty="0"/>
          </a:p>
        </p:txBody>
      </p:sp>
      <p:sp>
        <p:nvSpPr>
          <p:cNvPr id="8" name="Text 6"/>
          <p:cNvSpPr txBox="1"/>
          <p:nvPr/>
        </p:nvSpPr>
        <p:spPr>
          <a:xfrm>
            <a:off x="822960" y="2834640"/>
            <a:ext cx="4873752" cy="868680"/>
          </a:xfrm>
          <a:prstGeom prst="rect">
            <a:avLst/>
          </a:prstGeom>
          <a:noFill/>
          <a:ln/>
        </p:spPr>
        <p:txBody>
          <a:bodyPr wrap="square" lIns="0" tIns="0" rIns="0" bIns="0" rtlCol="0" anchor="t"/>
          <a:lstStyle/>
          <a:p>
            <a:pPr marL="0" indent="0">
              <a:buNone/>
            </a:pPr>
            <a:r>
              <a:rPr lang="en-US" sz="1450" dirty="0">
                <a:solidFill>
                  <a:srgbClr val="1F2937"/>
                </a:solidFill>
                <a:latin typeface="Sarabun" pitchFamily="34" charset="0"/>
                <a:ea typeface="Sarabun" pitchFamily="34" charset="-122"/>
                <a:cs typeface="Sarabun" pitchFamily="34" charset="-120"/>
              </a:rPr>
              <a:t>ค่าเฉลี่ยสูงกว่าและแปรปรวนต่ำกว่า ต้นทุนเอกสารถือเป็นการลงทุนลดความไม่แน่นอน ควรกำหนดเกณฑ์คุมความซ้ำซ้อนไว้ใน Constitution</a:t>
            </a:r>
            <a:endParaRPr lang="en-US" sz="1450" dirty="0"/>
          </a:p>
        </p:txBody>
      </p:sp>
      <p:sp>
        <p:nvSpPr>
          <p:cNvPr id="9" name="card"/>
          <p:cNvSpPr/>
          <p:nvPr/>
        </p:nvSpPr>
        <p:spPr>
          <a:xfrm>
            <a:off x="6217920" y="1554480"/>
            <a:ext cx="5422392" cy="2194560"/>
          </a:xfrm>
          <a:prstGeom prst="roundRect">
            <a:avLst>
              <a:gd name="adj" fmla="val 5000"/>
            </a:avLst>
          </a:prstGeom>
          <a:solidFill>
            <a:srgbClr val="EEF3EF"/>
          </a:solidFill>
          <a:ln w="12700">
            <a:solidFill>
              <a:srgbClr val="EEF3EF"/>
            </a:solidFill>
            <a:prstDash val="solid"/>
          </a:ln>
        </p:spPr>
        <p:txBody>
          <a:bodyPr/>
          <a:lstStyle/>
          <a:p>
            <a:endParaRPr lang="en-TH"/>
          </a:p>
        </p:txBody>
      </p:sp>
      <p:sp>
        <p:nvSpPr>
          <p:cNvPr id="10" name="Shape 8"/>
          <p:cNvSpPr/>
          <p:nvPr/>
        </p:nvSpPr>
        <p:spPr>
          <a:xfrm>
            <a:off x="6492240" y="1810512"/>
            <a:ext cx="777240" cy="292608"/>
          </a:xfrm>
          <a:prstGeom prst="roundRect">
            <a:avLst>
              <a:gd name="adj" fmla="val 50000"/>
            </a:avLst>
          </a:prstGeom>
          <a:solidFill>
            <a:srgbClr val="E4572E"/>
          </a:solidFill>
          <a:ln w="19050">
            <a:solidFill>
              <a:srgbClr val="FFFFFF"/>
            </a:solidFill>
            <a:prstDash val="solid"/>
          </a:ln>
        </p:spPr>
        <p:txBody>
          <a:bodyPr/>
          <a:lstStyle/>
          <a:p>
            <a:endParaRPr lang="en-TH"/>
          </a:p>
        </p:txBody>
      </p:sp>
      <p:sp>
        <p:nvSpPr>
          <p:cNvPr id="11" name="Text 9"/>
          <p:cNvSpPr txBox="1"/>
          <p:nvPr/>
        </p:nvSpPr>
        <p:spPr>
          <a:xfrm>
            <a:off x="6492240" y="1810512"/>
            <a:ext cx="77724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BP</a:t>
            </a:r>
            <a:endParaRPr lang="en-US" sz="1200" dirty="0"/>
          </a:p>
        </p:txBody>
      </p:sp>
      <p:sp>
        <p:nvSpPr>
          <p:cNvPr id="12" name="Text 10"/>
          <p:cNvSpPr txBox="1"/>
          <p:nvPr/>
        </p:nvSpPr>
        <p:spPr>
          <a:xfrm>
            <a:off x="6492240" y="2240280"/>
            <a:ext cx="4873752" cy="594360"/>
          </a:xfrm>
          <a:prstGeom prst="rect">
            <a:avLst/>
          </a:prstGeom>
          <a:noFill/>
          <a:ln/>
        </p:spPr>
        <p:txBody>
          <a:bodyPr wrap="square" lIns="0" tIns="0" rIns="0" bIns="0" rtlCol="0" anchor="t"/>
          <a:lstStyle/>
          <a:p>
            <a:pPr marL="0" indent="0">
              <a:buNone/>
            </a:pPr>
            <a:r>
              <a:rPr lang="en-US" sz="1600" b="1" dirty="0">
                <a:solidFill>
                  <a:srgbClr val="1C5739"/>
                </a:solidFill>
                <a:latin typeface="Sarabun" pitchFamily="34" charset="0"/>
                <a:ea typeface="Sarabun" pitchFamily="34" charset="-122"/>
                <a:cs typeface="Sarabun" pitchFamily="34" charset="-120"/>
              </a:rPr>
              <a:t>ต้นแบบขนาดเล็กที่ต้องการความรวดเร็ว</a:t>
            </a:r>
            <a:endParaRPr lang="en-US" sz="1600" dirty="0"/>
          </a:p>
        </p:txBody>
      </p:sp>
      <p:sp>
        <p:nvSpPr>
          <p:cNvPr id="13" name="Text 11"/>
          <p:cNvSpPr txBox="1"/>
          <p:nvPr/>
        </p:nvSpPr>
        <p:spPr>
          <a:xfrm>
            <a:off x="6492240" y="2834640"/>
            <a:ext cx="4873752" cy="868680"/>
          </a:xfrm>
          <a:prstGeom prst="rect">
            <a:avLst/>
          </a:prstGeom>
          <a:noFill/>
          <a:ln/>
        </p:spPr>
        <p:txBody>
          <a:bodyPr wrap="square" lIns="0" tIns="0" rIns="0" bIns="0" rtlCol="0" anchor="t"/>
          <a:lstStyle/>
          <a:p>
            <a:pPr marL="0" indent="0">
              <a:buNone/>
            </a:pPr>
            <a:r>
              <a:rPr lang="en-US" sz="1450" dirty="0">
                <a:solidFill>
                  <a:srgbClr val="1F2937"/>
                </a:solidFill>
                <a:latin typeface="Sarabun" pitchFamily="34" charset="0"/>
                <a:ea typeface="Sarabun" pitchFamily="34" charset="-122"/>
                <a:cs typeface="Sarabun" pitchFamily="34" charset="-120"/>
              </a:rPr>
              <a:t>ผลเชิงโครงสร้างยอมรับได้ ต้นทุนเริ่มต้นต่ำสุด แต่ต้องตรวจความครบถ้วนของฟีเจอร์ทีละข้อ เพราะความล้มเหลวหลักคือการละเว้นฟีเจอร์</a:t>
            </a:r>
            <a:endParaRPr lang="en-US" sz="1450" dirty="0"/>
          </a:p>
        </p:txBody>
      </p:sp>
      <p:sp>
        <p:nvSpPr>
          <p:cNvPr id="14" name="card"/>
          <p:cNvSpPr/>
          <p:nvPr/>
        </p:nvSpPr>
        <p:spPr>
          <a:xfrm>
            <a:off x="548640" y="3931920"/>
            <a:ext cx="5422392" cy="2194560"/>
          </a:xfrm>
          <a:prstGeom prst="roundRect">
            <a:avLst>
              <a:gd name="adj" fmla="val 5000"/>
            </a:avLst>
          </a:prstGeom>
          <a:solidFill>
            <a:srgbClr val="EEF3EF"/>
          </a:solidFill>
          <a:ln w="12700">
            <a:solidFill>
              <a:srgbClr val="EEF3EF"/>
            </a:solidFill>
            <a:prstDash val="solid"/>
          </a:ln>
        </p:spPr>
        <p:txBody>
          <a:bodyPr/>
          <a:lstStyle/>
          <a:p>
            <a:endParaRPr lang="en-TH"/>
          </a:p>
        </p:txBody>
      </p:sp>
      <p:sp>
        <p:nvSpPr>
          <p:cNvPr id="15" name="Shape 13"/>
          <p:cNvSpPr/>
          <p:nvPr/>
        </p:nvSpPr>
        <p:spPr>
          <a:xfrm>
            <a:off x="822960" y="4187952"/>
            <a:ext cx="777240" cy="292608"/>
          </a:xfrm>
          <a:prstGeom prst="roundRect">
            <a:avLst>
              <a:gd name="adj" fmla="val 50000"/>
            </a:avLst>
          </a:prstGeom>
          <a:solidFill>
            <a:srgbClr val="2F80ED"/>
          </a:solidFill>
          <a:ln w="19050">
            <a:solidFill>
              <a:srgbClr val="FFFFFF"/>
            </a:solidFill>
            <a:prstDash val="solid"/>
          </a:ln>
        </p:spPr>
        <p:txBody>
          <a:bodyPr/>
          <a:lstStyle/>
          <a:p>
            <a:endParaRPr lang="en-TH"/>
          </a:p>
        </p:txBody>
      </p:sp>
      <p:sp>
        <p:nvSpPr>
          <p:cNvPr id="16" name="Text 14"/>
          <p:cNvSpPr txBox="1"/>
          <p:nvPr/>
        </p:nvSpPr>
        <p:spPr>
          <a:xfrm>
            <a:off x="822960" y="4187952"/>
            <a:ext cx="77724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CE</a:t>
            </a:r>
            <a:endParaRPr lang="en-US" sz="1200" dirty="0"/>
          </a:p>
        </p:txBody>
      </p:sp>
      <p:sp>
        <p:nvSpPr>
          <p:cNvPr id="17" name="Text 15"/>
          <p:cNvSpPr txBox="1"/>
          <p:nvPr/>
        </p:nvSpPr>
        <p:spPr>
          <a:xfrm>
            <a:off x="822960" y="4617720"/>
            <a:ext cx="4873752" cy="594360"/>
          </a:xfrm>
          <a:prstGeom prst="rect">
            <a:avLst/>
          </a:prstGeom>
          <a:noFill/>
          <a:ln/>
        </p:spPr>
        <p:txBody>
          <a:bodyPr wrap="square" lIns="0" tIns="0" rIns="0" bIns="0" rtlCol="0" anchor="t"/>
          <a:lstStyle/>
          <a:p>
            <a:pPr marL="0" indent="0">
              <a:buNone/>
            </a:pPr>
            <a:r>
              <a:rPr lang="en-US" sz="1600" b="1" dirty="0">
                <a:solidFill>
                  <a:srgbClr val="1C5739"/>
                </a:solidFill>
                <a:latin typeface="Sarabun" pitchFamily="34" charset="0"/>
                <a:ea typeface="Sarabun" pitchFamily="34" charset="-122"/>
                <a:cs typeface="Sarabun" pitchFamily="34" charset="-120"/>
              </a:rPr>
              <a:t>CE ในรูปแบบที่ใช้ศึกษานี้ต่ำกว่าอีกสองกลยุทธ์</a:t>
            </a:r>
            <a:endParaRPr lang="en-US" sz="1600" dirty="0"/>
          </a:p>
        </p:txBody>
      </p:sp>
      <p:sp>
        <p:nvSpPr>
          <p:cNvPr id="18" name="Text 16"/>
          <p:cNvSpPr txBox="1"/>
          <p:nvPr/>
        </p:nvSpPr>
        <p:spPr>
          <a:xfrm>
            <a:off x="822960" y="5212080"/>
            <a:ext cx="4873752" cy="868680"/>
          </a:xfrm>
          <a:prstGeom prst="rect">
            <a:avLst/>
          </a:prstGeom>
          <a:noFill/>
          <a:ln/>
        </p:spPr>
        <p:txBody>
          <a:bodyPr wrap="square" lIns="0" tIns="0" rIns="0" bIns="0" rtlCol="0" anchor="t"/>
          <a:lstStyle/>
          <a:p>
            <a:pPr marL="0" indent="0">
              <a:buNone/>
            </a:pPr>
            <a:r>
              <a:rPr lang="en-US" sz="1450" dirty="0">
                <a:solidFill>
                  <a:srgbClr val="1F2937"/>
                </a:solidFill>
                <a:latin typeface="Sarabun" pitchFamily="34" charset="0"/>
                <a:ea typeface="Sarabun" pitchFamily="34" charset="-122"/>
                <a:cs typeface="Sarabun" pitchFamily="34" charset="-120"/>
              </a:rPr>
              <a:t>แย่ที่สุด 7 จาก 8 มิติ ควรตรวจคุณภาพเชิงโครงสร้างและความปลอดภัยเพิ่มเติม ก่อนนำไปใช้</a:t>
            </a:r>
            <a:endParaRPr lang="en-US" sz="1450" dirty="0"/>
          </a:p>
        </p:txBody>
      </p:sp>
      <p:sp>
        <p:nvSpPr>
          <p:cNvPr id="19" name="card"/>
          <p:cNvSpPr/>
          <p:nvPr/>
        </p:nvSpPr>
        <p:spPr>
          <a:xfrm>
            <a:off x="6217920" y="3931920"/>
            <a:ext cx="5422392" cy="2194560"/>
          </a:xfrm>
          <a:prstGeom prst="roundRect">
            <a:avLst>
              <a:gd name="adj" fmla="val 5000"/>
            </a:avLst>
          </a:prstGeom>
          <a:solidFill>
            <a:srgbClr val="EEF3EF"/>
          </a:solidFill>
          <a:ln w="12700">
            <a:solidFill>
              <a:srgbClr val="EEF3EF"/>
            </a:solidFill>
            <a:prstDash val="solid"/>
          </a:ln>
        </p:spPr>
        <p:txBody>
          <a:bodyPr/>
          <a:lstStyle/>
          <a:p>
            <a:endParaRPr lang="en-TH"/>
          </a:p>
        </p:txBody>
      </p:sp>
      <p:sp>
        <p:nvSpPr>
          <p:cNvPr id="20" name="Shape 18"/>
          <p:cNvSpPr/>
          <p:nvPr/>
        </p:nvSpPr>
        <p:spPr>
          <a:xfrm>
            <a:off x="6492240" y="4187952"/>
            <a:ext cx="1188720" cy="292608"/>
          </a:xfrm>
          <a:prstGeom prst="roundRect">
            <a:avLst>
              <a:gd name="adj" fmla="val 50000"/>
            </a:avLst>
          </a:prstGeom>
          <a:solidFill>
            <a:srgbClr val="1C5739"/>
          </a:solidFill>
          <a:ln w="19050">
            <a:solidFill>
              <a:srgbClr val="FFFFFF"/>
            </a:solidFill>
            <a:prstDash val="solid"/>
          </a:ln>
        </p:spPr>
        <p:txBody>
          <a:bodyPr/>
          <a:lstStyle/>
          <a:p>
            <a:endParaRPr lang="en-TH"/>
          </a:p>
        </p:txBody>
      </p:sp>
      <p:sp>
        <p:nvSpPr>
          <p:cNvPr id="21" name="Text 19"/>
          <p:cNvSpPr txBox="1"/>
          <p:nvPr/>
        </p:nvSpPr>
        <p:spPr>
          <a:xfrm>
            <a:off x="6492240" y="4187952"/>
            <a:ext cx="118872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Sarabun" pitchFamily="34" charset="0"/>
                <a:ea typeface="Sarabun" pitchFamily="34" charset="-122"/>
                <a:cs typeface="Sarabun" pitchFamily="34" charset="-120"/>
              </a:rPr>
              <a:t>ทุกกลยุทธ์</a:t>
            </a:r>
            <a:endParaRPr lang="en-US" sz="1200" dirty="0"/>
          </a:p>
        </p:txBody>
      </p:sp>
      <p:sp>
        <p:nvSpPr>
          <p:cNvPr id="22" name="Text 20"/>
          <p:cNvSpPr txBox="1"/>
          <p:nvPr/>
        </p:nvSpPr>
        <p:spPr>
          <a:xfrm>
            <a:off x="6492240" y="4617720"/>
            <a:ext cx="4873752" cy="594360"/>
          </a:xfrm>
          <a:prstGeom prst="rect">
            <a:avLst/>
          </a:prstGeom>
          <a:noFill/>
          <a:ln/>
        </p:spPr>
        <p:txBody>
          <a:bodyPr wrap="square" lIns="0" tIns="0" rIns="0" bIns="0" rtlCol="0" anchor="t"/>
          <a:lstStyle/>
          <a:p>
            <a:pPr marL="0" indent="0">
              <a:buNone/>
            </a:pPr>
            <a:r>
              <a:rPr lang="en-US" sz="1600" b="1" dirty="0">
                <a:solidFill>
                  <a:srgbClr val="1C5739"/>
                </a:solidFill>
                <a:latin typeface="Sarabun" pitchFamily="34" charset="0"/>
                <a:ea typeface="Sarabun" pitchFamily="34" charset="-122"/>
                <a:cs typeface="Sarabun" pitchFamily="34" charset="-120"/>
              </a:rPr>
              <a:t>ไม่มีกลยุทธ์ใดสร้างกลไกป้องกันด้านความปลอดภัยเอง</a:t>
            </a:r>
            <a:endParaRPr lang="en-US" sz="1600" dirty="0"/>
          </a:p>
        </p:txBody>
      </p:sp>
      <p:sp>
        <p:nvSpPr>
          <p:cNvPr id="23" name="Text 21"/>
          <p:cNvSpPr txBox="1"/>
          <p:nvPr/>
        </p:nvSpPr>
        <p:spPr>
          <a:xfrm>
            <a:off x="6492240" y="5212080"/>
            <a:ext cx="4873752" cy="868680"/>
          </a:xfrm>
          <a:prstGeom prst="rect">
            <a:avLst/>
          </a:prstGeom>
          <a:noFill/>
          <a:ln/>
        </p:spPr>
        <p:txBody>
          <a:bodyPr wrap="square" lIns="0" tIns="0" rIns="0" bIns="0" rtlCol="0" anchor="t"/>
          <a:lstStyle/>
          <a:p>
            <a:pPr marL="0" indent="0">
              <a:buNone/>
            </a:pPr>
            <a:r>
              <a:rPr lang="en-US" sz="1450" dirty="0">
                <a:solidFill>
                  <a:srgbClr val="1F2937"/>
                </a:solidFill>
                <a:latin typeface="Sarabun" pitchFamily="34" charset="0"/>
                <a:ea typeface="Sarabun" pitchFamily="34" charset="-122"/>
                <a:cs typeface="Sarabun" pitchFamily="34" charset="-120"/>
              </a:rPr>
              <a:t>การระบุข้อกำหนดด้านความปลอดภัย เช่น Rate Limiting และ CORS อย่างชัดเจนจึงจำเป็น</a:t>
            </a:r>
            <a:endParaRPr lang="en-US" sz="145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182880"/>
            <a:ext cx="8229600" cy="274320"/>
          </a:xfrm>
          <a:prstGeom prst="rect">
            <a:avLst/>
          </a:prstGeom>
          <a:noFill/>
          <a:ln/>
        </p:spPr>
        <p:txBody>
          <a:bodyPr wrap="square" lIns="0" tIns="0" rIns="0" bIns="0" rtlCol="0" anchor="ctr"/>
          <a:lstStyle/>
          <a:p>
            <a:pPr marL="0" indent="0">
              <a:buNone/>
            </a:pPr>
            <a:r>
              <a:rPr lang="en-US" sz="1300" b="1" dirty="0">
                <a:solidFill>
                  <a:srgbClr val="C5CF2E"/>
                </a:solidFill>
                <a:latin typeface="Sarabun" pitchFamily="34" charset="0"/>
                <a:ea typeface="Sarabun" pitchFamily="34" charset="-122"/>
                <a:cs typeface="Sarabun" pitchFamily="34" charset="-120"/>
              </a:rPr>
              <a:t>บทที่ 6  สรุปผลและข้อเสนอแนะ</a:t>
            </a:r>
            <a:endParaRPr lang="en-US" sz="1300" dirty="0"/>
          </a:p>
        </p:txBody>
      </p:sp>
      <p:sp>
        <p:nvSpPr>
          <p:cNvPr id="3" name="Text 1"/>
          <p:cNvSpPr txBox="1"/>
          <p:nvPr/>
        </p:nvSpPr>
        <p:spPr>
          <a:xfrm>
            <a:off x="548640" y="4572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Sarabun" pitchFamily="34" charset="0"/>
                <a:ea typeface="Sarabun" pitchFamily="34" charset="-122"/>
                <a:cs typeface="Sarabun" pitchFamily="34" charset="-120"/>
              </a:rPr>
              <a:t>ข้อเสนอแนะสำหรับการวิจัยในอนาคต</a:t>
            </a:r>
            <a:endParaRPr lang="en-US" sz="2800" dirty="0"/>
          </a:p>
        </p:txBody>
      </p:sp>
      <p:sp>
        <p:nvSpPr>
          <p:cNvPr id="4" name="card"/>
          <p:cNvSpPr/>
          <p:nvPr/>
        </p:nvSpPr>
        <p:spPr>
          <a:xfrm>
            <a:off x="548640" y="1691640"/>
            <a:ext cx="3474720" cy="4206240"/>
          </a:xfrm>
          <a:prstGeom prst="roundRect">
            <a:avLst>
              <a:gd name="adj" fmla="val 3158"/>
            </a:avLst>
          </a:prstGeom>
          <a:solidFill>
            <a:srgbClr val="EEF3EF"/>
          </a:solidFill>
          <a:ln w="12700">
            <a:solidFill>
              <a:srgbClr val="EEF3EF"/>
            </a:solidFill>
            <a:prstDash val="solid"/>
          </a:ln>
        </p:spPr>
        <p:txBody>
          <a:bodyPr/>
          <a:lstStyle/>
          <a:p>
            <a:endParaRPr lang="en-TH"/>
          </a:p>
        </p:txBody>
      </p:sp>
      <p:sp>
        <p:nvSpPr>
          <p:cNvPr id="5" name="Shape 3"/>
          <p:cNvSpPr/>
          <p:nvPr/>
        </p:nvSpPr>
        <p:spPr>
          <a:xfrm>
            <a:off x="822960" y="2011680"/>
            <a:ext cx="594360" cy="594360"/>
          </a:xfrm>
          <a:prstGeom prst="ellipse">
            <a:avLst/>
          </a:prstGeom>
          <a:solidFill>
            <a:srgbClr val="1C5739"/>
          </a:solidFill>
          <a:ln w="12700">
            <a:solidFill>
              <a:srgbClr val="1C5739"/>
            </a:solidFill>
            <a:prstDash val="solid"/>
          </a:ln>
        </p:spPr>
        <p:txBody>
          <a:bodyPr/>
          <a:lstStyle/>
          <a:p>
            <a:endParaRPr lang="en-TH"/>
          </a:p>
        </p:txBody>
      </p:sp>
      <p:sp>
        <p:nvSpPr>
          <p:cNvPr id="6" name="Text 4"/>
          <p:cNvSpPr txBox="1"/>
          <p:nvPr/>
        </p:nvSpPr>
        <p:spPr>
          <a:xfrm>
            <a:off x="822960" y="2011680"/>
            <a:ext cx="59436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1</a:t>
            </a:r>
            <a:endParaRPr lang="en-US" sz="1600" dirty="0"/>
          </a:p>
        </p:txBody>
      </p:sp>
      <p:sp>
        <p:nvSpPr>
          <p:cNvPr id="7" name="Text 5"/>
          <p:cNvSpPr txBox="1"/>
          <p:nvPr/>
        </p:nvSpPr>
        <p:spPr>
          <a:xfrm>
            <a:off x="822960" y="2880360"/>
            <a:ext cx="2926080" cy="822960"/>
          </a:xfrm>
          <a:prstGeom prst="rect">
            <a:avLst/>
          </a:prstGeom>
          <a:noFill/>
          <a:ln/>
        </p:spPr>
        <p:txBody>
          <a:bodyPr wrap="square" lIns="0" tIns="0" rIns="0" bIns="0" rtlCol="0" anchor="t"/>
          <a:lstStyle/>
          <a:p>
            <a:pPr marL="0" indent="0">
              <a:buNone/>
            </a:pPr>
            <a:r>
              <a:rPr lang="en-US" sz="1900" b="1" dirty="0">
                <a:solidFill>
                  <a:srgbClr val="1C5739"/>
                </a:solidFill>
                <a:latin typeface="Sarabun" pitchFamily="34" charset="0"/>
                <a:ea typeface="Sarabun" pitchFamily="34" charset="-122"/>
                <a:cs typeface="Sarabun" pitchFamily="34" charset="-120"/>
              </a:rPr>
              <a:t>ระบุข้อกำหนดด้านความปลอดภัยอย่างชัดเจน</a:t>
            </a:r>
            <a:endParaRPr lang="en-US" sz="1900" dirty="0"/>
          </a:p>
        </p:txBody>
      </p:sp>
      <p:sp>
        <p:nvSpPr>
          <p:cNvPr id="8" name="Text 6"/>
          <p:cNvSpPr txBox="1"/>
          <p:nvPr/>
        </p:nvSpPr>
        <p:spPr>
          <a:xfrm>
            <a:off x="822960" y="3840480"/>
            <a:ext cx="2926080" cy="1920240"/>
          </a:xfrm>
          <a:prstGeom prst="rect">
            <a:avLst/>
          </a:prstGeom>
          <a:noFill/>
          <a:ln/>
        </p:spPr>
        <p:txBody>
          <a:bodyPr wrap="square" lIns="0" tIns="0" rIns="0" bIns="0" rtlCol="0" anchor="t"/>
          <a:lstStyle/>
          <a:p>
            <a:pPr marL="0" indent="0">
              <a:buNone/>
            </a:pPr>
            <a:r>
              <a:rPr lang="en-US" sz="1500" dirty="0">
                <a:solidFill>
                  <a:srgbClr val="1F2937"/>
                </a:solidFill>
                <a:latin typeface="Sarabun" pitchFamily="34" charset="0"/>
                <a:ea typeface="Sarabun" pitchFamily="34" charset="-122"/>
                <a:cs typeface="Sarabun" pitchFamily="34" charset="-120"/>
              </a:rPr>
              <a:t>ศึกษาผลของการเพิ่มข้อกำหนด เช่น CORS และ Rate Limiting ลงในเทมเพลตของ CE หรือ Constitution ของ SDD</a:t>
            </a:r>
            <a:endParaRPr lang="en-US" sz="1500" dirty="0"/>
          </a:p>
        </p:txBody>
      </p:sp>
      <p:sp>
        <p:nvSpPr>
          <p:cNvPr id="9" name="card"/>
          <p:cNvSpPr/>
          <p:nvPr/>
        </p:nvSpPr>
        <p:spPr>
          <a:xfrm>
            <a:off x="4361688" y="1691640"/>
            <a:ext cx="3474720" cy="4206240"/>
          </a:xfrm>
          <a:prstGeom prst="roundRect">
            <a:avLst>
              <a:gd name="adj" fmla="val 3158"/>
            </a:avLst>
          </a:prstGeom>
          <a:solidFill>
            <a:srgbClr val="EEF3EF"/>
          </a:solidFill>
          <a:ln w="12700">
            <a:solidFill>
              <a:srgbClr val="EEF3EF"/>
            </a:solidFill>
            <a:prstDash val="solid"/>
          </a:ln>
        </p:spPr>
        <p:txBody>
          <a:bodyPr/>
          <a:lstStyle/>
          <a:p>
            <a:endParaRPr lang="en-TH"/>
          </a:p>
        </p:txBody>
      </p:sp>
      <p:sp>
        <p:nvSpPr>
          <p:cNvPr id="10" name="Shape 8"/>
          <p:cNvSpPr/>
          <p:nvPr/>
        </p:nvSpPr>
        <p:spPr>
          <a:xfrm>
            <a:off x="4636008" y="2011680"/>
            <a:ext cx="594360" cy="594360"/>
          </a:xfrm>
          <a:prstGeom prst="ellipse">
            <a:avLst/>
          </a:prstGeom>
          <a:solidFill>
            <a:srgbClr val="1C5739"/>
          </a:solidFill>
          <a:ln w="12700">
            <a:solidFill>
              <a:srgbClr val="1C5739"/>
            </a:solidFill>
            <a:prstDash val="solid"/>
          </a:ln>
        </p:spPr>
        <p:txBody>
          <a:bodyPr/>
          <a:lstStyle/>
          <a:p>
            <a:endParaRPr lang="en-TH"/>
          </a:p>
        </p:txBody>
      </p:sp>
      <p:sp>
        <p:nvSpPr>
          <p:cNvPr id="11" name="Text 9"/>
          <p:cNvSpPr txBox="1"/>
          <p:nvPr/>
        </p:nvSpPr>
        <p:spPr>
          <a:xfrm>
            <a:off x="4636008" y="2011680"/>
            <a:ext cx="59436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2</a:t>
            </a:r>
            <a:endParaRPr lang="en-US" sz="1600" dirty="0"/>
          </a:p>
        </p:txBody>
      </p:sp>
      <p:sp>
        <p:nvSpPr>
          <p:cNvPr id="12" name="Text 10"/>
          <p:cNvSpPr txBox="1"/>
          <p:nvPr/>
        </p:nvSpPr>
        <p:spPr>
          <a:xfrm>
            <a:off x="4636008" y="2880360"/>
            <a:ext cx="2926080" cy="822960"/>
          </a:xfrm>
          <a:prstGeom prst="rect">
            <a:avLst/>
          </a:prstGeom>
          <a:noFill/>
          <a:ln/>
        </p:spPr>
        <p:txBody>
          <a:bodyPr wrap="square" lIns="0" tIns="0" rIns="0" bIns="0" rtlCol="0" anchor="t"/>
          <a:lstStyle/>
          <a:p>
            <a:pPr marL="0" indent="0">
              <a:buNone/>
            </a:pPr>
            <a:r>
              <a:rPr lang="en-US" sz="1900" b="1" dirty="0">
                <a:solidFill>
                  <a:srgbClr val="1C5739"/>
                </a:solidFill>
                <a:latin typeface="Sarabun" pitchFamily="34" charset="0"/>
                <a:ea typeface="Sarabun" pitchFamily="34" charset="-122"/>
                <a:cs typeface="Sarabun" pitchFamily="34" charset="-120"/>
              </a:rPr>
              <a:t>ใช้ระบบหลายตัวแทน</a:t>
            </a:r>
            <a:endParaRPr lang="en-US" sz="1900" dirty="0"/>
          </a:p>
        </p:txBody>
      </p:sp>
      <p:sp>
        <p:nvSpPr>
          <p:cNvPr id="13" name="Text 11"/>
          <p:cNvSpPr txBox="1"/>
          <p:nvPr/>
        </p:nvSpPr>
        <p:spPr>
          <a:xfrm>
            <a:off x="4636008" y="3840480"/>
            <a:ext cx="2926080" cy="1920240"/>
          </a:xfrm>
          <a:prstGeom prst="rect">
            <a:avLst/>
          </a:prstGeom>
          <a:noFill/>
          <a:ln/>
        </p:spPr>
        <p:txBody>
          <a:bodyPr wrap="square" lIns="0" tIns="0" rIns="0" bIns="0" rtlCol="0" anchor="t"/>
          <a:lstStyle/>
          <a:p>
            <a:pPr marL="0" indent="0">
              <a:buNone/>
            </a:pPr>
            <a:r>
              <a:rPr lang="en-US" sz="1500" dirty="0">
                <a:solidFill>
                  <a:srgbClr val="1F2937"/>
                </a:solidFill>
                <a:latin typeface="Sarabun" pitchFamily="34" charset="0"/>
                <a:ea typeface="Sarabun" pitchFamily="34" charset="-122"/>
                <a:cs typeface="Sarabun" pitchFamily="34" charset="-120"/>
              </a:rPr>
              <a:t>ศึกษา Multi-agent Pipelines หรือขั้นตอนตรวจโค้ดอัตโนมัติ (Automated Review Passes) เพื่อลดความแปรปรวนของคุณภาพ</a:t>
            </a:r>
            <a:endParaRPr lang="en-US" sz="1500" dirty="0"/>
          </a:p>
        </p:txBody>
      </p:sp>
      <p:sp>
        <p:nvSpPr>
          <p:cNvPr id="14" name="card"/>
          <p:cNvSpPr/>
          <p:nvPr/>
        </p:nvSpPr>
        <p:spPr>
          <a:xfrm>
            <a:off x="8174736" y="1691640"/>
            <a:ext cx="3474720" cy="4206240"/>
          </a:xfrm>
          <a:prstGeom prst="roundRect">
            <a:avLst>
              <a:gd name="adj" fmla="val 3158"/>
            </a:avLst>
          </a:prstGeom>
          <a:solidFill>
            <a:srgbClr val="EEF3EF"/>
          </a:solidFill>
          <a:ln w="12700">
            <a:solidFill>
              <a:srgbClr val="EEF3EF"/>
            </a:solidFill>
            <a:prstDash val="solid"/>
          </a:ln>
        </p:spPr>
        <p:txBody>
          <a:bodyPr/>
          <a:lstStyle/>
          <a:p>
            <a:endParaRPr lang="en-TH"/>
          </a:p>
        </p:txBody>
      </p:sp>
      <p:sp>
        <p:nvSpPr>
          <p:cNvPr id="15" name="Shape 13"/>
          <p:cNvSpPr/>
          <p:nvPr/>
        </p:nvSpPr>
        <p:spPr>
          <a:xfrm>
            <a:off x="8449056" y="2011680"/>
            <a:ext cx="594360" cy="594360"/>
          </a:xfrm>
          <a:prstGeom prst="ellipse">
            <a:avLst/>
          </a:prstGeom>
          <a:solidFill>
            <a:srgbClr val="1C5739"/>
          </a:solidFill>
          <a:ln w="12700">
            <a:solidFill>
              <a:srgbClr val="1C5739"/>
            </a:solidFill>
            <a:prstDash val="solid"/>
          </a:ln>
        </p:spPr>
        <p:txBody>
          <a:bodyPr/>
          <a:lstStyle/>
          <a:p>
            <a:endParaRPr lang="en-TH"/>
          </a:p>
        </p:txBody>
      </p:sp>
      <p:sp>
        <p:nvSpPr>
          <p:cNvPr id="16" name="Text 14"/>
          <p:cNvSpPr txBox="1"/>
          <p:nvPr/>
        </p:nvSpPr>
        <p:spPr>
          <a:xfrm>
            <a:off x="8449056" y="2011680"/>
            <a:ext cx="59436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Sarabun" pitchFamily="34" charset="0"/>
                <a:ea typeface="Sarabun" pitchFamily="34" charset="-122"/>
                <a:cs typeface="Sarabun" pitchFamily="34" charset="-120"/>
              </a:rPr>
              <a:t>3</a:t>
            </a:r>
            <a:endParaRPr lang="en-US" sz="1600" dirty="0"/>
          </a:p>
        </p:txBody>
      </p:sp>
      <p:sp>
        <p:nvSpPr>
          <p:cNvPr id="17" name="Text 15"/>
          <p:cNvSpPr txBox="1"/>
          <p:nvPr/>
        </p:nvSpPr>
        <p:spPr>
          <a:xfrm>
            <a:off x="8449056" y="2880360"/>
            <a:ext cx="2926080" cy="822960"/>
          </a:xfrm>
          <a:prstGeom prst="rect">
            <a:avLst/>
          </a:prstGeom>
          <a:noFill/>
          <a:ln/>
        </p:spPr>
        <p:txBody>
          <a:bodyPr wrap="square" lIns="0" tIns="0" rIns="0" bIns="0" rtlCol="0" anchor="t"/>
          <a:lstStyle/>
          <a:p>
            <a:pPr marL="0" indent="0">
              <a:buNone/>
            </a:pPr>
            <a:r>
              <a:rPr lang="en-US" sz="1900" b="1" dirty="0">
                <a:solidFill>
                  <a:srgbClr val="1C5739"/>
                </a:solidFill>
                <a:latin typeface="Sarabun" pitchFamily="34" charset="0"/>
                <a:ea typeface="Sarabun" pitchFamily="34" charset="-122"/>
                <a:cs typeface="Sarabun" pitchFamily="34" charset="-120"/>
              </a:rPr>
              <a:t>เพิ่มจำนวนรอบการทดลอง</a:t>
            </a:r>
            <a:endParaRPr lang="en-US" sz="1900" dirty="0"/>
          </a:p>
        </p:txBody>
      </p:sp>
      <p:sp>
        <p:nvSpPr>
          <p:cNvPr id="18" name="Text 16"/>
          <p:cNvSpPr txBox="1"/>
          <p:nvPr/>
        </p:nvSpPr>
        <p:spPr>
          <a:xfrm>
            <a:off x="8449056" y="3840480"/>
            <a:ext cx="2926080" cy="1920240"/>
          </a:xfrm>
          <a:prstGeom prst="rect">
            <a:avLst/>
          </a:prstGeom>
          <a:noFill/>
          <a:ln/>
        </p:spPr>
        <p:txBody>
          <a:bodyPr wrap="square" lIns="0" tIns="0" rIns="0" bIns="0" rtlCol="0" anchor="t"/>
          <a:lstStyle/>
          <a:p>
            <a:pPr marL="0" indent="0">
              <a:buNone/>
            </a:pPr>
            <a:r>
              <a:rPr lang="en-US" sz="1500" dirty="0">
                <a:solidFill>
                  <a:srgbClr val="1F2937"/>
                </a:solidFill>
                <a:latin typeface="Sarabun" pitchFamily="34" charset="0"/>
                <a:ea typeface="Sarabun" pitchFamily="34" charset="-122"/>
                <a:cs typeface="Sarabun" pitchFamily="34" charset="-120"/>
              </a:rPr>
              <a:t>งานนี้ทดลอง 2 รอบต่อคู่โดเมน-กลยุทธ์ พอชี้แนวโน้ม แต่ยังไม่พอทดสอบนัยสำคัญทางสถิติ</a:t>
            </a:r>
            <a:endParaRPr lang="en-US" sz="1500" dirty="0"/>
          </a:p>
        </p:txBody>
      </p:sp>
      <p:sp>
        <p:nvSpPr>
          <p:cNvPr id="25" name="Slide Number Placeholder 0"/>
          <p:cNvSpPr>
            <a:spLocks noGrp="1"/>
          </p:cNvSpPr>
          <p:nvPr>
            <p:ph type="sldNum" sz="quarter" idx="4294967295"/>
          </p:nvPr>
        </p:nvSpPr>
        <p:spPr>
          <a:xfrm>
            <a:off x="320040" y="6446520"/>
            <a:ext cx="73152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Sarabun"/>
                <a:ea typeface="Sarabun"/>
                <a:cs typeface="Sarabun"/>
              </a:defRPr>
            </a:lvl1pPr>
          </a:lstStyle>
          <a:p>
            <a:pPr algn="l"/>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2148840"/>
            <a:ext cx="11094415" cy="1554480"/>
          </a:xfrm>
          <a:prstGeom prst="rect">
            <a:avLst/>
          </a:prstGeom>
          <a:noFill/>
          <a:ln/>
        </p:spPr>
        <p:txBody>
          <a:bodyPr wrap="square" lIns="0" tIns="0" rIns="0" bIns="0" rtlCol="0" anchor="ctr"/>
          <a:lstStyle/>
          <a:p>
            <a:pPr marL="0" indent="0" algn="ctr">
              <a:buNone/>
            </a:pPr>
            <a:r>
              <a:rPr lang="en-US" sz="8800" b="1" dirty="0">
                <a:solidFill>
                  <a:srgbClr val="1C5739"/>
                </a:solidFill>
                <a:latin typeface="Sarabun" pitchFamily="34" charset="0"/>
                <a:ea typeface="Sarabun" pitchFamily="34" charset="-122"/>
                <a:cs typeface="Sarabun" pitchFamily="34" charset="-120"/>
              </a:rPr>
              <a:t>Q&amp;A</a:t>
            </a:r>
            <a:endParaRPr lang="en-US" sz="8800" dirty="0"/>
          </a:p>
        </p:txBody>
      </p:sp>
      <p:sp>
        <p:nvSpPr>
          <p:cNvPr id="3" name="Text 1"/>
          <p:cNvSpPr txBox="1"/>
          <p:nvPr/>
        </p:nvSpPr>
        <p:spPr>
          <a:xfrm>
            <a:off x="548640" y="3703320"/>
            <a:ext cx="11094415" cy="731520"/>
          </a:xfrm>
          <a:prstGeom prst="rect">
            <a:avLst/>
          </a:prstGeom>
          <a:noFill/>
          <a:ln/>
        </p:spPr>
        <p:txBody>
          <a:bodyPr wrap="square" lIns="0" tIns="0" rIns="0" bIns="0" rtlCol="0" anchor="ctr"/>
          <a:lstStyle/>
          <a:p>
            <a:pPr marL="0" indent="0" algn="ctr">
              <a:buNone/>
            </a:pPr>
            <a:r>
              <a:rPr lang="en-US" sz="3200" b="1" dirty="0">
                <a:solidFill>
                  <a:srgbClr val="1F2937"/>
                </a:solidFill>
                <a:latin typeface="Sarabun" pitchFamily="34" charset="0"/>
                <a:ea typeface="Sarabun" pitchFamily="34" charset="-122"/>
                <a:cs typeface="Sarabun" pitchFamily="34" charset="-120"/>
              </a:rPr>
              <a:t>Thank You!</a:t>
            </a:r>
            <a:endParaRPr lang="en-US" sz="3200" dirty="0"/>
          </a:p>
        </p:txBody>
      </p:sp>
      <p:sp>
        <p:nvSpPr>
          <p:cNvPr id="4" name="Text 2"/>
          <p:cNvSpPr txBox="1"/>
          <p:nvPr/>
        </p:nvSpPr>
        <p:spPr>
          <a:xfrm>
            <a:off x="548640" y="4572000"/>
            <a:ext cx="11094415" cy="365760"/>
          </a:xfrm>
          <a:prstGeom prst="rect">
            <a:avLst/>
          </a:prstGeom>
          <a:noFill/>
          <a:ln/>
        </p:spPr>
        <p:txBody>
          <a:bodyPr wrap="square" lIns="0" tIns="0" rIns="0" bIns="0" rtlCol="0" anchor="t"/>
          <a:lstStyle/>
          <a:p>
            <a:pPr marL="0" indent="0" algn="ctr">
              <a:buNone/>
            </a:pPr>
            <a:r>
              <a:rPr lang="en-US" sz="1600" dirty="0">
                <a:solidFill>
                  <a:srgbClr val="6B7280"/>
                </a:solidFill>
                <a:latin typeface="Sarabun" pitchFamily="34" charset="0"/>
                <a:ea typeface="Sarabun" pitchFamily="34" charset="-122"/>
                <a:cs typeface="Sarabun" pitchFamily="34" charset="-120"/>
              </a:rPr>
              <a:t>พัชรี ปวงใจ  ·  6714450168</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arabu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arabu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192</TotalTime>
  <Words>8635</Words>
  <Application>Microsoft Macintosh PowerPoint</Application>
  <PresentationFormat>Widescreen</PresentationFormat>
  <Paragraphs>871</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Sarabun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AI-Generated Code Quality across Prompting Strategies</dc:title>
  <dc:subject>PptxGenJS Presentation</dc:subject>
  <dc:creator>Phatcharee Puangjai</dc:creator>
  <cp:lastModifiedBy>Phatcharee PUANGJAI</cp:lastModifiedBy>
  <cp:revision>19</cp:revision>
  <dcterms:created xsi:type="dcterms:W3CDTF">2026-10-18T12:53:59Z</dcterms:created>
  <dcterms:modified xsi:type="dcterms:W3CDTF">2026-10-21T02:39:51Z</dcterms:modified>
</cp:coreProperties>
</file>